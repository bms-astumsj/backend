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</p:sldMasterIdLst>
  <p:sldIdLst>
    <p:sldId id="308" r:id="rId4"/>
    <p:sldId id="309" r:id="rId5"/>
    <p:sldId id="257" r:id="rId6"/>
    <p:sldId id="357" r:id="rId7"/>
    <p:sldId id="307" r:id="rId8"/>
    <p:sldId id="350" r:id="rId9"/>
    <p:sldId id="352" r:id="rId10"/>
    <p:sldId id="355" r:id="rId11"/>
    <p:sldId id="354" r:id="rId12"/>
    <p:sldId id="353" r:id="rId13"/>
    <p:sldId id="258" r:id="rId14"/>
    <p:sldId id="259" r:id="rId15"/>
    <p:sldId id="260" r:id="rId16"/>
    <p:sldId id="356" r:id="rId17"/>
    <p:sldId id="370" r:id="rId18"/>
    <p:sldId id="302" r:id="rId19"/>
    <p:sldId id="303" r:id="rId20"/>
    <p:sldId id="310" r:id="rId21"/>
    <p:sldId id="311" r:id="rId22"/>
    <p:sldId id="312" r:id="rId23"/>
    <p:sldId id="313" r:id="rId24"/>
    <p:sldId id="314" r:id="rId25"/>
    <p:sldId id="315" r:id="rId26"/>
    <p:sldId id="304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358" r:id="rId38"/>
    <p:sldId id="359" r:id="rId39"/>
    <p:sldId id="360" r:id="rId40"/>
    <p:sldId id="361" r:id="rId41"/>
    <p:sldId id="362" r:id="rId42"/>
    <p:sldId id="363" r:id="rId43"/>
    <p:sldId id="326" r:id="rId44"/>
    <p:sldId id="369" r:id="rId45"/>
    <p:sldId id="327" r:id="rId46"/>
    <p:sldId id="305" r:id="rId47"/>
    <p:sldId id="306" r:id="rId48"/>
    <p:sldId id="265" r:id="rId49"/>
    <p:sldId id="328" r:id="rId50"/>
    <p:sldId id="329" r:id="rId51"/>
    <p:sldId id="330" r:id="rId52"/>
    <p:sldId id="268" r:id="rId53"/>
    <p:sldId id="269" r:id="rId54"/>
    <p:sldId id="331" r:id="rId55"/>
    <p:sldId id="332" r:id="rId56"/>
    <p:sldId id="371" r:id="rId57"/>
    <p:sldId id="372" r:id="rId58"/>
    <p:sldId id="374" r:id="rId59"/>
    <p:sldId id="375" r:id="rId60"/>
    <p:sldId id="373" r:id="rId61"/>
    <p:sldId id="376" r:id="rId62"/>
    <p:sldId id="270" r:id="rId63"/>
    <p:sldId id="333" r:id="rId64"/>
    <p:sldId id="334" r:id="rId65"/>
    <p:sldId id="335" r:id="rId66"/>
    <p:sldId id="336" r:id="rId67"/>
    <p:sldId id="337" r:id="rId68"/>
    <p:sldId id="338" r:id="rId69"/>
    <p:sldId id="339" r:id="rId70"/>
    <p:sldId id="340" r:id="rId71"/>
    <p:sldId id="341" r:id="rId72"/>
    <p:sldId id="342" r:id="rId73"/>
    <p:sldId id="343" r:id="rId74"/>
    <p:sldId id="344" r:id="rId75"/>
    <p:sldId id="271" r:id="rId76"/>
    <p:sldId id="272" r:id="rId77"/>
    <p:sldId id="273" r:id="rId78"/>
    <p:sldId id="345" r:id="rId79"/>
    <p:sldId id="346" r:id="rId80"/>
    <p:sldId id="347" r:id="rId81"/>
    <p:sldId id="348" r:id="rId82"/>
    <p:sldId id="274" r:id="rId83"/>
    <p:sldId id="275" r:id="rId84"/>
    <p:sldId id="288" r:id="rId85"/>
    <p:sldId id="276" r:id="rId86"/>
    <p:sldId id="277" r:id="rId87"/>
    <p:sldId id="278" r:id="rId88"/>
    <p:sldId id="279" r:id="rId89"/>
    <p:sldId id="364" r:id="rId90"/>
    <p:sldId id="365" r:id="rId91"/>
    <p:sldId id="366" r:id="rId92"/>
    <p:sldId id="280" r:id="rId93"/>
    <p:sldId id="281" r:id="rId94"/>
    <p:sldId id="282" r:id="rId95"/>
    <p:sldId id="283" r:id="rId96"/>
    <p:sldId id="284" r:id="rId97"/>
    <p:sldId id="285" r:id="rId98"/>
    <p:sldId id="286" r:id="rId99"/>
    <p:sldId id="289" r:id="rId100"/>
    <p:sldId id="290" r:id="rId101"/>
    <p:sldId id="291" r:id="rId102"/>
    <p:sldId id="292" r:id="rId103"/>
    <p:sldId id="287" r:id="rId104"/>
    <p:sldId id="293" r:id="rId105"/>
    <p:sldId id="295" r:id="rId106"/>
    <p:sldId id="294" r:id="rId107"/>
    <p:sldId id="301" r:id="rId108"/>
    <p:sldId id="296" r:id="rId109"/>
    <p:sldId id="298" r:id="rId110"/>
    <p:sldId id="299" r:id="rId111"/>
    <p:sldId id="377" r:id="rId112"/>
    <p:sldId id="300" r:id="rId1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96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117" Type="http://schemas.openxmlformats.org/officeDocument/2006/relationships/tableStyles" Target="tableStyles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87" Type="http://schemas.openxmlformats.org/officeDocument/2006/relationships/slide" Target="slides/slide84.xml"/><Relationship Id="rId102" Type="http://schemas.openxmlformats.org/officeDocument/2006/relationships/slide" Target="slides/slide99.xml"/><Relationship Id="rId110" Type="http://schemas.openxmlformats.org/officeDocument/2006/relationships/slide" Target="slides/slide107.xml"/><Relationship Id="rId115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13" Type="http://schemas.openxmlformats.org/officeDocument/2006/relationships/slide" Target="slides/slide110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11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11" Type="http://schemas.openxmlformats.org/officeDocument/2006/relationships/slide" Target="slides/slide10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14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248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798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9425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208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643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192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885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6891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814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662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004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265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65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94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5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49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133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99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65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98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00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958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504E-95EC-497A-9819-D73979EC2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0604-7951-42B9-A9B1-2E59BB23D56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364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9504E-95EC-497A-9819-D73979EC24DC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F0604-7951-42B9-A9B1-2E59BB23D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346764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9504E-95EC-497A-9819-D73979EC24D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F0604-7951-42B9-A9B1-2E59BB23D56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64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8D7A1D-54CE-4F1F-B7C9-A7D724F35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MORAL AND CITIZENSHIP</a:t>
            </a:r>
            <a:br>
              <a:rPr lang="en-US" dirty="0"/>
            </a:br>
            <a:r>
              <a:rPr lang="en-US" dirty="0"/>
              <a:t>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4D9999B-4B52-47D7-9006-0F506284B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Module’s chapters</a:t>
            </a:r>
          </a:p>
          <a:p>
            <a:pPr marL="514350" indent="-514350">
              <a:buAutoNum type="arabicPeriod"/>
            </a:pPr>
            <a:r>
              <a:rPr lang="en-US" dirty="0"/>
              <a:t>Understanding Civics and Ethics </a:t>
            </a:r>
          </a:p>
          <a:p>
            <a:pPr marL="514350" indent="-514350">
              <a:buAutoNum type="arabicPeriod"/>
            </a:pPr>
            <a:r>
              <a:rPr lang="en-US" dirty="0"/>
              <a:t>Approaches to Ethics</a:t>
            </a:r>
          </a:p>
          <a:p>
            <a:pPr marL="514350" indent="-514350">
              <a:buAutoNum type="arabicPeriod"/>
            </a:pPr>
            <a:r>
              <a:rPr lang="en-US" dirty="0"/>
              <a:t>Ethical Decision Making and Moral Judgments</a:t>
            </a:r>
          </a:p>
          <a:p>
            <a:pPr marL="514350" indent="-514350">
              <a:buAutoNum type="arabicPeriod"/>
            </a:pPr>
            <a:r>
              <a:rPr lang="en-US" dirty="0"/>
              <a:t>State, Government and Citizenship</a:t>
            </a:r>
          </a:p>
          <a:p>
            <a:pPr marL="514350" indent="-514350">
              <a:buAutoNum type="arabicPeriod"/>
            </a:pPr>
            <a:r>
              <a:rPr lang="en-US" dirty="0"/>
              <a:t>Constitution, Democracy and Human Rights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 rot="2050619">
            <a:off x="7296574" y="2000620"/>
            <a:ext cx="1267819" cy="2916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Seed will only become a flower if it gets sun and water.</a:t>
            </a:r>
          </a:p>
          <a:p>
            <a:pPr algn="ctr"/>
            <a:r>
              <a:rPr lang="en-US" dirty="0"/>
              <a:t>- Louis Gottschalk.</a:t>
            </a:r>
          </a:p>
        </p:txBody>
      </p:sp>
    </p:spTree>
    <p:extLst>
      <p:ext uri="{BB962C8B-B14F-4D97-AF65-F5344CB8AC3E}">
        <p14:creationId xmlns:p14="http://schemas.microsoft.com/office/powerpoint/2010/main" val="1242907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F52BB4-D487-4872-BA70-08B90925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Objectives of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98B76-FBA8-4AD9-AA9F-4FC93B6B5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578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reflect the creation of </a:t>
            </a:r>
            <a:r>
              <a:rPr lang="en-US" b="1" dirty="0"/>
              <a:t>holistic development </a:t>
            </a:r>
            <a:r>
              <a:rPr lang="en-US" dirty="0"/>
              <a:t>in all citizens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create </a:t>
            </a:r>
            <a:r>
              <a:rPr lang="en-US" b="1" dirty="0"/>
              <a:t>confident</a:t>
            </a:r>
            <a:r>
              <a:rPr lang="en-US" dirty="0"/>
              <a:t> and </a:t>
            </a:r>
            <a:r>
              <a:rPr lang="en-US" b="1" dirty="0"/>
              <a:t>competent</a:t>
            </a:r>
            <a:r>
              <a:rPr lang="en-US" dirty="0"/>
              <a:t> citizens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create </a:t>
            </a:r>
            <a:r>
              <a:rPr lang="en-US" b="1" dirty="0"/>
              <a:t>democratic minded</a:t>
            </a:r>
            <a:r>
              <a:rPr lang="en-US" dirty="0"/>
              <a:t> citizens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</a:t>
            </a:r>
            <a:r>
              <a:rPr lang="en-US" b="1" dirty="0"/>
              <a:t>educate</a:t>
            </a:r>
            <a:r>
              <a:rPr lang="en-US" dirty="0"/>
              <a:t> about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Democratic culture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Supremacy of constitution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Rule of law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Right attitude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Nature of Ethiopian Federalism etc.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build </a:t>
            </a:r>
            <a:r>
              <a:rPr lang="en-US" b="1" dirty="0"/>
              <a:t>critical thinkers </a:t>
            </a:r>
            <a:r>
              <a:rPr lang="en-US" dirty="0"/>
              <a:t>etc.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72200" y="3276600"/>
            <a:ext cx="3048000" cy="2362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Ways of Delivery 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US" dirty="0" smtClean="0"/>
              <a:t>Lecture</a:t>
            </a:r>
            <a:endParaRPr lang="en-US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en-US" dirty="0" smtClean="0"/>
              <a:t>Class discussion</a:t>
            </a:r>
          </a:p>
          <a:p>
            <a:r>
              <a:rPr lang="en-US" dirty="0" smtClean="0"/>
              <a:t>Assessment methods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 smtClean="0"/>
              <a:t>Attendance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 smtClean="0"/>
              <a:t>Assignment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 smtClean="0"/>
              <a:t>Mid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 smtClean="0"/>
              <a:t>Final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15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sz="2700" b="1" dirty="0"/>
              <a:t/>
            </a:r>
            <a:br>
              <a:rPr lang="en-US" sz="2700" b="1" dirty="0"/>
            </a:br>
            <a:r>
              <a:rPr lang="en-US" sz="2700" b="1" dirty="0"/>
              <a:t>Chapter One: </a:t>
            </a:r>
            <a:br>
              <a:rPr lang="en-US" sz="2700" b="1" dirty="0"/>
            </a:br>
            <a:r>
              <a:rPr lang="en-US" sz="2700" b="1" dirty="0"/>
              <a:t>Understanding Civics and Ethics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914400"/>
            <a:ext cx="8892214" cy="5943599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Civic education</a:t>
            </a:r>
          </a:p>
          <a:p>
            <a:pPr lvl="1">
              <a:buFont typeface="Wingdings" pitchFamily="2" charset="2"/>
              <a:buChar char="v"/>
            </a:pP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Is a </a:t>
            </a:r>
            <a:r>
              <a:rPr lang="en-US" sz="11200" b="1" dirty="0">
                <a:latin typeface="Times New Roman" pitchFamily="18" charset="0"/>
                <a:cs typeface="Times New Roman" pitchFamily="18" charset="0"/>
              </a:rPr>
              <a:t>multidisciplinary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field of study </a:t>
            </a:r>
            <a:r>
              <a:rPr lang="en-US" sz="11200" dirty="0">
                <a:latin typeface="Times New Roman" pitchFamily="18" charset="0"/>
                <a:cs typeface="Times New Roman" pitchFamily="18" charset="0"/>
                <a:sym typeface="Wingdings"/>
              </a:rPr>
              <a:t>combination of many subjects</a:t>
            </a:r>
            <a:endParaRPr lang="en-US" sz="112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1200" dirty="0" smtClean="0">
                <a:latin typeface="Times New Roman" pitchFamily="18" charset="0"/>
                <a:cs typeface="Times New Roman" pitchFamily="18" charset="0"/>
              </a:rPr>
              <a:t>tudies 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about the </a:t>
            </a:r>
            <a:r>
              <a:rPr lang="en-US" sz="11200" b="1" dirty="0">
                <a:latin typeface="Times New Roman" pitchFamily="18" charset="0"/>
                <a:cs typeface="Times New Roman" pitchFamily="18" charset="0"/>
              </a:rPr>
              <a:t>rights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11200" b="1" dirty="0">
                <a:latin typeface="Times New Roman" pitchFamily="18" charset="0"/>
                <a:cs typeface="Times New Roman" pitchFamily="18" charset="0"/>
              </a:rPr>
              <a:t>responsibilities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11200" dirty="0" smtClean="0">
                <a:latin typeface="Times New Roman" pitchFamily="18" charset="0"/>
                <a:cs typeface="Times New Roman" pitchFamily="18" charset="0"/>
              </a:rPr>
              <a:t>citizens (the most cited definition)</a:t>
            </a:r>
            <a:endParaRPr lang="en-US" sz="112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11200" dirty="0" smtClean="0">
                <a:latin typeface="Times New Roman" pitchFamily="18" charset="0"/>
                <a:cs typeface="Times New Roman" pitchFamily="18" charset="0"/>
              </a:rPr>
              <a:t>he </a:t>
            </a:r>
            <a:r>
              <a:rPr lang="en-US" sz="11200" b="1" dirty="0">
                <a:latin typeface="Times New Roman" pitchFamily="18" charset="0"/>
                <a:cs typeface="Times New Roman" pitchFamily="18" charset="0"/>
              </a:rPr>
              <a:t>knowledge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of the </a:t>
            </a:r>
          </a:p>
          <a:p>
            <a:pPr lvl="2">
              <a:buFont typeface="Wingdings" pitchFamily="2" charset="2"/>
              <a:buChar char="ü"/>
            </a:pP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constitutions, </a:t>
            </a:r>
          </a:p>
          <a:p>
            <a:pPr lvl="2">
              <a:buFont typeface="Wingdings" pitchFamily="2" charset="2"/>
              <a:buChar char="ü"/>
            </a:pP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the principles, </a:t>
            </a:r>
          </a:p>
          <a:p>
            <a:pPr lvl="2">
              <a:buFont typeface="Wingdings" pitchFamily="2" charset="2"/>
              <a:buChar char="ü"/>
            </a:pP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values, </a:t>
            </a:r>
          </a:p>
          <a:p>
            <a:pPr lvl="2">
              <a:buFont typeface="Wingdings" pitchFamily="2" charset="2"/>
              <a:buChar char="ü"/>
            </a:pP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history </a:t>
            </a:r>
          </a:p>
          <a:p>
            <a:pPr lvl="2">
              <a:buFont typeface="Wingdings" pitchFamily="2" charset="2"/>
              <a:buChar char="ü"/>
            </a:pP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application to contemporary life</a:t>
            </a:r>
          </a:p>
          <a:p>
            <a:pPr lvl="1">
              <a:buFont typeface="Wingdings" pitchFamily="2" charset="2"/>
              <a:buChar char="v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way of learning for </a:t>
            </a:r>
            <a:r>
              <a:rPr lang="en-US" sz="9600" b="1" dirty="0">
                <a:latin typeface="Times New Roman" pitchFamily="18" charset="0"/>
                <a:cs typeface="Times New Roman" pitchFamily="18" charset="0"/>
              </a:rPr>
              <a:t>effective participation </a:t>
            </a: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in a democratic and development process (UNDP, 2004)</a:t>
            </a:r>
          </a:p>
          <a:p>
            <a:pPr lvl="1">
              <a:buFont typeface="Wingdings" pitchFamily="2" charset="2"/>
              <a:buChar char="v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9600" b="1" dirty="0">
                <a:latin typeface="Times New Roman" pitchFamily="18" charset="0"/>
                <a:cs typeface="Times New Roman" pitchFamily="18" charset="0"/>
              </a:rPr>
              <a:t>emerging</a:t>
            </a: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discipline field </a:t>
            </a: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study in social science</a:t>
            </a:r>
          </a:p>
          <a:p>
            <a:pPr lvl="1">
              <a:buFont typeface="Wingdings" pitchFamily="2" charset="2"/>
              <a:buChar char="v"/>
            </a:pP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It had been understood applied </a:t>
            </a:r>
            <a:r>
              <a:rPr lang="en-US" sz="9600" b="1" dirty="0" smtClean="0">
                <a:latin typeface="Times New Roman" pitchFamily="18" charset="0"/>
                <a:cs typeface="Times New Roman" pitchFamily="18" charset="0"/>
              </a:rPr>
              <a:t>differently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in different countries </a:t>
            </a: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9600" dirty="0">
                <a:latin typeface="Times New Roman" pitchFamily="18" charset="0"/>
                <a:cs typeface="Times New Roman" pitchFamily="18" charset="0"/>
              </a:rPr>
            </a:b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9600" dirty="0">
                <a:latin typeface="Times New Roman" pitchFamily="18" charset="0"/>
                <a:cs typeface="Times New Roman" pitchFamily="18" charset="0"/>
              </a:rPr>
            </a:b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1200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Round Single Corner Rectangle 3"/>
          <p:cNvSpPr/>
          <p:nvPr/>
        </p:nvSpPr>
        <p:spPr>
          <a:xfrm>
            <a:off x="5562600" y="3292915"/>
            <a:ext cx="2762718" cy="1219200"/>
          </a:xfrm>
          <a:prstGeom prst="round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2400" dirty="0"/>
              <a:t>      Patrick (1986)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Right Arrow 4"/>
          <p:cNvSpPr/>
          <p:nvPr/>
        </p:nvSpPr>
        <p:spPr>
          <a:xfrm rot="21279352">
            <a:off x="4436842" y="3932036"/>
            <a:ext cx="1297023" cy="4307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civic </a:t>
            </a:r>
            <a:r>
              <a:rPr lang="en-US" dirty="0" smtClean="0"/>
              <a:t>Education</a:t>
            </a:r>
            <a:r>
              <a:rPr lang="en-US" dirty="0"/>
              <a:t>…..cont’d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534400" cy="4678363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Aggarwal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(1982) the development of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ideas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habits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useful attitudes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 the individual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process of helping young people to be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competent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responsible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citizens throughout their lives.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6583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8DF8C3-BEE6-4062-A6B2-A55A684A7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Concepts of Civic Education</a:t>
            </a:r>
            <a:br>
              <a:rPr lang="en-US" sz="32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0384C2-DF63-4814-A8B8-F73A0BBC5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1257300" lvl="2" indent="-457200"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</a:p>
          <a:p>
            <a:pPr lvl="3" indent="-342900">
              <a:buFont typeface="Wingdings" panose="05000000000000000000" pitchFamily="2" charset="2"/>
              <a:buChar char="Ø"/>
            </a:pPr>
            <a:r>
              <a:rPr lang="en-US" dirty="0"/>
              <a:t>content-led, </a:t>
            </a:r>
          </a:p>
          <a:p>
            <a:pPr lvl="3" indent="-342900">
              <a:buFont typeface="Wingdings" panose="05000000000000000000" pitchFamily="2" charset="2"/>
              <a:buChar char="Ø"/>
            </a:pPr>
            <a:r>
              <a:rPr lang="en-US" dirty="0"/>
              <a:t>teacher-based</a:t>
            </a:r>
          </a:p>
          <a:p>
            <a:pPr lvl="3" indent="-342900">
              <a:buFont typeface="Wingdings" panose="05000000000000000000" pitchFamily="2" charset="2"/>
              <a:buChar char="Ø"/>
            </a:pPr>
            <a:r>
              <a:rPr lang="en-US" dirty="0"/>
              <a:t>examination-based assessment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51435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concept</a:t>
            </a:r>
          </a:p>
          <a:p>
            <a:pPr lvl="3" indent="-342900">
              <a:buFont typeface="Wingdings" panose="05000000000000000000" pitchFamily="2" charset="2"/>
              <a:buChar char="v"/>
            </a:pPr>
            <a:r>
              <a:rPr lang="en-US" dirty="0"/>
              <a:t>comprised of</a:t>
            </a:r>
          </a:p>
          <a:p>
            <a:pPr lvl="4" indent="-342900">
              <a:buFont typeface="Wingdings" panose="05000000000000000000" pitchFamily="2" charset="2"/>
              <a:buChar char="ü"/>
            </a:pPr>
            <a:r>
              <a:rPr lang="en-US" dirty="0"/>
              <a:t> knowledge, </a:t>
            </a:r>
          </a:p>
          <a:p>
            <a:pPr lvl="4" indent="-342900">
              <a:buFont typeface="Wingdings" panose="05000000000000000000" pitchFamily="2" charset="2"/>
              <a:buChar char="ü"/>
            </a:pPr>
            <a:r>
              <a:rPr lang="en-US" dirty="0"/>
              <a:t>values </a:t>
            </a:r>
          </a:p>
          <a:p>
            <a:pPr lvl="4" indent="-342900">
              <a:buFont typeface="Wingdings" panose="05000000000000000000" pitchFamily="2" charset="2"/>
              <a:buChar char="ü"/>
            </a:pPr>
            <a:r>
              <a:rPr lang="en-US" dirty="0"/>
              <a:t> skills, </a:t>
            </a:r>
          </a:p>
          <a:p>
            <a:pPr lvl="4" indent="-342900">
              <a:buFont typeface="Wingdings" panose="05000000000000000000" pitchFamily="2" charset="2"/>
              <a:buChar char="ü"/>
            </a:pPr>
            <a:r>
              <a:rPr lang="en-US" dirty="0"/>
              <a:t>active, </a:t>
            </a:r>
          </a:p>
          <a:p>
            <a:pPr lvl="4" indent="-342900">
              <a:buFont typeface="Wingdings" panose="05000000000000000000" pitchFamily="2" charset="2"/>
              <a:buChar char="ü"/>
            </a:pPr>
            <a:r>
              <a:rPr lang="en-US" dirty="0"/>
              <a:t>Responsible</a:t>
            </a:r>
          </a:p>
          <a:p>
            <a:pPr lvl="3" indent="-342900">
              <a:buFont typeface="Wingdings" panose="05000000000000000000" pitchFamily="2" charset="2"/>
              <a:buChar char="v"/>
            </a:pPr>
            <a:r>
              <a:rPr lang="en-US" dirty="0"/>
              <a:t>extends learning beyond the curriculum and classroom</a:t>
            </a:r>
          </a:p>
          <a:p>
            <a:pPr lvl="3" indent="-342900">
              <a:buFont typeface="Wingdings" panose="05000000000000000000" pitchFamily="2" charset="2"/>
              <a:buChar char="v"/>
            </a:pPr>
            <a:r>
              <a:rPr lang="en-US" dirty="0"/>
              <a:t>dependent on interactive teaching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56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Shape 1"/>
          <p:cNvSpPr txBox="1"/>
          <p:nvPr/>
        </p:nvSpPr>
        <p:spPr>
          <a:xfrm>
            <a:off x="457200" y="227160"/>
            <a:ext cx="8229240" cy="1068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800" b="1" spc="-1" dirty="0" smtClean="0">
                <a:solidFill>
                  <a:srgbClr val="000000"/>
                </a:solidFill>
                <a:latin typeface="Times New Roman"/>
                <a:ea typeface="Cambria-Bold"/>
              </a:rPr>
              <a:t>Historical </a:t>
            </a:r>
            <a:r>
              <a:rPr lang="en-US" sz="2800" b="1" spc="-1" dirty="0">
                <a:solidFill>
                  <a:srgbClr val="000000"/>
                </a:solidFill>
                <a:latin typeface="Times New Roman"/>
                <a:ea typeface="Cambria-Bold"/>
              </a:rPr>
              <a:t>Evolution of Civics Education</a:t>
            </a:r>
            <a:endParaRPr lang="en-US" sz="2800" b="1" spc="-1" dirty="0">
              <a:solidFill>
                <a:prstClr val="black"/>
              </a:solidFill>
              <a:latin typeface="Times New Roman"/>
            </a:endParaRPr>
          </a:p>
        </p:txBody>
      </p:sp>
      <p:sp>
        <p:nvSpPr>
          <p:cNvPr id="44" name="TextShape 2"/>
          <p:cNvSpPr txBox="1"/>
          <p:nvPr/>
        </p:nvSpPr>
        <p:spPr>
          <a:xfrm>
            <a:off x="91260" y="990600"/>
            <a:ext cx="8961120" cy="5867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817200" indent="-457200">
              <a:lnSpc>
                <a:spcPct val="150000"/>
              </a:lnSpc>
              <a:buClr>
                <a:srgbClr val="000000"/>
              </a:buClr>
              <a:buSzPct val="45000"/>
              <a:buFont typeface="Wingdings" pitchFamily="2" charset="2"/>
              <a:buChar char="Ø"/>
            </a:pPr>
            <a:r>
              <a:rPr lang="en-US" sz="2600" spc="-1" dirty="0">
                <a:solidFill>
                  <a:srgbClr val="000000"/>
                </a:solidFill>
                <a:latin typeface="Cambria"/>
                <a:ea typeface="Cambria"/>
              </a:rPr>
              <a:t>Dates back to the </a:t>
            </a:r>
            <a:r>
              <a:rPr lang="en-US" sz="2600" b="1" spc="-1" dirty="0">
                <a:solidFill>
                  <a:srgbClr val="000000"/>
                </a:solidFill>
                <a:latin typeface="Cambria"/>
                <a:ea typeface="Cambria"/>
              </a:rPr>
              <a:t>earliest thoughts </a:t>
            </a:r>
            <a:r>
              <a:rPr lang="en-US" sz="2600" spc="-1" dirty="0">
                <a:solidFill>
                  <a:srgbClr val="000000"/>
                </a:solidFill>
                <a:latin typeface="Cambria"/>
                <a:ea typeface="Cambria"/>
              </a:rPr>
              <a:t>of philosophers</a:t>
            </a:r>
            <a:endParaRPr lang="en-US" sz="2600" spc="-1" dirty="0">
              <a:solidFill>
                <a:prstClr val="black"/>
              </a:solidFill>
              <a:ea typeface="Microsoft YaHei"/>
            </a:endParaRPr>
          </a:p>
          <a:p>
            <a:pPr marL="731520" indent="-457200">
              <a:lnSpc>
                <a:spcPct val="150000"/>
              </a:lnSpc>
              <a:buClr>
                <a:srgbClr val="000000"/>
              </a:buClr>
              <a:buSzPct val="45000"/>
              <a:buFont typeface="Wingdings" pitchFamily="2" charset="2"/>
              <a:buChar char="Ø"/>
            </a:pPr>
            <a:r>
              <a:rPr lang="en-US" sz="2600" spc="-1" dirty="0" smtClean="0">
                <a:solidFill>
                  <a:prstClr val="black"/>
                </a:solidFill>
                <a:latin typeface="Times New Roman"/>
                <a:ea typeface="Microsoft YaHei"/>
              </a:rPr>
              <a:t>S</a:t>
            </a:r>
            <a:r>
              <a:rPr lang="en-US" sz="2600" spc="-1" dirty="0" smtClean="0">
                <a:solidFill>
                  <a:srgbClr val="000000"/>
                </a:solidFill>
                <a:latin typeface="Times New Roman"/>
                <a:ea typeface="Cambria"/>
              </a:rPr>
              <a:t>tarted </a:t>
            </a:r>
            <a:r>
              <a:rPr lang="en-US" sz="2600" spc="-1" dirty="0">
                <a:solidFill>
                  <a:srgbClr val="000000"/>
                </a:solidFill>
                <a:latin typeface="Times New Roman"/>
                <a:ea typeface="Cambria"/>
              </a:rPr>
              <a:t>in </a:t>
            </a:r>
            <a:r>
              <a:rPr lang="en-US" sz="2600" b="1" spc="-1" dirty="0">
                <a:solidFill>
                  <a:srgbClr val="000000"/>
                </a:solidFill>
                <a:latin typeface="Times New Roman"/>
                <a:ea typeface="Cambria"/>
              </a:rPr>
              <a:t>Athens, Greece</a:t>
            </a:r>
            <a:endParaRPr lang="en-US" sz="2600" spc="-1" dirty="0">
              <a:solidFill>
                <a:prstClr val="black"/>
              </a:solidFill>
            </a:endParaRPr>
          </a:p>
          <a:p>
            <a:pPr marL="731520" indent="-457200">
              <a:lnSpc>
                <a:spcPct val="150000"/>
              </a:lnSpc>
              <a:buClr>
                <a:srgbClr val="000000"/>
              </a:buClr>
              <a:buSzPct val="45000"/>
              <a:buFont typeface="Wingdings" pitchFamily="2" charset="2"/>
              <a:buChar char="Ø"/>
            </a:pPr>
            <a:r>
              <a:rPr lang="en-US" sz="2600" spc="-1" dirty="0" smtClean="0">
                <a:solidFill>
                  <a:srgbClr val="000000"/>
                </a:solidFill>
                <a:latin typeface="Cambria"/>
                <a:ea typeface="Cambria"/>
              </a:rPr>
              <a:t>was </a:t>
            </a:r>
            <a:r>
              <a:rPr lang="en-US" sz="2600" spc="-1" dirty="0">
                <a:solidFill>
                  <a:srgbClr val="000000"/>
                </a:solidFill>
                <a:latin typeface="Cambria"/>
                <a:ea typeface="Cambria"/>
              </a:rPr>
              <a:t>given in </a:t>
            </a:r>
            <a:r>
              <a:rPr lang="en-US" sz="2600" b="1" spc="-1" dirty="0">
                <a:solidFill>
                  <a:srgbClr val="000000"/>
                </a:solidFill>
                <a:latin typeface="Cambria"/>
                <a:ea typeface="Cambria"/>
              </a:rPr>
              <a:t>ancient Rome</a:t>
            </a:r>
            <a:r>
              <a:rPr lang="en-US" sz="2600" spc="-1" dirty="0">
                <a:solidFill>
                  <a:srgbClr val="000000"/>
                </a:solidFill>
                <a:latin typeface="Cambria"/>
                <a:ea typeface="Cambria"/>
              </a:rPr>
              <a:t> during the </a:t>
            </a:r>
            <a:r>
              <a:rPr lang="en-US" sz="2600" b="1" spc="-1" dirty="0">
                <a:solidFill>
                  <a:srgbClr val="000000"/>
                </a:solidFill>
                <a:latin typeface="Cambria"/>
                <a:ea typeface="Cambria"/>
              </a:rPr>
              <a:t>medieval period</a:t>
            </a:r>
            <a:r>
              <a:rPr lang="en-US" sz="2600" spc="-1" dirty="0">
                <a:solidFill>
                  <a:srgbClr val="000000"/>
                </a:solidFill>
                <a:latin typeface="Cambria"/>
                <a:ea typeface="Cambria"/>
              </a:rPr>
              <a:t> by </a:t>
            </a:r>
            <a:r>
              <a:rPr lang="en-US" sz="2600" spc="-1" dirty="0">
                <a:solidFill>
                  <a:srgbClr val="000000"/>
                </a:solidFill>
                <a:latin typeface="Times New Roman"/>
                <a:ea typeface="Cambria"/>
              </a:rPr>
              <a:t>religious institutions</a:t>
            </a:r>
            <a:r>
              <a:rPr lang="en-US" sz="2600" spc="-1" dirty="0" smtClean="0">
                <a:solidFill>
                  <a:srgbClr val="000000"/>
                </a:solidFill>
                <a:latin typeface="Times New Roman"/>
                <a:ea typeface="Cambria"/>
              </a:rPr>
              <a:t>.</a:t>
            </a:r>
            <a:endParaRPr lang="en-US" sz="2600" spc="-1" dirty="0" smtClean="0">
              <a:solidFill>
                <a:prstClr val="black"/>
              </a:solidFill>
            </a:endParaRPr>
          </a:p>
          <a:p>
            <a:pPr marL="731520" indent="-457200">
              <a:lnSpc>
                <a:spcPct val="150000"/>
              </a:lnSpc>
              <a:buClr>
                <a:srgbClr val="000000"/>
              </a:buClr>
              <a:buSzPct val="45000"/>
              <a:buFont typeface="Wingdings" pitchFamily="2" charset="2"/>
              <a:buChar char="Ø"/>
            </a:pPr>
            <a:r>
              <a:rPr lang="en-US" sz="2600" spc="-1" dirty="0" smtClean="0">
                <a:solidFill>
                  <a:srgbClr val="000000"/>
                </a:solidFill>
                <a:latin typeface="Times New Roman"/>
                <a:ea typeface="Cambria"/>
              </a:rPr>
              <a:t> </a:t>
            </a:r>
            <a:r>
              <a:rPr lang="en-US" sz="2600" spc="-1" dirty="0">
                <a:solidFill>
                  <a:srgbClr val="000000"/>
                </a:solidFill>
                <a:latin typeface="Times New Roman"/>
                <a:ea typeface="Cambria"/>
              </a:rPr>
              <a:t>In the </a:t>
            </a:r>
            <a:r>
              <a:rPr lang="en-US" sz="2600" b="1" i="1" spc="-1" dirty="0">
                <a:solidFill>
                  <a:srgbClr val="000000"/>
                </a:solidFill>
                <a:latin typeface="Times New Roman"/>
                <a:ea typeface="Cambria-BoldItalic"/>
              </a:rPr>
              <a:t>Renaissance </a:t>
            </a:r>
            <a:r>
              <a:rPr lang="en-US" sz="2600" spc="-1" dirty="0">
                <a:solidFill>
                  <a:srgbClr val="000000"/>
                </a:solidFill>
                <a:latin typeface="Times New Roman"/>
                <a:ea typeface="Cambria"/>
              </a:rPr>
              <a:t>period it start to be independent </a:t>
            </a:r>
            <a:r>
              <a:rPr lang="en-US" sz="2600" spc="-1" dirty="0" smtClean="0">
                <a:solidFill>
                  <a:srgbClr val="000000"/>
                </a:solidFill>
                <a:latin typeface="Times New Roman"/>
                <a:ea typeface="Cambria"/>
              </a:rPr>
              <a:t>discipline </a:t>
            </a:r>
            <a:r>
              <a:rPr lang="en-US" sz="2600" spc="-1" dirty="0">
                <a:solidFill>
                  <a:srgbClr val="000000"/>
                </a:solidFill>
                <a:latin typeface="Times New Roman"/>
                <a:ea typeface="Cambria"/>
              </a:rPr>
              <a:t>Had introduced in Ethiopia during the reign of </a:t>
            </a:r>
            <a:r>
              <a:rPr lang="en-US" sz="2600" b="1" spc="-1" dirty="0" err="1">
                <a:solidFill>
                  <a:srgbClr val="000000"/>
                </a:solidFill>
                <a:latin typeface="Times New Roman"/>
                <a:ea typeface="Cambria"/>
              </a:rPr>
              <a:t>Hailessillasie</a:t>
            </a:r>
            <a:r>
              <a:rPr lang="en-US" sz="2600" b="1" spc="-1" dirty="0">
                <a:solidFill>
                  <a:srgbClr val="000000"/>
                </a:solidFill>
                <a:latin typeface="Times New Roman"/>
                <a:ea typeface="Cambria"/>
              </a:rPr>
              <a:t> </a:t>
            </a:r>
            <a:r>
              <a:rPr lang="en-US" sz="2600" spc="-1" dirty="0">
                <a:solidFill>
                  <a:srgbClr val="000000"/>
                </a:solidFill>
                <a:latin typeface="Times New Roman"/>
                <a:ea typeface="Cambria"/>
              </a:rPr>
              <a:t>having nomenclature</a:t>
            </a:r>
            <a:r>
              <a:rPr lang="en-US" sz="2600" b="1" spc="-1" dirty="0">
                <a:solidFill>
                  <a:srgbClr val="000000"/>
                </a:solidFill>
                <a:latin typeface="Times New Roman"/>
                <a:ea typeface="Cambria"/>
              </a:rPr>
              <a:t>  </a:t>
            </a:r>
            <a:r>
              <a:rPr lang="en-US" sz="2600" b="1" i="1" spc="-1" dirty="0" err="1">
                <a:solidFill>
                  <a:srgbClr val="000000"/>
                </a:solidFill>
                <a:latin typeface="Cambria-Italic"/>
                <a:ea typeface="Cambria-Italic"/>
              </a:rPr>
              <a:t>Gibregeb</a:t>
            </a:r>
            <a:r>
              <a:rPr lang="en-US" sz="2600" b="1" i="1" spc="-1" dirty="0">
                <a:solidFill>
                  <a:srgbClr val="000000"/>
                </a:solidFill>
                <a:latin typeface="Cambria-Italic"/>
                <a:ea typeface="Cambria-Italic"/>
              </a:rPr>
              <a:t> </a:t>
            </a:r>
            <a:r>
              <a:rPr lang="en-US" sz="2600" b="1" i="1" spc="-1" dirty="0" err="1" smtClean="0">
                <a:solidFill>
                  <a:srgbClr val="000000"/>
                </a:solidFill>
                <a:latin typeface="Cambria-Italic"/>
                <a:ea typeface="Cambria-Italic"/>
              </a:rPr>
              <a:t>Timihirt</a:t>
            </a:r>
            <a:endParaRPr lang="en-US" sz="2600" spc="-1" dirty="0" smtClean="0">
              <a:solidFill>
                <a:prstClr val="black"/>
              </a:solidFill>
            </a:endParaRPr>
          </a:p>
          <a:p>
            <a:pPr marL="731520" indent="-457200">
              <a:lnSpc>
                <a:spcPct val="150000"/>
              </a:lnSpc>
              <a:buClr>
                <a:srgbClr val="000000"/>
              </a:buClr>
              <a:buSzPct val="45000"/>
              <a:buFont typeface="Wingdings" pitchFamily="2" charset="2"/>
              <a:buChar char="Ø"/>
            </a:pPr>
            <a:r>
              <a:rPr lang="en-US" sz="2600" spc="-1" dirty="0" smtClean="0">
                <a:solidFill>
                  <a:srgbClr val="000000"/>
                </a:solidFill>
                <a:latin typeface="Times New Roman"/>
                <a:ea typeface="Cambria"/>
              </a:rPr>
              <a:t>During </a:t>
            </a:r>
            <a:r>
              <a:rPr lang="en-US" sz="2600" spc="-1" dirty="0">
                <a:solidFill>
                  <a:srgbClr val="000000"/>
                </a:solidFill>
                <a:latin typeface="Times New Roman"/>
                <a:ea typeface="Cambria"/>
              </a:rPr>
              <a:t>the </a:t>
            </a:r>
            <a:r>
              <a:rPr lang="en-US" sz="2600" spc="-1" dirty="0" err="1">
                <a:solidFill>
                  <a:srgbClr val="000000"/>
                </a:solidFill>
                <a:latin typeface="Times New Roman"/>
                <a:ea typeface="Cambria"/>
              </a:rPr>
              <a:t>Dergu</a:t>
            </a:r>
            <a:r>
              <a:rPr lang="en-US" sz="2600" spc="-1" dirty="0">
                <a:solidFill>
                  <a:srgbClr val="000000"/>
                </a:solidFill>
                <a:latin typeface="Times New Roman"/>
                <a:ea typeface="Cambria"/>
              </a:rPr>
              <a:t> regime it was named as  </a:t>
            </a:r>
            <a:r>
              <a:rPr lang="en-US" sz="2600" b="1" i="1" spc="-1" dirty="0" err="1">
                <a:solidFill>
                  <a:srgbClr val="000000"/>
                </a:solidFill>
                <a:latin typeface="Cambria-Italic"/>
                <a:ea typeface="Cambria-Italic"/>
              </a:rPr>
              <a:t>YepoletikaTimihirt</a:t>
            </a:r>
            <a:endParaRPr lang="en-US" sz="2600" spc="-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559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1" spc="-1" dirty="0">
                <a:solidFill>
                  <a:prstClr val="black"/>
                </a:solidFill>
              </a:rPr>
              <a:t> </a:t>
            </a:r>
            <a:r>
              <a:rPr lang="en-US" sz="4400" b="1" spc="-1" dirty="0">
                <a:solidFill>
                  <a:srgbClr val="4F81BD"/>
                </a:solidFill>
                <a:latin typeface="Cambria-Bold"/>
                <a:ea typeface="Cambria-Bold"/>
              </a:rPr>
              <a:t>Sources of Civic </a:t>
            </a:r>
            <a:r>
              <a:rPr lang="en-US" sz="4400" b="1" spc="-1" dirty="0" smtClean="0">
                <a:solidFill>
                  <a:srgbClr val="4F81BD"/>
                </a:solidFill>
                <a:latin typeface="Cambria-Bold"/>
                <a:ea typeface="Cambria-Bold"/>
              </a:rPr>
              <a:t>Education</a:t>
            </a:r>
            <a:endParaRPr lang="en-US" sz="4400" b="1" spc="-1" dirty="0">
              <a:solidFill>
                <a:prstClr val="black"/>
              </a:solidFill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457200" y="1604520"/>
            <a:ext cx="8229240" cy="4796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457200" indent="-457200">
              <a:lnSpc>
                <a:spcPct val="150000"/>
              </a:lnSpc>
              <a:buClr>
                <a:srgbClr val="000000"/>
              </a:buClr>
              <a:buFont typeface="Wingdings" pitchFamily="2" charset="2"/>
              <a:buChar char="v"/>
            </a:pPr>
            <a:r>
              <a:rPr lang="en-US" sz="2600" spc="-1" dirty="0">
                <a:solidFill>
                  <a:srgbClr val="000000"/>
                </a:solidFill>
                <a:latin typeface="Times New Roman"/>
                <a:ea typeface="Cambria"/>
              </a:rPr>
              <a:t>Traditional </a:t>
            </a:r>
            <a:r>
              <a:rPr lang="en-US" sz="2600" spc="-1" dirty="0" smtClean="0">
                <a:solidFill>
                  <a:srgbClr val="000000"/>
                </a:solidFill>
                <a:latin typeface="Times New Roman"/>
                <a:ea typeface="Cambria"/>
              </a:rPr>
              <a:t>sources  ( </a:t>
            </a:r>
            <a:r>
              <a:rPr lang="en-US" sz="2600" spc="-1" dirty="0">
                <a:solidFill>
                  <a:srgbClr val="000000"/>
                </a:solidFill>
                <a:latin typeface="Cambria-Bold"/>
                <a:ea typeface="Cambria-Bold"/>
              </a:rPr>
              <a:t>Family, school, </a:t>
            </a:r>
            <a:r>
              <a:rPr lang="en-US" sz="2600" spc="-1" dirty="0" smtClean="0">
                <a:solidFill>
                  <a:srgbClr val="000000"/>
                </a:solidFill>
                <a:latin typeface="Cambria-Bold"/>
                <a:ea typeface="Cambria-Bold"/>
              </a:rPr>
              <a:t>religion etc.)</a:t>
            </a:r>
            <a:endParaRPr lang="en-US" sz="2600" spc="-1" dirty="0">
              <a:solidFill>
                <a:prstClr val="black"/>
              </a:solidFill>
              <a:latin typeface="Times New Roman"/>
            </a:endParaRPr>
          </a:p>
          <a:p>
            <a:pPr marL="457200" indent="-457200">
              <a:lnSpc>
                <a:spcPct val="150000"/>
              </a:lnSpc>
              <a:buClr>
                <a:srgbClr val="000000"/>
              </a:buClr>
              <a:buFont typeface="Wingdings" pitchFamily="2" charset="2"/>
              <a:buChar char="v"/>
            </a:pPr>
            <a:r>
              <a:rPr lang="en-US" sz="2600" spc="-1" dirty="0">
                <a:solidFill>
                  <a:srgbClr val="000000"/>
                </a:solidFill>
                <a:latin typeface="Times New Roman"/>
              </a:rPr>
              <a:t> Documentary sources ( constitution, </a:t>
            </a:r>
            <a:r>
              <a:rPr lang="en-US" sz="2600" spc="-1" dirty="0" smtClean="0">
                <a:solidFill>
                  <a:srgbClr val="000000"/>
                </a:solidFill>
                <a:latin typeface="Times New Roman"/>
              </a:rPr>
              <a:t>treaties etc.)</a:t>
            </a:r>
            <a:endParaRPr lang="en-US" sz="2600" spc="-1" dirty="0">
              <a:solidFill>
                <a:srgbClr val="000000"/>
              </a:solidFill>
              <a:latin typeface="Times New Roman"/>
              <a:ea typeface="Cambria"/>
            </a:endParaRPr>
          </a:p>
          <a:p>
            <a:pPr marL="457200" indent="-457200">
              <a:lnSpc>
                <a:spcPct val="150000"/>
              </a:lnSpc>
              <a:buClr>
                <a:srgbClr val="000000"/>
              </a:buClr>
              <a:buFont typeface="Wingdings" pitchFamily="2" charset="2"/>
              <a:buChar char="v"/>
            </a:pPr>
            <a:r>
              <a:rPr lang="en-US" sz="2600" spc="-1" dirty="0">
                <a:solidFill>
                  <a:srgbClr val="000000"/>
                </a:solidFill>
                <a:latin typeface="Times New Roman"/>
              </a:rPr>
              <a:t>Theoretical sources (History, political science, </a:t>
            </a:r>
            <a:r>
              <a:rPr lang="en-US" sz="2600" spc="-1" dirty="0" smtClean="0">
                <a:solidFill>
                  <a:srgbClr val="000000"/>
                </a:solidFill>
                <a:latin typeface="Times New Roman"/>
              </a:rPr>
              <a:t>law etc.)</a:t>
            </a:r>
            <a:endParaRPr lang="en-US" sz="2600" spc="-1" dirty="0">
              <a:solidFill>
                <a:srgbClr val="000000"/>
              </a:solidFill>
              <a:latin typeface="Times New Roman"/>
              <a:ea typeface="Cambria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sz="2600" spc="-1" dirty="0">
              <a:solidFill>
                <a:srgbClr val="000000"/>
              </a:solidFill>
              <a:latin typeface="Times New Roman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2596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Nomenclature of Civics Education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381000" y="1295400"/>
            <a:ext cx="8534040" cy="5101080"/>
          </a:xfrm>
        </p:spPr>
        <p:txBody>
          <a:bodyPr anchor="t"/>
          <a:lstStyle/>
          <a:p>
            <a:pPr>
              <a:lnSpc>
                <a:spcPct val="200000"/>
              </a:lnSpc>
            </a:pPr>
            <a:r>
              <a:rPr lang="en-US" dirty="0" smtClean="0"/>
              <a:t>              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Some examples </a:t>
            </a:r>
          </a:p>
          <a:p>
            <a:pPr marL="342900" lvl="2" indent="-342900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400" dirty="0" smtClean="0"/>
              <a:t>Right Education in south Africa</a:t>
            </a:r>
          </a:p>
          <a:p>
            <a:pPr marL="342900" lvl="2" indent="-342900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400" dirty="0" smtClean="0"/>
              <a:t>Citizenship Education in USA and Germany</a:t>
            </a:r>
          </a:p>
          <a:p>
            <a:pPr marL="342900" lvl="2" indent="-342900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400" dirty="0" smtClean="0"/>
              <a:t>Citizenship and character Education in Singapore</a:t>
            </a:r>
          </a:p>
          <a:p>
            <a:pPr marL="342900" lvl="2" indent="-342900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400" dirty="0" smtClean="0"/>
              <a:t>Social studies and Moral education in Korea </a:t>
            </a:r>
          </a:p>
          <a:p>
            <a:pPr marL="342900" lvl="2" indent="-342900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400" dirty="0" smtClean="0"/>
              <a:t>Civics and Ethical Education in Ethiopia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0555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125" y="3497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/>
            </a:r>
            <a:br>
              <a:rPr lang="en-US" sz="2400" b="1" dirty="0"/>
            </a:br>
            <a:r>
              <a:rPr lang="en-US" sz="3100" b="1" dirty="0"/>
              <a:t>The Importance/Goal of Moral and Civic Education</a:t>
            </a:r>
            <a:r>
              <a:rPr lang="en-US" sz="3100" dirty="0"/>
              <a:t/>
            </a:r>
            <a:br>
              <a:rPr lang="en-US" sz="3100" dirty="0"/>
            </a:br>
            <a:endParaRPr lang="en-US"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991600" cy="579120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buFont typeface="Wingdings" pitchFamily="2" charset="2"/>
              <a:buChar char="q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eaches </a:t>
            </a: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the values and sense of commitment</a:t>
            </a:r>
          </a:p>
          <a:p>
            <a:pPr>
              <a:lnSpc>
                <a:spcPct val="120000"/>
              </a:lnSpc>
              <a:buFont typeface="Wingdings" pitchFamily="2" charset="2"/>
              <a:buChar char="q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ducating </a:t>
            </a: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students about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 democratic culture, 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ethical values and principles, 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supremacy of constitution,        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the rule of law,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 rights and duties of citizens</a:t>
            </a:r>
          </a:p>
          <a:p>
            <a:pPr>
              <a:lnSpc>
                <a:spcPct val="120000"/>
              </a:lnSpc>
              <a:buFont typeface="Wingdings" pitchFamily="2" charset="2"/>
              <a:buChar char="q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The need to instill citizens about their rights and duties</a:t>
            </a:r>
          </a:p>
          <a:p>
            <a:pPr>
              <a:lnSpc>
                <a:spcPct val="120000"/>
              </a:lnSpc>
              <a:buFont typeface="Wingdings" pitchFamily="2" charset="2"/>
              <a:buChar char="q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The Need for Participant Political Culture</a:t>
            </a:r>
          </a:p>
          <a:p>
            <a:pPr>
              <a:lnSpc>
                <a:spcPct val="120000"/>
              </a:lnSpc>
              <a:buFont typeface="Wingdings" pitchFamily="2" charset="2"/>
              <a:buChar char="q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The Need for Relevant Knowledge, Skills and Positive Attitudes</a:t>
            </a:r>
          </a:p>
          <a:p>
            <a:pPr>
              <a:lnSpc>
                <a:spcPct val="120000"/>
              </a:lnSpc>
              <a:buFont typeface="Wingdings" pitchFamily="2" charset="2"/>
              <a:buChar char="q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The issue of fostering intercultural societies</a:t>
            </a:r>
          </a:p>
          <a:p>
            <a:pPr>
              <a:lnSpc>
                <a:spcPct val="120000"/>
              </a:lnSpc>
              <a:buFont typeface="Wingdings" pitchFamily="2" charset="2"/>
              <a:buChar char="q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The issue of peace-building</a:t>
            </a:r>
          </a:p>
          <a:p>
            <a:pPr>
              <a:lnSpc>
                <a:spcPct val="120000"/>
              </a:lnSpc>
              <a:buFont typeface="Wingdings" pitchFamily="2" charset="2"/>
              <a:buChar char="q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To create </a:t>
            </a:r>
            <a:r>
              <a:rPr lang="en-US" sz="9600" b="1" dirty="0">
                <a:latin typeface="Times New Roman" pitchFamily="18" charset="0"/>
                <a:cs typeface="Times New Roman" pitchFamily="18" charset="0"/>
              </a:rPr>
              <a:t>good citizens and effective citizens</a:t>
            </a:r>
            <a:br>
              <a:rPr lang="en-US" sz="9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 rot="20914259">
            <a:off x="5282137" y="1768982"/>
            <a:ext cx="4154001" cy="1430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  <a:sym typeface="Wingdings"/>
              </a:rPr>
              <a:t> enhancing and sustaining moral and ethical values of society</a:t>
            </a:r>
            <a:endParaRPr lang="en-US" sz="2400" dirty="0">
              <a:solidFill>
                <a:prstClr val="white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996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304800"/>
            <a:ext cx="8229240" cy="1144800"/>
          </a:xfrm>
        </p:spPr>
        <p:txBody>
          <a:bodyPr/>
          <a:lstStyle/>
          <a:p>
            <a:pPr marL="216000" marR="0" lvl="0" indent="-21600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2800" b="1" i="0" u="none" strike="noStrike" kern="120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Competences of Good Citizen</a:t>
            </a:r>
            <a:r>
              <a:rPr kumimoji="0" lang="en-US" sz="2800" b="0" i="0" u="none" strike="noStrike" kern="120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"/>
              </a:rPr>
              <a:t/>
            </a:r>
            <a:br>
              <a:rPr kumimoji="0" lang="en-US" sz="2800" b="0" i="0" u="none" strike="noStrike" kern="120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"/>
              </a:rPr>
            </a:b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304800" y="228600"/>
            <a:ext cx="8229240" cy="1144800"/>
          </a:xfrm>
        </p:spPr>
        <p:txBody>
          <a:bodyPr anchor="t"/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kumimoji="0" lang="en-US" sz="2600" b="0" i="0" u="none" strike="noStrike" kern="1200" cap="none" spc="-1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kumimoji="0" lang="en-US" sz="2600" b="0" i="0" u="none" strike="noStrike" kern="1200" cap="none" spc="-1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lang="en-US" sz="2600" kern="1200" spc="-1" dirty="0" smtClean="0">
              <a:solidFill>
                <a:srgbClr val="000000"/>
              </a:solidFill>
              <a:latin typeface="Times New Roman"/>
            </a:endParaRPr>
          </a:p>
          <a:p>
            <a:pPr marL="457200" lvl="8" indent="-457200" algn="l" rtl="0">
              <a:lnSpc>
                <a:spcPct val="150000"/>
              </a:lnSpc>
              <a:buClr>
                <a:srgbClr val="000000"/>
              </a:buClr>
              <a:buFont typeface="Wingdings" pitchFamily="2" charset="2"/>
              <a:buChar char="q"/>
              <a:defRPr/>
            </a:pPr>
            <a:r>
              <a:rPr kumimoji="0" lang="en-US" sz="2600" b="0" i="0" u="none" strike="noStrike" kern="120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Civic knowledge----general knowledge</a:t>
            </a:r>
            <a:endParaRPr kumimoji="0" lang="en-US" sz="2600" b="0" i="0" u="none" strike="noStrike" kern="1200" cap="none" spc="-1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Cambria"/>
            </a:endParaRPr>
          </a:p>
          <a:p>
            <a:pPr marL="457200" lvl="8" indent="-457200" algn="l" rtl="0">
              <a:lnSpc>
                <a:spcPct val="150000"/>
              </a:lnSpc>
              <a:buClr>
                <a:srgbClr val="000000"/>
              </a:buClr>
              <a:buFont typeface="Wingdings" pitchFamily="2" charset="2"/>
              <a:buChar char="q"/>
              <a:defRPr/>
            </a:pPr>
            <a:r>
              <a:rPr kumimoji="0" lang="en-US" sz="2600" b="0" i="0" u="none" strike="noStrike" kern="120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Civic skill---ability to do something</a:t>
            </a:r>
            <a:endParaRPr kumimoji="0" lang="en-US" sz="2600" b="0" i="0" u="none" strike="noStrike" kern="1200" cap="none" spc="-1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Cambria"/>
            </a:endParaRPr>
          </a:p>
          <a:p>
            <a:pPr marL="457200" lvl="8" indent="-457200" algn="l" rtl="0">
              <a:lnSpc>
                <a:spcPct val="150000"/>
              </a:lnSpc>
              <a:buClr>
                <a:srgbClr val="000000"/>
              </a:buClr>
              <a:buFont typeface="Wingdings" pitchFamily="2" charset="2"/>
              <a:buChar char="q"/>
              <a:defRPr/>
            </a:pPr>
            <a:r>
              <a:rPr kumimoji="0" lang="en-US" sz="2600" b="0" i="0" u="none" strike="noStrike" kern="120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</a:rPr>
              <a:t>Civic attitude--- good behavior</a:t>
            </a:r>
            <a:endParaRPr kumimoji="0" lang="en-US" sz="2600" b="0" i="0" u="none" strike="noStrike" kern="1200" cap="none" spc="-1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Cambria"/>
            </a:endParaRPr>
          </a:p>
          <a:p>
            <a:pPr lvl="8" algn="l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44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Ethics 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943600"/>
          </a:xfrm>
        </p:spPr>
        <p:txBody>
          <a:bodyPr>
            <a:normAutofit fontScale="40000" lnSpcReduction="20000"/>
          </a:bodyPr>
          <a:lstStyle/>
          <a:p>
            <a:pPr>
              <a:spcBef>
                <a:spcPts val="1800"/>
              </a:spcBef>
              <a:buFont typeface="Wingdings" pitchFamily="2" charset="2"/>
              <a:buChar char="Ø"/>
            </a:pPr>
            <a:r>
              <a:rPr lang="en-US" sz="5100" dirty="0">
                <a:latin typeface="Times New Roman" panose="02020603050405020304" pitchFamily="18" charset="0"/>
                <a:cs typeface="Times New Roman" pitchFamily="18" charset="0"/>
              </a:rPr>
              <a:t>A</a:t>
            </a:r>
            <a:r>
              <a:rPr lang="en-US" sz="5100" dirty="0" smtClean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sz="5100" b="1" dirty="0">
                <a:latin typeface="Times New Roman" panose="02020603050405020304" pitchFamily="18" charset="0"/>
                <a:cs typeface="Times New Roman" pitchFamily="18" charset="0"/>
              </a:rPr>
              <a:t>branch of philosophy </a:t>
            </a:r>
            <a:r>
              <a:rPr lang="en-US" sz="5100" dirty="0">
                <a:latin typeface="Times New Roman" pitchFamily="18" charset="0"/>
                <a:cs typeface="Times New Roman" pitchFamily="18" charset="0"/>
              </a:rPr>
              <a:t>that attempts to understand people‘s moral beliefs and actions</a:t>
            </a:r>
          </a:p>
          <a:p>
            <a:pPr>
              <a:spcBef>
                <a:spcPts val="1800"/>
              </a:spcBef>
              <a:buFont typeface="Wingdings" pitchFamily="2" charset="2"/>
              <a:buChar char="Ø"/>
            </a:pPr>
            <a:r>
              <a:rPr lang="en-US" sz="51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5100" dirty="0" smtClean="0">
                <a:latin typeface="Times New Roman" pitchFamily="18" charset="0"/>
                <a:cs typeface="Times New Roman" pitchFamily="18" charset="0"/>
              </a:rPr>
              <a:t>he </a:t>
            </a:r>
            <a:r>
              <a:rPr lang="en-US" sz="5100" b="1" dirty="0">
                <a:latin typeface="Times New Roman" panose="02020603050405020304" pitchFamily="18" charset="0"/>
                <a:cs typeface="Times New Roman" pitchFamily="18" charset="0"/>
              </a:rPr>
              <a:t>philosophical study of values </a:t>
            </a:r>
            <a:r>
              <a:rPr lang="en-US" sz="5100" dirty="0">
                <a:latin typeface="Times New Roman" pitchFamily="18" charset="0"/>
                <a:cs typeface="Times New Roman" pitchFamily="18" charset="0"/>
              </a:rPr>
              <a:t>and of what constitute good and bad human conduct</a:t>
            </a:r>
          </a:p>
          <a:p>
            <a:pPr>
              <a:spcBef>
                <a:spcPts val="1800"/>
              </a:spcBef>
              <a:buFont typeface="Wingdings" pitchFamily="2" charset="2"/>
              <a:buChar char="Ø"/>
            </a:pPr>
            <a:r>
              <a:rPr lang="en-US" sz="51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5100" b="1" dirty="0">
                <a:latin typeface="Times New Roman" panose="02020603050405020304" pitchFamily="18" charset="0"/>
                <a:cs typeface="Times New Roman" pitchFamily="18" charset="0"/>
              </a:rPr>
              <a:t>critical examination and evaluation </a:t>
            </a:r>
            <a:r>
              <a:rPr lang="en-US" sz="5100" dirty="0">
                <a:latin typeface="Times New Roman" pitchFamily="18" charset="0"/>
                <a:cs typeface="Times New Roman" pitchFamily="18" charset="0"/>
              </a:rPr>
              <a:t>of what is good, evil, right and wrong in human conduct (Guy, 2001).</a:t>
            </a:r>
          </a:p>
          <a:p>
            <a:pPr>
              <a:spcBef>
                <a:spcPts val="1800"/>
              </a:spcBef>
              <a:buFont typeface="Wingdings" pitchFamily="2" charset="2"/>
              <a:buChar char="Ø"/>
            </a:pPr>
            <a:r>
              <a:rPr lang="en-US" sz="5100" dirty="0">
                <a:latin typeface="Times New Roman" pitchFamily="18" charset="0"/>
                <a:cs typeface="Times New Roman" pitchFamily="18" charset="0"/>
              </a:rPr>
              <a:t>A specific </a:t>
            </a:r>
            <a:r>
              <a:rPr lang="en-US" sz="5100" b="1" dirty="0">
                <a:latin typeface="Times New Roman" panose="02020603050405020304" pitchFamily="18" charset="0"/>
                <a:cs typeface="Times New Roman" pitchFamily="18" charset="0"/>
              </a:rPr>
              <a:t>set of principles</a:t>
            </a:r>
            <a:r>
              <a:rPr lang="en-US" sz="5100" dirty="0">
                <a:latin typeface="Times New Roman" pitchFamily="18" charset="0"/>
                <a:cs typeface="Times New Roman" pitchFamily="18" charset="0"/>
              </a:rPr>
              <a:t>, values and guidelines for a particular group or organization (Guy, 2001).</a:t>
            </a:r>
          </a:p>
          <a:p>
            <a:pPr>
              <a:spcBef>
                <a:spcPts val="1800"/>
              </a:spcBef>
              <a:buFont typeface="Wingdings" pitchFamily="2" charset="2"/>
              <a:buChar char="Ø"/>
            </a:pPr>
            <a:r>
              <a:rPr lang="en-US" sz="5100" dirty="0" smtClean="0">
                <a:latin typeface="Times New Roman" pitchFamily="18" charset="0"/>
                <a:cs typeface="Times New Roman" pitchFamily="18" charset="0"/>
              </a:rPr>
              <a:t>Offers </a:t>
            </a:r>
            <a:r>
              <a:rPr lang="en-US" sz="51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tools </a:t>
            </a: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values against which their appropriateness can be evaluated</a:t>
            </a:r>
          </a:p>
          <a:p>
            <a:pPr>
              <a:spcBef>
                <a:spcPts val="1800"/>
              </a:spcBef>
              <a:buFont typeface="Wingdings" pitchFamily="2" charset="2"/>
              <a:buChar char="Ø"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5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goodness, right action and moral responsibility</a:t>
            </a:r>
          </a:p>
          <a:p>
            <a:pPr>
              <a:spcBef>
                <a:spcPts val="1800"/>
              </a:spcBef>
              <a:buFont typeface="Wingdings" pitchFamily="2" charset="2"/>
              <a:buChar char="Ø"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5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thinking about people‘s morality</a:t>
            </a:r>
          </a:p>
          <a:p>
            <a:pPr>
              <a:spcBef>
                <a:spcPts val="1800"/>
              </a:spcBef>
              <a:buFont typeface="Wingdings" pitchFamily="2" charset="2"/>
              <a:buChar char="Ø"/>
            </a:pPr>
            <a:r>
              <a:rPr lang="en-US" sz="5100" b="1" dirty="0">
                <a:latin typeface="Times New Roman" panose="02020603050405020304" pitchFamily="18" charset="0"/>
                <a:cs typeface="Times New Roman" pitchFamily="18" charset="0"/>
              </a:rPr>
              <a:t>The science of </a:t>
            </a:r>
            <a:r>
              <a:rPr lang="en-US" sz="5100" b="1" dirty="0" smtClean="0">
                <a:latin typeface="Times New Roman" panose="02020603050405020304" pitchFamily="18" charset="0"/>
                <a:cs typeface="Times New Roman" pitchFamily="18" charset="0"/>
              </a:rPr>
              <a:t>Morality</a:t>
            </a:r>
            <a:r>
              <a:rPr lang="en-US" sz="5100" b="1" dirty="0">
                <a:latin typeface="Times New Roman" panose="02020603050405020304" pitchFamily="18" charset="0"/>
                <a:cs typeface="Times New Roman" pitchFamily="18" charset="0"/>
              </a:rPr>
              <a:t/>
            </a:r>
            <a:br>
              <a:rPr lang="en-US" sz="5100" b="1" dirty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/>
              <a:t/>
            </a:r>
            <a:br>
              <a:rPr lang="en-US" sz="2600" dirty="0"/>
            </a:br>
            <a:r>
              <a:rPr lang="en-US" sz="2600" dirty="0"/>
              <a:t/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6D98810-7783-4B6A-B0F0-7EC30EA267CB}"/>
              </a:ext>
            </a:extLst>
          </p:cNvPr>
          <p:cNvSpPr/>
          <p:nvPr/>
        </p:nvSpPr>
        <p:spPr>
          <a:xfrm rot="4912053">
            <a:off x="7095073" y="-560486"/>
            <a:ext cx="914400" cy="21917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Greek word</a:t>
            </a:r>
          </a:p>
          <a:p>
            <a:pPr algn="ctr"/>
            <a:r>
              <a:rPr lang="en-US" dirty="0"/>
              <a:t>‘Ethos’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dirty="0"/>
              <a:t>character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885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/>
              <a:t>Morality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915400" cy="640080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  <a:buFont typeface="Wingdings" pitchFamily="2" charset="2"/>
              <a:buChar char="q"/>
            </a:pP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7400" dirty="0" smtClean="0">
                <a:latin typeface="Times New Roman" pitchFamily="18" charset="0"/>
                <a:cs typeface="Times New Roman" pitchFamily="18" charset="0"/>
              </a:rPr>
              <a:t>t </a:t>
            </a: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can mean different things to different people</a:t>
            </a:r>
          </a:p>
          <a:p>
            <a:pPr>
              <a:lnSpc>
                <a:spcPct val="170000"/>
              </a:lnSpc>
              <a:buFont typeface="Wingdings" pitchFamily="2" charset="2"/>
              <a:buChar char="q"/>
            </a:pP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7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effort to guide one‘s conduct by reason </a:t>
            </a:r>
          </a:p>
          <a:p>
            <a:pPr>
              <a:lnSpc>
                <a:spcPct val="170000"/>
              </a:lnSpc>
              <a:buFont typeface="Wingdings" pitchFamily="2" charset="2"/>
              <a:buChar char="q"/>
            </a:pP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7400" dirty="0" smtClean="0">
                <a:latin typeface="Times New Roman" pitchFamily="18" charset="0"/>
                <a:cs typeface="Times New Roman" pitchFamily="18" charset="0"/>
              </a:rPr>
              <a:t>he </a:t>
            </a:r>
            <a:r>
              <a:rPr lang="en-US" sz="7400" b="1" dirty="0">
                <a:latin typeface="Times New Roman" pitchFamily="18" charset="0"/>
                <a:cs typeface="Times New Roman" pitchFamily="18" charset="0"/>
              </a:rPr>
              <a:t>code of conduct </a:t>
            </a: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one follows</a:t>
            </a:r>
          </a:p>
          <a:p>
            <a:pPr>
              <a:lnSpc>
                <a:spcPct val="170000"/>
              </a:lnSpc>
              <a:buFont typeface="Wingdings" pitchFamily="2" charset="2"/>
              <a:buChar char="q"/>
            </a:pP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Those </a:t>
            </a:r>
            <a:r>
              <a:rPr lang="en-US" sz="7400" b="1" dirty="0">
                <a:latin typeface="Times New Roman" pitchFamily="18" charset="0"/>
                <a:cs typeface="Times New Roman" pitchFamily="18" charset="0"/>
              </a:rPr>
              <a:t>principles and values that actually guide</a:t>
            </a: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, for better or worse, an individual‘s personal conduct (Guy, 2001)</a:t>
            </a:r>
          </a:p>
          <a:p>
            <a:pPr>
              <a:lnSpc>
                <a:spcPct val="170000"/>
              </a:lnSpc>
              <a:buFont typeface="Wingdings" pitchFamily="2" charset="2"/>
              <a:buChar char="q"/>
            </a:pP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7400" dirty="0" smtClean="0">
                <a:latin typeface="Times New Roman" pitchFamily="18" charset="0"/>
                <a:cs typeface="Times New Roman" pitchFamily="18" charset="0"/>
              </a:rPr>
              <a:t>he </a:t>
            </a: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informal system of </a:t>
            </a:r>
            <a:r>
              <a:rPr lang="en-US" sz="7400" b="1" dirty="0">
                <a:latin typeface="Times New Roman" pitchFamily="18" charset="0"/>
                <a:cs typeface="Times New Roman" pitchFamily="18" charset="0"/>
              </a:rPr>
              <a:t>rational beings </a:t>
            </a: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by which they govern their behavior in order to lesson harm or evil and do good</a:t>
            </a:r>
          </a:p>
          <a:p>
            <a:pPr>
              <a:lnSpc>
                <a:spcPct val="170000"/>
              </a:lnSpc>
              <a:buFont typeface="Wingdings" pitchFamily="2" charset="2"/>
              <a:buChar char="q"/>
            </a:pP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Deal with what one should do</a:t>
            </a:r>
          </a:p>
          <a:p>
            <a:pPr>
              <a:lnSpc>
                <a:spcPct val="170000"/>
              </a:lnSpc>
              <a:buFont typeface="Wingdings" pitchFamily="2" charset="2"/>
              <a:buChar char="q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degree to which an action conforms to a standard or norm of human conduct</a:t>
            </a:r>
            <a:r>
              <a:rPr lang="en-US" sz="5400" dirty="0"/>
              <a:t>.</a:t>
            </a:r>
            <a:endParaRPr lang="en-US" sz="7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  <a:buFont typeface="Wingdings" pitchFamily="2" charset="2"/>
              <a:buChar char="q"/>
            </a:pP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Is the subject matter of ethics</a:t>
            </a:r>
          </a:p>
          <a:p>
            <a:pPr>
              <a:lnSpc>
                <a:spcPct val="170000"/>
              </a:lnSpc>
              <a:buFont typeface="Wingdings" pitchFamily="2" charset="2"/>
              <a:buChar char="q"/>
            </a:pPr>
            <a:r>
              <a:rPr lang="en-US" sz="7400" b="1" dirty="0">
                <a:latin typeface="Times New Roman" pitchFamily="18" charset="0"/>
                <a:cs typeface="Times New Roman" pitchFamily="18" charset="0"/>
              </a:rPr>
              <a:t>The practice of ethics</a:t>
            </a: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7400" dirty="0">
                <a:latin typeface="Times New Roman" pitchFamily="18" charset="0"/>
                <a:cs typeface="Times New Roman" pitchFamily="18" charset="0"/>
              </a:rPr>
            </a:b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7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EE60BBE-8F91-4F42-9E77-4026303B2ACB}"/>
              </a:ext>
            </a:extLst>
          </p:cNvPr>
          <p:cNvSpPr/>
          <p:nvPr/>
        </p:nvSpPr>
        <p:spPr>
          <a:xfrm rot="20171838">
            <a:off x="5445530" y="118024"/>
            <a:ext cx="3229350" cy="16109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from Latin ‘</a:t>
            </a:r>
            <a:r>
              <a:rPr lang="en-US" b="1" dirty="0" err="1"/>
              <a:t>moralitas</a:t>
            </a:r>
            <a:r>
              <a:rPr lang="en-US" b="1" dirty="0"/>
              <a:t>’</a:t>
            </a:r>
            <a:r>
              <a:rPr lang="en-US" dirty="0"/>
              <a:t> 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dirty="0"/>
              <a:t>manner, 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dirty="0"/>
              <a:t>character, 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dirty="0"/>
              <a:t>proper 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dirty="0"/>
              <a:t>behavior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/>
              <a:t>Ethics and Law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067800" cy="6553200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sz="11200" b="1" dirty="0">
                <a:latin typeface="Times New Roman" pitchFamily="18" charset="0"/>
                <a:cs typeface="Times New Roman" pitchFamily="18" charset="0"/>
              </a:rPr>
              <a:t>Ethics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9600" b="1" dirty="0">
                <a:latin typeface="Times New Roman" pitchFamily="18" charset="0"/>
                <a:cs typeface="Times New Roman" pitchFamily="18" charset="0"/>
              </a:rPr>
              <a:t>not law </a:t>
            </a: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because:-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some actions that are illegal may not be 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unethical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96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. Speeding in an emergency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some actions that are unethical may not be 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illegal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             </a:t>
            </a:r>
            <a:r>
              <a:rPr lang="en-US" sz="96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. lying under certain conditions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laws can be unethical or 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immoral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96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Slavery laws in </a:t>
            </a: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the 1800s 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eople </a:t>
            </a: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who disobey moral or ethical obligations by simply expressing our disapproval or by condemning the behavior</a:t>
            </a:r>
            <a:endParaRPr lang="en-US" sz="96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9600" b="1" dirty="0">
                <a:latin typeface="Times New Roman" pitchFamily="18" charset="0"/>
                <a:cs typeface="Times New Roman" pitchFamily="18" charset="0"/>
              </a:rPr>
              <a:t>Law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formally approved by state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promote social harmony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resolve conflicts of interest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we use the coercive power of government to enforce laws</a:t>
            </a:r>
            <a:br>
              <a:rPr lang="en-US" sz="9600" dirty="0">
                <a:latin typeface="Times New Roman" pitchFamily="18" charset="0"/>
                <a:cs typeface="Times New Roman" pitchFamily="18" charset="0"/>
              </a:rPr>
            </a:br>
            <a:r>
              <a:rPr lang="en-US" sz="5100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51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Self-evaluation/ quiz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4830763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Good citizens  are born not made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nomenclature, definition and purposes of civic education is vary across states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can be claimed that morality is related to </a:t>
            </a:r>
            <a:r>
              <a:rPr lang="en-US" dirty="0" smtClean="0"/>
              <a:t>practices, </a:t>
            </a:r>
            <a:r>
              <a:rPr lang="en-US" dirty="0"/>
              <a:t>but ethics is related to </a:t>
            </a:r>
            <a:r>
              <a:rPr lang="en-US" dirty="0" smtClean="0"/>
              <a:t>theory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civic education is </a:t>
            </a:r>
            <a:r>
              <a:rPr lang="en-US" dirty="0" smtClean="0"/>
              <a:t>an education for citizens of a country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 </a:t>
            </a:r>
            <a:r>
              <a:rPr lang="en-US" dirty="0"/>
              <a:t>Ethiopia civic education </a:t>
            </a:r>
            <a:r>
              <a:rPr lang="en-US" dirty="0" smtClean="0"/>
              <a:t>was introduce in to the school curriculum during the reign of  FDRE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45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6. ____ refers the code of conduct or rule of conduct by which people live </a:t>
            </a:r>
          </a:p>
          <a:p>
            <a:pPr marL="514350" indent="-514350">
              <a:buAutoNum type="alphaUcPeriod"/>
            </a:pPr>
            <a:r>
              <a:rPr lang="en-US" dirty="0" smtClean="0"/>
              <a:t>Ethics  B. Morality    C. Law   D. None</a:t>
            </a:r>
          </a:p>
          <a:p>
            <a:pPr marL="0" indent="0">
              <a:buNone/>
            </a:pPr>
            <a:r>
              <a:rPr lang="en-US" dirty="0" smtClean="0"/>
              <a:t>7. ____ refers to the study of moral conduct one follow</a:t>
            </a:r>
          </a:p>
          <a:p>
            <a:pPr marL="0" indent="0">
              <a:buNone/>
            </a:pPr>
            <a:r>
              <a:rPr lang="en-US" dirty="0" smtClean="0"/>
              <a:t>A. Morality   B. Ethics     C. Law       D. All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16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B7E8D4-729D-43C8-8CA9-AE4491AA1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en-US" sz="3200" dirty="0"/>
              <a:t>Chapter-Two</a:t>
            </a:r>
            <a:br>
              <a:rPr lang="en-US" sz="3200" dirty="0"/>
            </a:br>
            <a:r>
              <a:rPr lang="en-US" sz="2800" dirty="0"/>
              <a:t>Approaches to Ethics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4588D4-B7C4-4706-BEA8-27782C047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544" y="1417638"/>
            <a:ext cx="8836855" cy="5165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Normative Ethics</a:t>
            </a:r>
          </a:p>
          <a:p>
            <a:pPr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 from the word ‘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  <a:p>
            <a:pPr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</a:p>
          <a:p>
            <a:pPr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</a:p>
          <a:p>
            <a:pPr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people expected to comply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 into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</a:p>
          <a:p>
            <a:pPr marL="1257300" lvl="2" indent="-457200">
              <a:lnSpc>
                <a:spcPct val="150000"/>
              </a:lnSpc>
              <a:buAutoNum type="alphaU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Consequentialism</a:t>
            </a:r>
          </a:p>
          <a:p>
            <a:pPr marL="1257300" lvl="2" indent="-457200">
              <a:lnSpc>
                <a:spcPct val="150000"/>
              </a:lnSpc>
              <a:buAutoNum type="alphaU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Deontological                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moral theories</a:t>
            </a:r>
          </a:p>
          <a:p>
            <a:pPr marL="1257300" lvl="2" indent="-457200">
              <a:lnSpc>
                <a:spcPct val="150000"/>
              </a:lnSpc>
              <a:buAutoNum type="alphaU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Virtue Ethics</a:t>
            </a:r>
          </a:p>
        </p:txBody>
      </p:sp>
      <p:sp>
        <p:nvSpPr>
          <p:cNvPr id="4" name="Arrow: Notched Right 3">
            <a:extLst>
              <a:ext uri="{FF2B5EF4-FFF2-40B4-BE49-F238E27FC236}">
                <a16:creationId xmlns:a16="http://schemas.microsoft.com/office/drawing/2014/main" xmlns="" id="{AB7D1A8C-9B04-549F-F0FC-A3CC5E8B3AAE}"/>
              </a:ext>
            </a:extLst>
          </p:cNvPr>
          <p:cNvSpPr/>
          <p:nvPr/>
        </p:nvSpPr>
        <p:spPr>
          <a:xfrm>
            <a:off x="-228600" y="-334612"/>
            <a:ext cx="5788777" cy="2334018"/>
          </a:xfrm>
          <a:prstGeom prst="notchedRightArrow">
            <a:avLst>
              <a:gd name="adj1" fmla="val 55719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Theories address 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of what is Good, why it‘s Good, and where the Good is located?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xmlns="" id="{E06A9E21-07C2-90FD-FA38-7FB66AF11C8F}"/>
              </a:ext>
            </a:extLst>
          </p:cNvPr>
          <p:cNvSpPr/>
          <p:nvPr/>
        </p:nvSpPr>
        <p:spPr>
          <a:xfrm>
            <a:off x="3810000" y="5029200"/>
            <a:ext cx="990600" cy="12192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57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C5A830-46D5-40B3-898C-3C969C793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6485"/>
            <a:ext cx="8229600" cy="997085"/>
          </a:xfrm>
        </p:spPr>
        <p:txBody>
          <a:bodyPr>
            <a:noAutofit/>
          </a:bodyPr>
          <a:lstStyle/>
          <a:p>
            <a:pPr marL="1257300" marR="0" lvl="2" indent="-4572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Consequentialism(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Teleological Ethics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AE3930-8D1E-49C2-B895-C4C9FE63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609600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referred as ‘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end justifies the means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stress that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 action determines the morality or immorality of a given action.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outcome of an act which makes it right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Differentiated in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egoism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what will promote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 own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greatest good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after yourself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don‘t take advantage of a situation, you are foolish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universalism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ultimate end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greatest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good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greatest possible balance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over evil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universe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greatest balance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pleasure over pain (hedonists)</a:t>
            </a:r>
          </a:p>
          <a:p>
            <a:pPr marL="914400" lvl="2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Advocators </a:t>
            </a: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Jeremy Bentham </a:t>
            </a:r>
          </a:p>
          <a:p>
            <a:pPr lvl="3" algn="just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John Stuart Mill,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altruist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right act or rule is the one that most promotes the good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people.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consequences of that action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favorable to all except the actor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putting other people‘s interests ahead of our own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D41B98C-D842-BBFD-A0F7-340E15480A6E}"/>
              </a:ext>
            </a:extLst>
          </p:cNvPr>
          <p:cNvSpPr/>
          <p:nvPr/>
        </p:nvSpPr>
        <p:spPr>
          <a:xfrm rot="20811076">
            <a:off x="6075379" y="1815975"/>
            <a:ext cx="3176098" cy="1123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End=the intended and desired result</a:t>
            </a:r>
          </a:p>
          <a:p>
            <a:pPr algn="ctr"/>
            <a:r>
              <a:rPr lang="en-US" dirty="0"/>
              <a:t>Means= the process or steps taken</a:t>
            </a:r>
          </a:p>
        </p:txBody>
      </p:sp>
    </p:spTree>
    <p:extLst>
      <p:ext uri="{BB962C8B-B14F-4D97-AF65-F5344CB8AC3E}">
        <p14:creationId xmlns:p14="http://schemas.microsoft.com/office/powerpoint/2010/main" val="407189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3A9675-0F9A-4FEF-BB22-03BC1B0B0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Utilitarianism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E2F89A0-C9B2-440D-A07A-B02D9F8E1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86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be: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 Utilitarianism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Jeremy Bentham: Quantity over Quality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Stuart Mill: Quality over Quantity</a:t>
            </a:r>
          </a:p>
        </p:txBody>
      </p:sp>
    </p:spTree>
    <p:extLst>
      <p:ext uri="{BB962C8B-B14F-4D97-AF65-F5344CB8AC3E}">
        <p14:creationId xmlns:p14="http://schemas.microsoft.com/office/powerpoint/2010/main" val="1076181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90073B-8D75-41CE-A7C7-166909AA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 Utilitarianism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5437FA-7375-44DD-9B04-D6260AA65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72831"/>
            <a:ext cx="8964038" cy="61722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 sewn by the ancient Greek philosopher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Epicurus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(342–270 BCE)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that nature has ordained for us;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standard by which we judge everything good.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Rightness and wrongness are determined by pleasure or pain that something produces.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largely on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individual‘s personal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of pleasure and pain (advocated a version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egoism)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Appear in the writings of two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English philosophers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social reformers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Jeremy Bentham (1748–1832)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Stuart Mill (1806–1873).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0A2228B-F701-4540-8766-1EEC2FBD0063}"/>
              </a:ext>
            </a:extLst>
          </p:cNvPr>
          <p:cNvSpPr/>
          <p:nvPr/>
        </p:nvSpPr>
        <p:spPr>
          <a:xfrm rot="5400000">
            <a:off x="5753100" y="3467100"/>
            <a:ext cx="2057400" cy="472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/>
              <a:t>nonreligious ancestors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secular humanists,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optimistic about human nature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ability to solve our problems without recourse to God.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Engaged in a struggle for legal as well as moral reform</a:t>
            </a:r>
          </a:p>
        </p:txBody>
      </p:sp>
    </p:spTree>
    <p:extLst>
      <p:ext uri="{BB962C8B-B14F-4D97-AF65-F5344CB8AC3E}">
        <p14:creationId xmlns:p14="http://schemas.microsoft.com/office/powerpoint/2010/main" val="341894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25DA72-790D-4092-9D7B-B7CDC08A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/>
            </a:r>
            <a:br>
              <a:rPr lang="en-US" sz="4000" dirty="0"/>
            </a:br>
            <a:r>
              <a:rPr lang="en-US" sz="4000" b="1" dirty="0"/>
              <a:t>Jeremy Bentham: Quantity over Quality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8D3984-B19B-43A1-8309-7A646BF0E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943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Has </a:t>
            </a:r>
            <a:r>
              <a:rPr lang="en-US" sz="2800"/>
              <a:t>two </a:t>
            </a:r>
            <a:r>
              <a:rPr lang="en-US" sz="2800" smtClean="0"/>
              <a:t>aspects </a:t>
            </a:r>
            <a:endParaRPr lang="en-US" sz="2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consequentialist principle (teleological aspect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utility principle (hedonic aspect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Consequentialist principle (teleological aspect)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rightness or wrongness of an act is determined by the goodness or badness of the results that flow from it.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end, not the means that counts;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end justifies the means. </a:t>
            </a:r>
          </a:p>
        </p:txBody>
      </p:sp>
    </p:spTree>
    <p:extLst>
      <p:ext uri="{BB962C8B-B14F-4D97-AF65-F5344CB8AC3E}">
        <p14:creationId xmlns:p14="http://schemas.microsoft.com/office/powerpoint/2010/main" val="1741508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A7B49D-B6F4-4749-BC34-E2CBBAC77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Utility principle (hedonic aspect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B3BA5E-600F-4509-8B54-7F8C046EF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94360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only thing that is good in itself is some specific type of state like;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pleasure,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happiness,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welfare.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pleasure as the sole good and pain as the only evil.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Invented a scheme for measuring pleasure and pain called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hedonic calculus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Pleasure or pain experience is obtained by summing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aspects of a pleasurable or painful experience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Intensity,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Duration,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Certainty,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Nearness,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Fruitfulness,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Purity,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Extent</a:t>
            </a:r>
          </a:p>
        </p:txBody>
      </p:sp>
    </p:spTree>
    <p:extLst>
      <p:ext uri="{BB962C8B-B14F-4D97-AF65-F5344CB8AC3E}">
        <p14:creationId xmlns:p14="http://schemas.microsoft.com/office/powerpoint/2010/main" val="105971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1CD93-4EDF-4633-BBFE-B7B12970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9987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/>
              <a:t>John Stuart Mill: Quality over Quantity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4F98B3-17B2-42B1-81A7-5A4EEB0DB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8991600" cy="609600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Distinguish happiness from mere sensual pleasure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called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eudaimonistic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utilitarianism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happiness in terms of certain types of higher-order pleasures or satisfactions such as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intellectual,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aesthetic,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enjoyments,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pleasures.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lower, or elementary,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eating,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drinking,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sexuality,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resting,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sensuous titillation.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higher include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culture,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knowledge,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intellectuality,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creativity.</a:t>
            </a:r>
          </a:p>
          <a:p>
            <a:pPr marL="571500" indent="-457200"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better to be a human being dissatisfied than a pig satisfied</a:t>
            </a:r>
          </a:p>
        </p:txBody>
      </p:sp>
    </p:spTree>
    <p:extLst>
      <p:ext uri="{BB962C8B-B14F-4D97-AF65-F5344CB8AC3E}">
        <p14:creationId xmlns:p14="http://schemas.microsoft.com/office/powerpoint/2010/main" val="3726475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E28077-3E11-41C1-B7BB-69D7618C0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Act- And Rule-Utilitarianism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D07290-56D0-4EC7-AE92-BF95A520A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Act Utilitarianism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act is right if and only if it results in as much good as any available alternative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ideally we ought to apply the principle to all of the alternatives open to us at any given moment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Rule-utilitarianism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act is right if and only if it is required by a rule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beings are rule-following creatures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to have a set of action  guiding rules by which to live</a:t>
            </a:r>
          </a:p>
        </p:txBody>
      </p:sp>
    </p:spTree>
    <p:extLst>
      <p:ext uri="{BB962C8B-B14F-4D97-AF65-F5344CB8AC3E}">
        <p14:creationId xmlns:p14="http://schemas.microsoft.com/office/powerpoint/2010/main" val="26955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48D17F-B9A0-45ED-B239-2F5AAAA9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Deontological Ethics (Non- Consequentialist</a:t>
            </a:r>
            <a:r>
              <a:rPr lang="en-US" sz="32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0DCC565-B8E9-4EE3-9753-1F32DEB77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9831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It is referred as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‘the means justifies the 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rightness or wrongness of moral action is determined, at least partly with reference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rules or duties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conduct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person who carries out the act determine the rightness or wrongness of an act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that there are some moral obligations which are absolutely binding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German philosopher Samuel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Pufendorf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classified duties under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headings:</a:t>
            </a:r>
          </a:p>
          <a:p>
            <a:pPr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duties to God, </a:t>
            </a:r>
          </a:p>
          <a:p>
            <a:pPr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duties to oneself </a:t>
            </a:r>
          </a:p>
          <a:p>
            <a:pPr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duties to others!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07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238131-808E-43F4-8A14-9CCC6D43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b="1" dirty="0"/>
              <a:t>Concerning our duties towards God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D12ED2-D3BE-4E7E-BB5A-DDF731E2D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143000"/>
            <a:ext cx="8991600" cy="5638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It consists;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 </a:t>
            </a:r>
            <a:r>
              <a:rPr lang="en-US" b="1" dirty="0"/>
              <a:t>theoretical</a:t>
            </a:r>
            <a:r>
              <a:rPr lang="en-US" dirty="0"/>
              <a:t> duty to know the existence and nature of God,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 </a:t>
            </a:r>
            <a:r>
              <a:rPr lang="en-US" b="1" dirty="0"/>
              <a:t>practical</a:t>
            </a:r>
            <a:r>
              <a:rPr lang="en-US" dirty="0"/>
              <a:t> duty to both inwardly and outwardly worship God.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Concerning our duties towards oneself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Involves</a:t>
            </a:r>
            <a:r>
              <a:rPr lang="en-US" b="1" dirty="0"/>
              <a:t>;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/>
              <a:t>duties of the </a:t>
            </a:r>
            <a:r>
              <a:rPr lang="en-US" b="1" dirty="0"/>
              <a:t>soul</a:t>
            </a:r>
            <a:r>
              <a:rPr lang="en-US" dirty="0"/>
              <a:t>, which involve developing one's skills and talents,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/>
              <a:t>duties of the </a:t>
            </a:r>
            <a:r>
              <a:rPr lang="en-US" b="1" dirty="0"/>
              <a:t>body</a:t>
            </a:r>
            <a:r>
              <a:rPr lang="en-US" dirty="0"/>
              <a:t>, which involve not harming our bodies, as we might through gluttony or drunkenness, and not killing oneself.</a:t>
            </a:r>
          </a:p>
        </p:txBody>
      </p:sp>
    </p:spTree>
    <p:extLst>
      <p:ext uri="{BB962C8B-B14F-4D97-AF65-F5344CB8AC3E}">
        <p14:creationId xmlns:p14="http://schemas.microsoft.com/office/powerpoint/2010/main" val="307296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91FD71-2546-4EFE-844E-54AA38423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b="1" dirty="0"/>
              <a:t>Concerning our duties towards others</a:t>
            </a:r>
            <a:r>
              <a:rPr lang="en-US" sz="3600" dirty="0"/>
              <a:t>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DD0831-92C0-4161-AE90-0E064546A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19200"/>
            <a:ext cx="8763000" cy="5486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Consists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absolute</a:t>
            </a:r>
            <a:r>
              <a:rPr lang="en-US" dirty="0"/>
              <a:t> duties, which are universally binding on people,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/>
              <a:t>avoid wronging others;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/>
              <a:t> treat people as equals,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/>
              <a:t>promote the good of others.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conditional</a:t>
            </a:r>
            <a:r>
              <a:rPr lang="en-US" dirty="0"/>
              <a:t> duties, which are the result of contracts between people.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/>
              <a:t>involve various types of agreements,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/>
              <a:t> the principal one of which is the duty is to keep one's promises. </a:t>
            </a:r>
          </a:p>
        </p:txBody>
      </p:sp>
    </p:spTree>
    <p:extLst>
      <p:ext uri="{BB962C8B-B14F-4D97-AF65-F5344CB8AC3E}">
        <p14:creationId xmlns:p14="http://schemas.microsoft.com/office/powerpoint/2010/main" val="869075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279C2B-C1DE-4793-A988-806D80B73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Classification of Deontological Ethics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8044DA-D280-426D-AE9E-49B47252D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443" y="1166018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Divine Command Theory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Rights Theory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Kant’s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Imperative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Ross’s Prima Facie Duties or Moral Guidelines</a:t>
            </a:r>
          </a:p>
        </p:txBody>
      </p:sp>
    </p:spTree>
    <p:extLst>
      <p:ext uri="{BB962C8B-B14F-4D97-AF65-F5344CB8AC3E}">
        <p14:creationId xmlns:p14="http://schemas.microsoft.com/office/powerpoint/2010/main" val="109644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E7E44B-9460-49AE-B0BB-A22D01D7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34" y="160337"/>
            <a:ext cx="8229600" cy="1143000"/>
          </a:xfrm>
        </p:spPr>
        <p:txBody>
          <a:bodyPr>
            <a:norm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Divine Command Theory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3E91FF-E25E-46C8-823A-D408B25B1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7912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principles are simply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God.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Moral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obligations are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God's commands.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God, there would be no universally valid morality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separate theses Divine Command Theory</a:t>
            </a:r>
          </a:p>
          <a:p>
            <a:pPr marL="514350" indent="-514350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Morality (that is, rightness and wrongness)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originates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God.</a:t>
            </a:r>
          </a:p>
          <a:p>
            <a:pPr marL="514350" indent="-514350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 rightness simply means ‘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willed by God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,’ and moral wrongness means ‘.’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being against the will of God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orality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essentially is based on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divine will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on independently existing reasons for action,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further reasons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action are necessary.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56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EE0FB1-967C-485B-AE38-D07CD994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39" y="16033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Rights Theory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9D64D74-AC26-46CD-855A-EE7EA0BF8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534400" cy="5562600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rights in society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is a justified claim against another person's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Emphasizes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importance of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rights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duties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focusing on the inherent rightness or wrongness of actions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Advocator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British philosopher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Locke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argued that the laws of nature mandate that we should not harm anyone's life, health, liberty or possessions.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Thomas Jefferson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recognizes three foundational rights: life, liberty, and the pursuit of happiness.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36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30CEFC-4DF0-4217-B481-B06081DCB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Rights Theory….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72EEE58-0ACE-401A-9EA3-C42C4CEBE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534400" cy="52879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four features traditionally associated with moral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rights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insofar as they are not invented or created by governments.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Second, they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insofar as they do not change from country to country.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Third, they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sense that rights are the same for all people, irrespective of gender, race, or handicap.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Fourth, they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inalienable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means that I cannot hand over my rights to another person, such as by selling myself into slavery.</a:t>
            </a:r>
          </a:p>
        </p:txBody>
      </p:sp>
    </p:spTree>
    <p:extLst>
      <p:ext uri="{BB962C8B-B14F-4D97-AF65-F5344CB8AC3E}">
        <p14:creationId xmlns:p14="http://schemas.microsoft.com/office/powerpoint/2010/main" val="159366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30635F-8CB2-47EF-BA31-C563CFCB7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Kant’s Categorical Imperative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DB8A7D-5DC0-431E-BCCE-C03CAD9BE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95400"/>
            <a:ext cx="8763000" cy="54864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consequences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determine the rightness or wrongness of an act, but, rather,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intention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person who carries out the act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emphasis is on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correctness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action, regardless of the possible benefits or harm it might produce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Emphasizes a single principle of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for the sake of duty only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Agreed that we have moral duties to oneself and others, such as developing one‘s talents, and keeping our promises to others.</a:t>
            </a:r>
          </a:p>
        </p:txBody>
      </p:sp>
    </p:spTree>
    <p:extLst>
      <p:ext uri="{BB962C8B-B14F-4D97-AF65-F5344CB8AC3E}">
        <p14:creationId xmlns:p14="http://schemas.microsoft.com/office/powerpoint/2010/main" val="74676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314982-50AF-4533-8A7F-F6E39A9A3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Categorical </a:t>
            </a:r>
            <a:r>
              <a:rPr lang="en-US" b="1" dirty="0" smtClean="0"/>
              <a:t>Imperative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E343F1-CCD5-4AC5-A060-1F7411FC1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839200" cy="5638800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Simply mandates an action,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irrespective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one‘s personal desires, such as ‘You ought to do X.’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Nothing was good in itself except a ‘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will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.’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uniquely human capacity to act according to the concepts behind laws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for the sake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 unconditional command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was just one command or imperative that was categorical, that is, one that presented an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as necessary of itself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without regard to any other end.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should act in such a way that the maxim or general rule governing our action could be a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law</a:t>
            </a:r>
          </a:p>
        </p:txBody>
      </p:sp>
    </p:spTree>
    <p:extLst>
      <p:ext uri="{BB962C8B-B14F-4D97-AF65-F5344CB8AC3E}">
        <p14:creationId xmlns:p14="http://schemas.microsoft.com/office/powerpoint/2010/main" val="3478950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A95A17-82A3-4E9B-A4CE-B56593768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Hypothetical </a:t>
            </a:r>
            <a:r>
              <a:rPr lang="en-US" b="1" dirty="0" smtClean="0"/>
              <a:t>Imperatives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2B33C6-679E-4DA7-8AE9-9FB65B49B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95400"/>
            <a:ext cx="8763000" cy="5257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universally binding  but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 on specific goals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Means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achieve our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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consequential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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end justify the means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Considered the "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superior to the "good“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"good" was morally irrelevant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in order to receive some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 Instrumental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56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199C8B-C30C-4215-A116-16CFFAB7D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/>
              <a:t>Kant's theory beliefs on;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C79800-7D62-41DA-BEC4-17ADC7748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60198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unless a person freely and willingly makes a choice, their action has no meaning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us to be self-creating when it comes to our values and morality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Autonomy is one‘s own beliefs, independence, and government: acting without regard for anyone else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heteronomy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acting under the influence of someone else and allows for an individual to consistently place blame outside of self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individual is rational and capable of making free choices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moral proposition that is true must be one that is not tied to any particular conditions</a:t>
            </a:r>
          </a:p>
        </p:txBody>
      </p:sp>
    </p:spTree>
    <p:extLst>
      <p:ext uri="{BB962C8B-B14F-4D97-AF65-F5344CB8AC3E}">
        <p14:creationId xmlns:p14="http://schemas.microsoft.com/office/powerpoint/2010/main" val="4145582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Self-Evaluation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5400" y="1219200"/>
            <a:ext cx="9220200" cy="5791200"/>
          </a:xfrm>
        </p:spPr>
        <p:txBody>
          <a:bodyPr>
            <a:normAutofit fontScale="92500" lnSpcReduction="10000"/>
          </a:bodyPr>
          <a:lstStyle/>
          <a:p>
            <a:pPr marL="514350" indent="-514350" algn="just">
              <a:buAutoNum type="arabicPeriod"/>
            </a:pPr>
            <a:r>
              <a:rPr lang="en-US" dirty="0" smtClean="0"/>
              <a:t>What makes any act moral or immoral, right or wrong is;</a:t>
            </a:r>
          </a:p>
          <a:p>
            <a:pPr marL="914400" lvl="1" indent="-514350" algn="just">
              <a:buAutoNum type="alphaUcPeriod"/>
            </a:pPr>
            <a:r>
              <a:rPr lang="en-US" dirty="0" smtClean="0"/>
              <a:t>Morality      B. Ethics      C. Philosophy D. All</a:t>
            </a:r>
          </a:p>
          <a:p>
            <a:pPr marL="0" indent="0" algn="just">
              <a:buNone/>
            </a:pPr>
            <a:r>
              <a:rPr lang="en-US" dirty="0"/>
              <a:t>2</a:t>
            </a:r>
            <a:r>
              <a:rPr lang="en-US" dirty="0" smtClean="0"/>
              <a:t>. The act of telling the caller you were home could be described as;</a:t>
            </a:r>
          </a:p>
          <a:p>
            <a:pPr marL="914400" lvl="1" indent="-514350" algn="just">
              <a:buAutoNum type="alphaUcPeriod"/>
            </a:pPr>
            <a:r>
              <a:rPr lang="en-US" dirty="0" smtClean="0"/>
              <a:t>Province of ethics   B. province of morality     C. both</a:t>
            </a:r>
          </a:p>
          <a:p>
            <a:pPr marL="0" indent="0" algn="just">
              <a:buNone/>
            </a:pPr>
            <a:r>
              <a:rPr lang="en-US" dirty="0"/>
              <a:t>3</a:t>
            </a:r>
            <a:r>
              <a:rPr lang="en-US" dirty="0" smtClean="0"/>
              <a:t>. What kind of outcomes should I produce? Is the question of;</a:t>
            </a:r>
          </a:p>
          <a:p>
            <a:pPr marL="0" indent="0" algn="just">
              <a:buNone/>
            </a:pPr>
            <a:r>
              <a:rPr lang="en-US" dirty="0" smtClean="0"/>
              <a:t>     A. Consequentialism    B. Deontological    C. Virtue</a:t>
            </a:r>
          </a:p>
          <a:p>
            <a:pPr marL="0" indent="0" algn="just">
              <a:buNone/>
            </a:pPr>
            <a:r>
              <a:rPr lang="en-US" dirty="0"/>
              <a:t>4</a:t>
            </a:r>
            <a:r>
              <a:rPr lang="en-US" dirty="0" smtClean="0"/>
              <a:t>.What are my obligations in this </a:t>
            </a:r>
            <a:r>
              <a:rPr lang="en-US" dirty="0"/>
              <a:t>situation? Is the question of;</a:t>
            </a:r>
            <a:endParaRPr lang="en-US" dirty="0" smtClean="0"/>
          </a:p>
          <a:p>
            <a:pPr marL="0" indent="0" algn="just">
              <a:buNone/>
            </a:pPr>
            <a:r>
              <a:rPr lang="pt-BR" dirty="0" smtClean="0"/>
              <a:t>        A</a:t>
            </a:r>
            <a:r>
              <a:rPr lang="pt-BR" dirty="0"/>
              <a:t>. Consequentialism    B. Deontological    C. Virtue</a:t>
            </a:r>
          </a:p>
          <a:p>
            <a:pPr marL="0" indent="0" algn="just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934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5029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5</a:t>
            </a:r>
            <a:r>
              <a:rPr lang="en-US" dirty="0" smtClean="0"/>
              <a:t>. In w/c theory ends of an action determines the morality or immorality of a given action?</a:t>
            </a:r>
          </a:p>
          <a:p>
            <a:pPr marL="0" indent="0">
              <a:buNone/>
            </a:pPr>
            <a:r>
              <a:rPr lang="en-US" dirty="0" smtClean="0"/>
              <a:t>    A. Deontological   B. Teleological  C. Virtue      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D. None</a:t>
            </a:r>
          </a:p>
          <a:p>
            <a:pPr marL="0" indent="0">
              <a:buNone/>
            </a:pPr>
            <a:r>
              <a:rPr lang="en-US" dirty="0"/>
              <a:t>6</a:t>
            </a:r>
            <a:r>
              <a:rPr lang="en-US" dirty="0" smtClean="0"/>
              <a:t>. w/c theory realized as if there is no God killing other person could be right?</a:t>
            </a:r>
          </a:p>
          <a:p>
            <a:pPr marL="914400" lvl="1" indent="-514350">
              <a:buAutoNum type="alphaUcPeriod"/>
            </a:pPr>
            <a:r>
              <a:rPr lang="en-US" dirty="0" smtClean="0"/>
              <a:t>Right theory              B. Categorical Imperative</a:t>
            </a:r>
          </a:p>
          <a:p>
            <a:pPr marL="400050" lvl="1" indent="0">
              <a:buNone/>
            </a:pPr>
            <a:r>
              <a:rPr lang="en-US" dirty="0" smtClean="0"/>
              <a:t> C. Divine command        D. None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825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8680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7</a:t>
            </a:r>
            <a:r>
              <a:rPr lang="en-US" dirty="0" smtClean="0"/>
              <a:t>. Among the following proverb w/c clearly explain the concept of John Stuart Mill theory of ethics?</a:t>
            </a:r>
          </a:p>
          <a:p>
            <a:pPr marL="514350" indent="-514350">
              <a:buAutoNum type="alphaUcPeriod"/>
            </a:pPr>
            <a:r>
              <a:rPr lang="en-US" dirty="0" smtClean="0"/>
              <a:t>It is better to be alone than being with bad friends</a:t>
            </a:r>
          </a:p>
          <a:p>
            <a:pPr marL="514350" indent="-514350">
              <a:buAutoNum type="alphaUcPeriod"/>
            </a:pPr>
            <a:r>
              <a:rPr lang="en-US" dirty="0" smtClean="0"/>
              <a:t>It is better to be act like lion one day than being act like sheep all the life</a:t>
            </a:r>
          </a:p>
          <a:p>
            <a:pPr marL="514350" indent="-514350">
              <a:buAutoNum type="alphaUcPeriod"/>
            </a:pPr>
            <a:r>
              <a:rPr lang="en-US" dirty="0" smtClean="0"/>
              <a:t>Two is better than one</a:t>
            </a:r>
          </a:p>
          <a:p>
            <a:pPr marL="514350" indent="-514350">
              <a:buAutoNum type="alphaUcPeriod"/>
            </a:pPr>
            <a:r>
              <a:rPr lang="en-US" dirty="0" smtClean="0"/>
              <a:t>A and B               E. A and C   F. None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377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63000" cy="52578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8</a:t>
            </a:r>
            <a:r>
              <a:rPr lang="en-US" dirty="0" smtClean="0"/>
              <a:t>. Suppose you are a driver and drive down the track and suddenly face brakes do not work. In front of you 5 workers working. Your car steering wheel works. One worker working on one side w/c you can turn your car to that side. If you turn your car in opposite side of one worker , your car immediately fail and you lose your life. Based on this assumption;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05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Self-Evaluation…cont’d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10600" cy="55626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US" dirty="0" smtClean="0"/>
              <a:t>What the right act you do according to utilitarianism theory?</a:t>
            </a:r>
          </a:p>
          <a:p>
            <a:pPr marL="914400" lvl="1" indent="-514350">
              <a:buAutoNum type="alphaUcPeriod"/>
            </a:pPr>
            <a:r>
              <a:rPr lang="en-US" dirty="0" smtClean="0"/>
              <a:t>Go forward       </a:t>
            </a:r>
          </a:p>
          <a:p>
            <a:pPr marL="914400" lvl="1" indent="-514350">
              <a:buAutoNum type="alphaUcPeriod"/>
            </a:pPr>
            <a:r>
              <a:rPr lang="en-US" dirty="0"/>
              <a:t>T</a:t>
            </a:r>
            <a:r>
              <a:rPr lang="en-US" dirty="0" smtClean="0"/>
              <a:t>urn to the side of one worker     </a:t>
            </a:r>
          </a:p>
          <a:p>
            <a:pPr marL="914400" lvl="1" indent="-514350">
              <a:buAutoNum type="alphaUcPeriod"/>
            </a:pPr>
            <a:r>
              <a:rPr lang="en-US" dirty="0" smtClean="0"/>
              <a:t>Turn to the opposite of one worker side  </a:t>
            </a:r>
          </a:p>
          <a:p>
            <a:pPr marL="914400" lvl="1" indent="-514350">
              <a:buAutoNum type="alphaUcPeriod"/>
            </a:pPr>
            <a:r>
              <a:rPr lang="en-US" dirty="0" smtClean="0"/>
              <a:t>A and B    </a:t>
            </a:r>
          </a:p>
          <a:p>
            <a:pPr marL="914400" lvl="1" indent="-514350">
              <a:buAutoNum type="alphaUcPeriod"/>
            </a:pPr>
            <a:r>
              <a:rPr lang="en-US" dirty="0" smtClean="0"/>
              <a:t>B and C</a:t>
            </a:r>
          </a:p>
          <a:p>
            <a:pPr marL="0" indent="0">
              <a:buNone/>
            </a:pPr>
            <a:r>
              <a:rPr lang="en-US" dirty="0" smtClean="0"/>
              <a:t>2. What </a:t>
            </a:r>
            <a:r>
              <a:rPr lang="en-US" dirty="0"/>
              <a:t>the right act you do according to Ethical Egoism theory?</a:t>
            </a:r>
          </a:p>
          <a:p>
            <a:pPr marL="400050" lvl="1" indent="0">
              <a:buNone/>
            </a:pPr>
            <a:r>
              <a:rPr lang="en-US" dirty="0"/>
              <a:t>A. Go forward       </a:t>
            </a:r>
          </a:p>
          <a:p>
            <a:pPr marL="400050" lvl="1" indent="0">
              <a:buNone/>
            </a:pPr>
            <a:r>
              <a:rPr lang="en-US" dirty="0"/>
              <a:t>B. Turn to the side of one worker     </a:t>
            </a:r>
          </a:p>
          <a:p>
            <a:pPr marL="400050" lvl="1" indent="0">
              <a:buNone/>
            </a:pPr>
            <a:r>
              <a:rPr lang="en-US" dirty="0"/>
              <a:t>C. Turn to the opposite of one worker side  </a:t>
            </a:r>
          </a:p>
          <a:p>
            <a:pPr marL="400050" lvl="1" indent="0">
              <a:buNone/>
            </a:pPr>
            <a:r>
              <a:rPr lang="en-US" dirty="0"/>
              <a:t>D. A and B    </a:t>
            </a:r>
          </a:p>
          <a:p>
            <a:pPr marL="400050" lvl="1" indent="0">
              <a:buNone/>
            </a:pPr>
            <a:r>
              <a:rPr lang="en-US" dirty="0"/>
              <a:t>E. B and C</a:t>
            </a:r>
          </a:p>
          <a:p>
            <a:pPr marL="914400" lvl="1" indent="-514350">
              <a:buAutoNum type="alphaU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53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Self-Evaluation…cont’d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2</a:t>
            </a:r>
            <a:r>
              <a:rPr lang="en-US" dirty="0"/>
              <a:t>. What the right act you do according to </a:t>
            </a:r>
            <a:r>
              <a:rPr lang="en-US" dirty="0" smtClean="0"/>
              <a:t>Altruism theory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 smtClean="0"/>
              <a:t>A. Go </a:t>
            </a:r>
            <a:r>
              <a:rPr lang="en-US" dirty="0"/>
              <a:t>forward       </a:t>
            </a:r>
          </a:p>
          <a:p>
            <a:pPr marL="0" indent="0">
              <a:buNone/>
            </a:pPr>
            <a:r>
              <a:rPr lang="en-US" dirty="0"/>
              <a:t>B. </a:t>
            </a:r>
            <a:r>
              <a:rPr lang="en-US" dirty="0" smtClean="0"/>
              <a:t>Turn </a:t>
            </a:r>
            <a:r>
              <a:rPr lang="en-US" dirty="0"/>
              <a:t>to the side of one worker     </a:t>
            </a:r>
          </a:p>
          <a:p>
            <a:pPr marL="0" indent="0">
              <a:buNone/>
            </a:pPr>
            <a:r>
              <a:rPr lang="en-US" dirty="0"/>
              <a:t>C. Turn to the opposite of one worker side  </a:t>
            </a:r>
          </a:p>
          <a:p>
            <a:pPr marL="0" indent="0">
              <a:buNone/>
            </a:pPr>
            <a:r>
              <a:rPr lang="en-US" dirty="0" smtClean="0"/>
              <a:t>D. A </a:t>
            </a:r>
            <a:r>
              <a:rPr lang="en-US" dirty="0"/>
              <a:t>and B    </a:t>
            </a:r>
          </a:p>
          <a:p>
            <a:pPr marL="0" indent="0">
              <a:buNone/>
            </a:pPr>
            <a:r>
              <a:rPr lang="en-US" dirty="0" smtClean="0"/>
              <a:t>E. B </a:t>
            </a:r>
            <a:r>
              <a:rPr lang="en-US" dirty="0"/>
              <a:t>and C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80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D4A14F-3150-4AF2-80BA-CC90BA36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Ross’s Prima Facie Duties or Moral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B67F3B-2042-4DB5-A64A-BF81F3ED7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382000" cy="54403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situations generate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priority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of duties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obligation can be overridden by a more important obligation in specific circumstances.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moral situations by considering the specific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circumstances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Duties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dictate what we should do when other moral factors are not considered.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Duties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not absolute but are considered binding unless overridden by a more compelling duty in a given situation</a:t>
            </a:r>
          </a:p>
        </p:txBody>
      </p:sp>
    </p:spTree>
    <p:extLst>
      <p:ext uri="{BB962C8B-B14F-4D97-AF65-F5344CB8AC3E}">
        <p14:creationId xmlns:p14="http://schemas.microsoft.com/office/powerpoint/2010/main" val="573902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Ross’s Prima Facie Duties or Moral </a:t>
            </a:r>
            <a:r>
              <a:rPr lang="en-US" dirty="0" smtClean="0"/>
              <a:t>Guidelines….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Prima  facie  duty  is  the  duty  at  “first glance” or “first face</a:t>
            </a:r>
            <a:r>
              <a:rPr lang="en-US" dirty="0" smtClean="0"/>
              <a:t>.”</a:t>
            </a:r>
          </a:p>
          <a:p>
            <a:pPr lvl="2" indent="-342900" algn="just">
              <a:buFont typeface="Wingdings" pitchFamily="2" charset="2"/>
              <a:buChar char="v"/>
            </a:pPr>
            <a:r>
              <a:rPr lang="en-US" dirty="0"/>
              <a:t>stand with </a:t>
            </a:r>
            <a:r>
              <a:rPr lang="en-US" b="1" dirty="0"/>
              <a:t>no need of justification</a:t>
            </a:r>
            <a:r>
              <a:rPr lang="en-US" dirty="0"/>
              <a:t>, and we can  see  their  truth  directly,  without reasoning from  further  premises</a:t>
            </a:r>
          </a:p>
        </p:txBody>
      </p:sp>
    </p:spTree>
    <p:extLst>
      <p:ext uri="{BB962C8B-B14F-4D97-AF65-F5344CB8AC3E}">
        <p14:creationId xmlns:p14="http://schemas.microsoft.com/office/powerpoint/2010/main" val="354211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25FCE2-C06E-866D-F4ED-17004EC2C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Ross’s categories of prima facie </a:t>
            </a:r>
            <a:br>
              <a:rPr lang="en-US" dirty="0"/>
            </a:br>
            <a:r>
              <a:rPr lang="en-US" dirty="0"/>
              <a:t>duties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961BFA6-0AAD-AEE7-E277-8772FDAC2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71600"/>
            <a:ext cx="8991600" cy="5334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Duties of Fidelity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 duty to keep promise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Duties of Reparation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 duty to compensate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                               others when we harm them.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Duties of Gratitude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 duty to thank those who help us.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Duties of Justice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 distributes benefits and burdens fairly                     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Duties of Beneficence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duty to improve the conditions of others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Duties of Self-improvement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duty to promote one‘s own good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Duties of Non-maleficence </a:t>
            </a:r>
            <a:r>
              <a:rPr lang="en-US" dirty="0">
                <a:sym typeface="Wingdings" panose="05000000000000000000" pitchFamily="2" charset="2"/>
              </a:rPr>
              <a:t>duty of non-injury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50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9E3E10-1894-4356-8D3C-3AE52E7F6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Virtue Ethics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681FE02-89DA-42BB-9BFA-2C8CFEF78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ocused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 character or moral development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Virtue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Wingdings" panose="05000000000000000000" pitchFamily="2" charset="2"/>
              </a:rPr>
              <a:t>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 desirable disposition of character</a:t>
            </a:r>
          </a:p>
          <a:p>
            <a:pPr marL="1828800" lvl="4" indent="0">
              <a:lnSpc>
                <a:spcPct val="150000"/>
              </a:lnSpc>
              <a:buNone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Wingdings" panose="05000000000000000000" pitchFamily="2" charset="2"/>
              </a:rPr>
              <a:t>    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Wingdings" panose="05000000000000000000" pitchFamily="2" charset="2"/>
              </a:rPr>
              <a:t>skill, excellence or strong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gent-centered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said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goodness is not in act but in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Moral character is;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practical wisdom or the ability to see the right thing to do in the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circumstances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phronesis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activities of the soul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living well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Eudaemonia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39630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249279-0971-4245-8716-72E7B56E0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2. Meta-ethics( Non-normative Ethics)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5FE19F-34B9-44D7-9414-62E271110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Examines the meaning of moral terms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Examines the way in which moral claims are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justified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Beyond ethics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067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1325562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Chapter Three</a:t>
            </a:r>
            <a:br>
              <a:rPr lang="en-US" sz="3600" b="1" dirty="0"/>
            </a:br>
            <a:r>
              <a:rPr lang="en-US" sz="3600" b="1" dirty="0"/>
              <a:t> Ethical Decision Making and Moral Judgments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86800" cy="5029200"/>
          </a:xfrm>
        </p:spPr>
        <p:txBody>
          <a:bodyPr>
            <a:normAutofit/>
          </a:bodyPr>
          <a:lstStyle/>
          <a:p>
            <a:pPr lvl="2" algn="just">
              <a:buNone/>
            </a:pPr>
            <a:r>
              <a:rPr lang="en-US" sz="2000" b="1" dirty="0" smtClean="0">
                <a:sym typeface="Wingdings"/>
              </a:rPr>
              <a:t></a:t>
            </a:r>
            <a:r>
              <a:rPr lang="en-US" sz="2000" b="1" dirty="0" smtClean="0"/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Decision making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refers to making choices among alternative courses of action</a:t>
            </a:r>
          </a:p>
          <a:p>
            <a:pPr lvl="2" algn="just">
              <a:buNone/>
            </a:pPr>
            <a:r>
              <a:rPr lang="en-US" sz="3100" b="1" u="sng" dirty="0" smtClean="0"/>
              <a:t>Ethical </a:t>
            </a:r>
            <a:r>
              <a:rPr lang="en-US" sz="3100" b="1" u="sng" dirty="0"/>
              <a:t>Decision Making </a:t>
            </a:r>
            <a:endParaRPr lang="en-US" sz="3100" u="sng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Individuals could give their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own justification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testify whether things are ethical.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person making an ethical decision needs a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procedure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to follow to insure that s/he makes her/his decision with rationality and respect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There are different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perspectives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deal with how we measure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rightness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of actions</a:t>
            </a:r>
          </a:p>
        </p:txBody>
      </p:sp>
    </p:spTree>
    <p:extLst>
      <p:ext uri="{BB962C8B-B14F-4D97-AF65-F5344CB8AC3E}">
        <p14:creationId xmlns:p14="http://schemas.microsoft.com/office/powerpoint/2010/main" val="1571048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B6C3BE-6EE4-2729-9CCE-EC1672AFE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2970"/>
            <a:ext cx="8229600" cy="1143000"/>
          </a:xfrm>
        </p:spPr>
        <p:txBody>
          <a:bodyPr/>
          <a:lstStyle/>
          <a:p>
            <a:r>
              <a:rPr lang="en-US" b="1" dirty="0"/>
              <a:t>Consideration of good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A0AD540-3601-6789-7C7C-279563DA6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58674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Intrinsic good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value things not for what they </a:t>
            </a:r>
            <a:r>
              <a:rPr lang="en-US" b="1" dirty="0"/>
              <a:t>lead</a:t>
            </a:r>
            <a:r>
              <a:rPr lang="en-US" dirty="0"/>
              <a:t> to but for </a:t>
            </a:r>
            <a:r>
              <a:rPr lang="en-US" b="1" dirty="0"/>
              <a:t>what</a:t>
            </a:r>
            <a:r>
              <a:rPr lang="en-US" dirty="0"/>
              <a:t> they are  in themselves</a:t>
            </a:r>
          </a:p>
          <a:p>
            <a:pPr marL="514350" indent="-457200">
              <a:buFont typeface="Wingdings" pitchFamily="2" charset="2"/>
              <a:buChar char="v"/>
            </a:pPr>
            <a:r>
              <a:rPr lang="en-US" dirty="0"/>
              <a:t> Instrumental good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 the goodness of things lies in their being instruments </a:t>
            </a:r>
            <a:r>
              <a:rPr lang="en-US" b="1" dirty="0"/>
              <a:t>towards</a:t>
            </a:r>
            <a:r>
              <a:rPr lang="en-US" dirty="0"/>
              <a:t> the attainment of the other things</a:t>
            </a:r>
          </a:p>
          <a:p>
            <a:pPr marL="457200" lvl="1" indent="0">
              <a:buNone/>
            </a:pPr>
            <a:r>
              <a:rPr lang="en-US" dirty="0"/>
              <a:t>Notes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Ethical values are usually not as easy to understand as other kinds of values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Ethical problems are often not as clear as other kinds of problems 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Resolving ethical problems as definitively is not always possible. </a:t>
            </a:r>
          </a:p>
          <a:p>
            <a:pPr lvl="1">
              <a:buFont typeface="Wingdings" pitchFamily="2" charset="2"/>
              <a:buChar char="q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178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 How Can We Make Ethical Decisions And Actions?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Through Implementing;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Ethical Principles </a:t>
            </a:r>
          </a:p>
          <a:p>
            <a:pPr lvl="1">
              <a:buFont typeface="Wingdings" pitchFamily="2" charset="2"/>
              <a:buChar char="Ø"/>
            </a:pPr>
            <a:r>
              <a:rPr lang="en-US" b="1" dirty="0" err="1"/>
              <a:t>Eg</a:t>
            </a:r>
            <a:r>
              <a:rPr lang="en-US" dirty="0"/>
              <a:t>. I should always help someone in difficulty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Values of Moral Judgments 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Think about a significant decision 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Moral intuitions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feelings of empathy towards others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moral sentiments (our conscience)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Critical Reasoning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 reasoning about our feelings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Religious Faith </a:t>
            </a:r>
          </a:p>
          <a:p>
            <a:pPr>
              <a:buFont typeface="Wingdings" pitchFamily="2" charset="2"/>
              <a:buChar char="v"/>
            </a:pPr>
            <a:r>
              <a:rPr lang="en-US" b="1" dirty="0"/>
              <a:t>Testing</a:t>
            </a:r>
            <a:r>
              <a:rPr lang="en-US" dirty="0"/>
              <a:t> moral arguments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70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critical reasoning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Reasoning by analogy</a:t>
            </a:r>
          </a:p>
          <a:p>
            <a:pPr marL="914400" lvl="1" indent="-514350">
              <a:buFont typeface="Wingdings" pitchFamily="2" charset="2"/>
              <a:buChar char="Ø"/>
            </a:pPr>
            <a:r>
              <a:rPr lang="en-US" dirty="0"/>
              <a:t> by comparing it to something else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Deductive reasoning </a:t>
            </a:r>
          </a:p>
          <a:p>
            <a:pPr marL="914400" lvl="1" indent="-514350">
              <a:buFont typeface="Wingdings" pitchFamily="2" charset="2"/>
              <a:buChar char="v"/>
            </a:pPr>
            <a:r>
              <a:rPr lang="en-US" dirty="0"/>
              <a:t>applies a </a:t>
            </a:r>
            <a:r>
              <a:rPr lang="en-US" b="1" dirty="0"/>
              <a:t>principle</a:t>
            </a:r>
            <a:r>
              <a:rPr lang="en-US" dirty="0"/>
              <a:t> to a situation</a:t>
            </a:r>
          </a:p>
          <a:p>
            <a:pPr marL="400050" lvl="1" indent="0">
              <a:buNone/>
            </a:pPr>
            <a:r>
              <a:rPr lang="en-US" dirty="0" err="1"/>
              <a:t>Eg</a:t>
            </a:r>
            <a:r>
              <a:rPr lang="en-US" dirty="0"/>
              <a:t>, if every person has human rights, and you are a person, then you have human rights like every person.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Inductive reasoning</a:t>
            </a:r>
          </a:p>
          <a:p>
            <a:pPr marL="914400" lvl="1" indent="-514350">
              <a:buFont typeface="Wingdings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providing evidence </a:t>
            </a:r>
            <a:r>
              <a:rPr lang="en-US" dirty="0"/>
              <a:t>to support a hypothesis</a:t>
            </a:r>
          </a:p>
        </p:txBody>
      </p:sp>
    </p:spTree>
    <p:extLst>
      <p:ext uri="{BB962C8B-B14F-4D97-AF65-F5344CB8AC3E}">
        <p14:creationId xmlns:p14="http://schemas.microsoft.com/office/powerpoint/2010/main" val="351234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Moral Judgments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530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Moral judgments refer to deciding what is right and what is wrong in human relations.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There are </a:t>
            </a:r>
            <a:r>
              <a:rPr lang="en-US" sz="2800" b="1" dirty="0"/>
              <a:t>three</a:t>
            </a:r>
            <a:r>
              <a:rPr lang="en-US" sz="2800" dirty="0"/>
              <a:t> main </a:t>
            </a:r>
            <a:r>
              <a:rPr lang="en-US" sz="2800" b="1" dirty="0"/>
              <a:t>ways of testing a moral argument</a:t>
            </a:r>
            <a:r>
              <a:rPr lang="en-US" sz="2800" dirty="0"/>
              <a:t>.</a:t>
            </a:r>
          </a:p>
          <a:p>
            <a:pPr marL="1428750" lvl="2" indent="-514350">
              <a:buAutoNum type="alphaUcPeriod"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Factual accuracy</a:t>
            </a:r>
            <a:r>
              <a:rPr lang="en-US" sz="2000" b="1" dirty="0"/>
              <a:t>.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we cannot say that something is wrong or right simply based on how things are.</a:t>
            </a:r>
          </a:p>
          <a:p>
            <a:pPr lvl="2">
              <a:buNone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B.</a:t>
            </a:r>
            <a:r>
              <a:rPr lang="en-US" sz="3600" b="1" dirty="0"/>
              <a:t> Consistency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/>
              <a:t>Arguments need to be consistent</a:t>
            </a:r>
            <a:endParaRPr lang="en-US" sz="2800" b="1" dirty="0"/>
          </a:p>
          <a:p>
            <a:pPr lvl="2">
              <a:buNone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C. </a:t>
            </a:r>
            <a:r>
              <a:rPr lang="en-US" sz="3200" b="1" dirty="0"/>
              <a:t>Good will</a:t>
            </a:r>
          </a:p>
          <a:p>
            <a:pPr>
              <a:buFont typeface="Wingdings" pitchFamily="2" charset="2"/>
              <a:buChar char="ü"/>
            </a:pPr>
            <a:r>
              <a:rPr lang="en-US" sz="4000" dirty="0"/>
              <a:t>involves resorting to our intuitions and emotions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34400" cy="11430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   Framework for Moral Decision Making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15400" cy="56388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There are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five</a:t>
            </a:r>
            <a:r>
              <a:rPr lang="en-US" dirty="0"/>
              <a:t> different approaches to values to deal with moral issues</a:t>
            </a:r>
          </a:p>
          <a:p>
            <a:pPr lvl="2">
              <a:buFont typeface="Wingdings" pitchFamily="2" charset="2"/>
              <a:buChar char="ü"/>
            </a:pPr>
            <a:r>
              <a:rPr lang="en-US" sz="3200" b="1" dirty="0"/>
              <a:t>Fairness and Justice,</a:t>
            </a:r>
          </a:p>
          <a:p>
            <a:pPr lvl="3">
              <a:buFont typeface="Wingdings" pitchFamily="2" charset="2"/>
              <a:buChar char="v"/>
            </a:pPr>
            <a:r>
              <a:rPr lang="en-US" sz="2800" dirty="0"/>
              <a:t> Equals should be treated equally and unequal‘s unequally →</a:t>
            </a:r>
            <a:r>
              <a:rPr lang="en-US" sz="2800" i="1" dirty="0"/>
              <a:t>Aristotle</a:t>
            </a:r>
          </a:p>
          <a:p>
            <a:pPr lvl="3">
              <a:buFont typeface="Wingdings" pitchFamily="2" charset="2"/>
              <a:buChar char="v"/>
            </a:pPr>
            <a:r>
              <a:rPr lang="en-US" sz="2800" dirty="0"/>
              <a:t>Treat people the same unless there are morally relevant differences between them</a:t>
            </a:r>
          </a:p>
          <a:p>
            <a:pPr lvl="3">
              <a:buFont typeface="Wingdings" pitchFamily="2" charset="2"/>
              <a:buChar char="v"/>
            </a:pPr>
            <a:r>
              <a:rPr lang="en-US" sz="2800" dirty="0"/>
              <a:t>Aristotle said humans belonged to one of four categories: </a:t>
            </a:r>
          </a:p>
          <a:p>
            <a:pPr lvl="4">
              <a:buFont typeface="Wingdings" pitchFamily="2" charset="2"/>
              <a:buChar char="Ø"/>
            </a:pPr>
            <a:r>
              <a:rPr lang="en-US" sz="2800" dirty="0"/>
              <a:t>the virtuous, </a:t>
            </a:r>
            <a:r>
              <a:rPr lang="en-US" sz="2800" dirty="0">
                <a:sym typeface="Wingdings 2"/>
              </a:rPr>
              <a:t>excellence, good</a:t>
            </a:r>
            <a:endParaRPr lang="en-US" sz="2800" dirty="0"/>
          </a:p>
          <a:p>
            <a:pPr lvl="4">
              <a:buFont typeface="Wingdings" pitchFamily="2" charset="2"/>
              <a:buChar char="Ø"/>
            </a:pPr>
            <a:r>
              <a:rPr lang="en-US" sz="2800" dirty="0"/>
              <a:t>the continent, </a:t>
            </a:r>
            <a:r>
              <a:rPr lang="en-US" sz="2800" dirty="0">
                <a:sym typeface="Wingdings 2"/>
              </a:rPr>
              <a:t>pure/abstaining</a:t>
            </a:r>
            <a:endParaRPr lang="en-US" sz="2800" dirty="0"/>
          </a:p>
          <a:p>
            <a:pPr lvl="4">
              <a:buFont typeface="Wingdings" pitchFamily="2" charset="2"/>
              <a:buChar char="Ø"/>
            </a:pPr>
            <a:r>
              <a:rPr lang="en-US" sz="2800" dirty="0"/>
              <a:t>the incontinent </a:t>
            </a:r>
            <a:r>
              <a:rPr lang="en-US" sz="2800" dirty="0">
                <a:sym typeface="Wingdings 2"/>
              </a:rPr>
              <a:t>leaky/tell all issues</a:t>
            </a:r>
            <a:endParaRPr lang="en-US" sz="2800" dirty="0"/>
          </a:p>
          <a:p>
            <a:pPr lvl="4">
              <a:buFont typeface="Wingdings" pitchFamily="2" charset="2"/>
              <a:buChar char="Ø"/>
            </a:pPr>
            <a:r>
              <a:rPr lang="en-US" sz="2800" dirty="0"/>
              <a:t>the vicious </a:t>
            </a:r>
            <a:r>
              <a:rPr lang="en-US" sz="2800" dirty="0">
                <a:sym typeface="Wingdings 2"/>
              </a:rPr>
              <a:t>cruel, evil</a:t>
            </a:r>
            <a:endParaRPr lang="en-US" sz="2800" dirty="0"/>
          </a:p>
          <a:p>
            <a:pPr marL="914400" lvl="2" indent="0">
              <a:buNone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Framework for Moral Decision Making…cont’d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b="1" dirty="0"/>
              <a:t>The common Good, </a:t>
            </a:r>
          </a:p>
          <a:p>
            <a:pPr marL="857250" lvl="1" indent="-457200">
              <a:buFont typeface="Wingdings" pitchFamily="2" charset="2"/>
              <a:buChar char="Ø"/>
            </a:pPr>
            <a:r>
              <a:rPr lang="en-US" dirty="0"/>
              <a:t>relationships of society are the basis of ethical reasoning </a:t>
            </a:r>
          </a:p>
          <a:p>
            <a:pPr>
              <a:buFont typeface="Wingdings" pitchFamily="2" charset="2"/>
              <a:buChar char="ü"/>
            </a:pPr>
            <a:r>
              <a:rPr lang="en-US" b="1" dirty="0"/>
              <a:t>Utilitarian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Rights, 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the action respect the </a:t>
            </a:r>
            <a:r>
              <a:rPr lang="en-US" b="1" dirty="0"/>
              <a:t>moral rights </a:t>
            </a:r>
            <a:r>
              <a:rPr lang="en-US" dirty="0"/>
              <a:t>of everyone</a:t>
            </a:r>
          </a:p>
          <a:p>
            <a:pPr lvl="1">
              <a:buFont typeface="Wingdings" pitchFamily="2" charset="2"/>
              <a:buChar char="v"/>
            </a:pPr>
            <a:r>
              <a:rPr lang="en-US" dirty="0" err="1"/>
              <a:t>Eg</a:t>
            </a:r>
            <a:r>
              <a:rPr lang="en-US" dirty="0"/>
              <a:t>. Right to the Truth, Right of Privacy, Right not to be injured,</a:t>
            </a:r>
          </a:p>
          <a:p>
            <a:pPr>
              <a:buFont typeface="Wingdings" pitchFamily="2" charset="2"/>
              <a:buChar char="ü"/>
            </a:pPr>
            <a:r>
              <a:rPr lang="en-US" b="1" dirty="0"/>
              <a:t>Virtues</a:t>
            </a:r>
          </a:p>
        </p:txBody>
      </p:sp>
    </p:spTree>
    <p:extLst>
      <p:ext uri="{BB962C8B-B14F-4D97-AF65-F5344CB8AC3E}">
        <p14:creationId xmlns:p14="http://schemas.microsoft.com/office/powerpoint/2010/main" val="324692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1143000"/>
          </a:xfrm>
        </p:spPr>
        <p:txBody>
          <a:bodyPr>
            <a:normAutofit/>
          </a:bodyPr>
          <a:lstStyle/>
          <a:p>
            <a:r>
              <a:rPr lang="en-US" sz="3200" b="1" dirty="0"/>
              <a:t>Four</a:t>
            </a:r>
            <a:r>
              <a:rPr lang="en-US" sz="3200" dirty="0"/>
              <a:t> aspects may be considered In discussing the application of morality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Religious Morality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Morality and Nature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Individual Morality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Social Morality </a:t>
            </a:r>
          </a:p>
        </p:txBody>
      </p:sp>
    </p:spTree>
    <p:extLst>
      <p:ext uri="{BB962C8B-B14F-4D97-AF65-F5344CB8AC3E}">
        <p14:creationId xmlns:p14="http://schemas.microsoft.com/office/powerpoint/2010/main" val="120777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Self-Evaluation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What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does decision making refer to?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A. Creating new opportunities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B. Making choices among alternative courses of action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C. Delegating tasks to others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D. Avoiding difficult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situations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Answer.  B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2. Ethical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decision making involves: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A. Ignoring alternative viewpoints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B. Acting without a clear process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C. Following a procedure with rationality and respect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D. Doing what benefits oneself 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most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Answer: C</a:t>
            </a:r>
          </a:p>
        </p:txBody>
      </p:sp>
    </p:spTree>
    <p:extLst>
      <p:ext uri="{BB962C8B-B14F-4D97-AF65-F5344CB8AC3E}">
        <p14:creationId xmlns:p14="http://schemas.microsoft.com/office/powerpoint/2010/main" val="2353271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black"/>
                </a:solidFill>
              </a:rPr>
              <a:t>Self-Evaluation…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8001000" cy="5715000"/>
          </a:xfrm>
        </p:spPr>
        <p:txBody>
          <a:bodyPr>
            <a:normAutofit fontScale="25000" lnSpcReduction="20000"/>
          </a:bodyPr>
          <a:lstStyle/>
          <a:p>
            <a:pPr marL="0" lvl="1" indent="0">
              <a:lnSpc>
                <a:spcPct val="170000"/>
              </a:lnSpc>
              <a:buNone/>
            </a:pPr>
            <a:r>
              <a:rPr lang="en-US" sz="7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3. What </a:t>
            </a:r>
            <a:r>
              <a:rPr lang="en-US" sz="7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is an </a:t>
            </a:r>
            <a:r>
              <a:rPr lang="en-US" sz="7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intrinsic good</a:t>
            </a:r>
            <a:r>
              <a:rPr lang="en-US" sz="7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br>
              <a:rPr lang="en-US" sz="7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7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A. Something valued for what it leads to</a:t>
            </a:r>
            <a:br>
              <a:rPr lang="en-US" sz="7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7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B. Something valued for what it is in itself</a:t>
            </a:r>
            <a:br>
              <a:rPr lang="en-US" sz="7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7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C. Something that has no </a:t>
            </a:r>
            <a:r>
              <a:rPr lang="en-US" sz="7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value</a:t>
            </a:r>
            <a:r>
              <a:rPr lang="en-US" sz="7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7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D</a:t>
            </a:r>
            <a:r>
              <a:rPr lang="en-US" sz="7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7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All</a:t>
            </a:r>
          </a:p>
          <a:p>
            <a:pPr marL="0" lvl="1" indent="0">
              <a:lnSpc>
                <a:spcPct val="170000"/>
              </a:lnSpc>
              <a:buNone/>
            </a:pPr>
            <a:r>
              <a:rPr lang="en-US" sz="7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Answer: B</a:t>
            </a:r>
          </a:p>
          <a:p>
            <a:pPr marL="0" lvl="1" indent="0">
              <a:lnSpc>
                <a:spcPct val="170000"/>
              </a:lnSpc>
              <a:buNone/>
            </a:pPr>
            <a:r>
              <a:rPr lang="en-US" sz="7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74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55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Which of the following statements is true about ethical  perspectives?</a:t>
            </a:r>
            <a:br>
              <a:rPr lang="en-US" sz="55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55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A. There is only one universal ethical perspective</a:t>
            </a:r>
            <a:br>
              <a:rPr lang="en-US" sz="55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55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B. Ethical perspectives are irrelevant in decision making</a:t>
            </a:r>
            <a:br>
              <a:rPr lang="en-US" sz="55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55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C. There are different perspectives on how to measure the rightness of actions</a:t>
            </a:r>
            <a:br>
              <a:rPr lang="en-US" sz="55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55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D. Ethics are based purely on </a:t>
            </a:r>
            <a:r>
              <a:rPr lang="en-US" sz="55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emotions</a:t>
            </a:r>
            <a:endParaRPr lang="en-US" sz="7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1" indent="0">
              <a:lnSpc>
                <a:spcPct val="170000"/>
              </a:lnSpc>
              <a:buNone/>
            </a:pPr>
            <a:r>
              <a:rPr lang="en-US" sz="7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Answer:- C</a:t>
            </a:r>
          </a:p>
          <a:p>
            <a:pPr marL="400050" lvl="1" indent="-457200">
              <a:lnSpc>
                <a:spcPct val="170000"/>
              </a:lnSpc>
              <a:buNone/>
            </a:pPr>
            <a:endParaRPr lang="en-US" sz="7200" dirty="0" smtClean="0">
              <a:latin typeface="Times New Roman" pitchFamily="18" charset="0"/>
              <a:cs typeface="Times New Roman" pitchFamily="18" charset="0"/>
            </a:endParaRPr>
          </a:p>
          <a:p>
            <a:pPr marL="400050" lvl="1" indent="-457200">
              <a:lnSpc>
                <a:spcPct val="170000"/>
              </a:lnSpc>
              <a:buNone/>
            </a:pPr>
            <a:r>
              <a:rPr lang="en-US" sz="72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endParaRPr lang="en-US" sz="72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00050" lvl="1" indent="-457200">
              <a:lnSpc>
                <a:spcPct val="170000"/>
              </a:lnSpc>
              <a:buNone/>
            </a:pPr>
            <a:endParaRPr lang="en-US" sz="7200" dirty="0" smtClean="0">
              <a:latin typeface="Times New Roman" pitchFamily="18" charset="0"/>
              <a:cs typeface="Times New Roman" pitchFamily="18" charset="0"/>
            </a:endParaRPr>
          </a:p>
          <a:p>
            <a:pPr marL="400050" lvl="1" indent="-457200">
              <a:lnSpc>
                <a:spcPct val="170000"/>
              </a:lnSpc>
              <a:buNone/>
            </a:pPr>
            <a:endParaRPr lang="en-US" sz="7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630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black"/>
                </a:solidFill>
              </a:rPr>
              <a:t>Self-Evaluation…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1"/>
            <a:ext cx="8382000" cy="4343400"/>
          </a:xfrm>
        </p:spPr>
        <p:txBody>
          <a:bodyPr>
            <a:normAutofit fontScale="77500" lnSpcReduction="20000"/>
          </a:bodyPr>
          <a:lstStyle/>
          <a:p>
            <a:pPr marL="400050" lvl="1" indent="0">
              <a:lnSpc>
                <a:spcPct val="150000"/>
              </a:lnSpc>
              <a:buNone/>
            </a:pPr>
            <a:r>
              <a:rPr lang="en-US" dirty="0" smtClean="0"/>
              <a:t>5.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Which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the following is an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instrumental good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?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A. Truth for its own sake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B. A diploma that helps get a job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C. Happiness as a state of being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D. Friendship for emotional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connection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Answer: B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Why are ethical values harder to understand than other kinds of values?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A. They are based solely on personal opinion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B. They involve complex and abstract reasoning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C. They are easy to define and measure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D. They are only relevant 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law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Answer:- B</a:t>
            </a:r>
          </a:p>
        </p:txBody>
      </p:sp>
    </p:spTree>
    <p:extLst>
      <p:ext uri="{BB962C8B-B14F-4D97-AF65-F5344CB8AC3E}">
        <p14:creationId xmlns:p14="http://schemas.microsoft.com/office/powerpoint/2010/main" val="89533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Self-Evaluation…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4525963"/>
          </a:xfrm>
        </p:spPr>
        <p:txBody>
          <a:bodyPr>
            <a:normAutofit/>
          </a:bodyPr>
          <a:lstStyle/>
          <a:p>
            <a:pPr marL="400050" lvl="1" indent="0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7. Which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the following is a key idea in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Fairness and Justice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approach to values?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A. Everyone should be treated exactly the same, regardless of context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B. People should be rewarded based on popularity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C. Equals should be treated equally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unequals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unequally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D. Moral decisions are based 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instinct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Answer:- C</a:t>
            </a:r>
          </a:p>
        </p:txBody>
      </p:sp>
    </p:spTree>
    <p:extLst>
      <p:ext uri="{BB962C8B-B14F-4D97-AF65-F5344CB8AC3E}">
        <p14:creationId xmlns:p14="http://schemas.microsoft.com/office/powerpoint/2010/main" val="1105139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prstClr val="black"/>
                </a:solidFill>
              </a:rPr>
              <a:t>Self-Evaluation… Cont’d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Ethical decision making requires no justification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lvl="0" indent="0"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Answer</a:t>
            </a:r>
            <a:r>
              <a:rPr lang="en-US" sz="2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False</a:t>
            </a:r>
          </a:p>
          <a:p>
            <a:pPr marL="0" lv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600" dirty="0">
                <a:latin typeface="Times New Roman" pitchFamily="18" charset="0"/>
                <a:cs typeface="Times New Roman" pitchFamily="18" charset="0"/>
              </a:rPr>
            </a:b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Individuals may have their own justifications to decide whether something is ethical</a:t>
            </a:r>
            <a:r>
              <a:rPr lang="en-US" sz="2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>
              <a:buNone/>
            </a:pPr>
            <a:r>
              <a:rPr lang="en-US" sz="2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Answer</a:t>
            </a:r>
            <a:r>
              <a:rPr lang="en-US" sz="2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True</a:t>
            </a:r>
          </a:p>
          <a:p>
            <a:pPr marL="0" lv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600" dirty="0">
                <a:latin typeface="Times New Roman" pitchFamily="18" charset="0"/>
                <a:cs typeface="Times New Roman" pitchFamily="18" charset="0"/>
              </a:rPr>
            </a:b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3. A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person can make an ethical decision without any need for rationality or procedure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lvl="0" indent="0">
              <a:buNone/>
            </a:pPr>
            <a:r>
              <a:rPr lang="en-US" sz="2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Answer</a:t>
            </a:r>
            <a:r>
              <a:rPr lang="en-US" sz="2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False</a:t>
            </a:r>
          </a:p>
          <a:p>
            <a:pPr marL="0" lv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600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82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Self-Evaluation…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820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smtClean="0"/>
              <a:t>4.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Intrinsic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goods are valued for what they can help achieve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Answer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False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5. Resolving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ethical problems in a definitive way is not always possible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Answer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True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6. Ethical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problems are always clear-cut and easy to solve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Answer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False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94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Chapter Four: </a:t>
            </a:r>
            <a:br>
              <a:rPr lang="en-US" sz="3600" b="1" dirty="0"/>
            </a:br>
            <a:r>
              <a:rPr lang="en-US" sz="3600" b="1" dirty="0"/>
              <a:t>State, Government and Citizenship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91200"/>
          </a:xfrm>
        </p:spPr>
        <p:txBody>
          <a:bodyPr>
            <a:normAutofit lnSpcReduction="10000"/>
          </a:bodyPr>
          <a:lstStyle/>
          <a:p>
            <a:pPr lvl="1">
              <a:buNone/>
            </a:pPr>
            <a:r>
              <a:rPr lang="en-US" sz="3200" b="1" dirty="0"/>
              <a:t>State is;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a collection of </a:t>
            </a:r>
            <a:r>
              <a:rPr lang="en-US" b="1" dirty="0"/>
              <a:t>institutions</a:t>
            </a:r>
            <a:r>
              <a:rPr lang="en-US" dirty="0"/>
              <a:t>, 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a territorial unit, 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a </a:t>
            </a:r>
            <a:r>
              <a:rPr lang="en-US" b="1" dirty="0"/>
              <a:t>philosophical</a:t>
            </a:r>
            <a:r>
              <a:rPr lang="en-US" dirty="0"/>
              <a:t> idea, 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an instrument of coercion or oppression,</a:t>
            </a:r>
          </a:p>
          <a:p>
            <a:pPr lvl="1">
              <a:buFont typeface="Wingdings" pitchFamily="2" charset="2"/>
              <a:buChar char="ü"/>
            </a:pPr>
            <a:r>
              <a:rPr lang="en-US" b="1" dirty="0"/>
              <a:t>Sovereign organ </a:t>
            </a:r>
            <a:r>
              <a:rPr lang="en-US" dirty="0"/>
              <a:t>who established from;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Territory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                          According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Montevideo Convention 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Sovereignty        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Rights and Duties of the State (1933)  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Recognition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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contemporary political theorists and the UN</a:t>
            </a:r>
            <a:endParaRPr lang="en-US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xmlns="" id="{9AFFC489-E068-30F6-E8B5-E2D292746351}"/>
              </a:ext>
            </a:extLst>
          </p:cNvPr>
          <p:cNvSpPr/>
          <p:nvPr/>
        </p:nvSpPr>
        <p:spPr>
          <a:xfrm>
            <a:off x="2895600" y="4343400"/>
            <a:ext cx="1143000" cy="1676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291972-E63D-B2D1-C05F-0BB1D4535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perspectives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287846-308F-DB90-249A-848D2294E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95400"/>
            <a:ext cx="8991600" cy="55626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Idealist perspective</a:t>
            </a:r>
          </a:p>
          <a:p>
            <a:pPr marL="85725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Hegel(father of idealism) realized state as;</a:t>
            </a:r>
          </a:p>
          <a:p>
            <a:pPr marL="1257300" lvl="2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An </a:t>
            </a:r>
            <a:r>
              <a:rPr lang="en-US" sz="2800" b="1" dirty="0"/>
              <a:t>ethical community </a:t>
            </a:r>
            <a:r>
              <a:rPr lang="en-US" sz="2800" dirty="0"/>
              <a:t>underpinned by mutual sympathy</a:t>
            </a:r>
          </a:p>
          <a:p>
            <a:pPr marL="1257300" lvl="2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March of </a:t>
            </a:r>
            <a:r>
              <a:rPr lang="en-US" sz="2800" b="1" dirty="0"/>
              <a:t>God</a:t>
            </a:r>
            <a:r>
              <a:rPr lang="en-US" sz="2800" dirty="0"/>
              <a:t> on earth</a:t>
            </a:r>
          </a:p>
          <a:p>
            <a:pPr marL="1257300" lvl="2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To disobey the state is to disobey the God </a:t>
            </a:r>
          </a:p>
          <a:p>
            <a:pPr marL="1257300" lvl="2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State has </a:t>
            </a:r>
            <a:r>
              <a:rPr lang="en-US" sz="2800" b="1" dirty="0"/>
              <a:t>unrestricted</a:t>
            </a:r>
            <a:r>
              <a:rPr lang="en-US" sz="2800" dirty="0"/>
              <a:t> authority</a:t>
            </a:r>
          </a:p>
          <a:p>
            <a:pPr marL="1257300" lvl="2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State is an </a:t>
            </a:r>
            <a:r>
              <a:rPr lang="en-US" sz="2800" b="1" dirty="0"/>
              <a:t>end</a:t>
            </a:r>
          </a:p>
          <a:p>
            <a:pPr marL="85725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Hegel identified three moments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existence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civil society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208891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DA4C21-FDED-A8FF-2554-6A816B691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Functionalist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F1CACAB-39A1-D683-1A34-725F688A1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534400" cy="52578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state institutions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central function of the state is invariably seen as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of social order (stability)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836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AC8AEC-4F6B-3B9F-CE70-D601477E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Organizational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C469EA0-D0AE-DA73-CBB1-991DEB244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295400"/>
            <a:ext cx="9067800" cy="528796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apparatus of government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its broadest sense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collective organization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social existence and are funded at the public‘s expense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Comprises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institutions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government: (bureaucracy, the military, the police, the courts, and the social security system and so 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assess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rolling forward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rolling backward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391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7ECA78-7712-3063-8D37-FC0539269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International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88AC776-01A7-D7B1-57F1-ED8DBE1E1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it primarily as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world stage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unit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international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politics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inward looking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outward looking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42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794427-5B1D-8276-BD8C-21C60BFC1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1177"/>
            <a:ext cx="8229600" cy="1143000"/>
          </a:xfrm>
        </p:spPr>
        <p:txBody>
          <a:bodyPr/>
          <a:lstStyle/>
          <a:p>
            <a:r>
              <a:rPr lang="en-US" dirty="0"/>
              <a:t>Rival Theories of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A44AC5-9D37-46D3-3A09-3A856C08A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7912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The Pluralist State</a:t>
            </a:r>
          </a:p>
          <a:p>
            <a:pPr lvl="1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acts as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umpire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society /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servant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society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Seen as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impartial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arbiter /not biased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theory traced back to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social-contract theories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thinkers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Thomas Hobbes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Locke</a:t>
            </a:r>
          </a:p>
          <a:p>
            <a:pPr lvl="1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had arisen out of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voluntary agreement</a:t>
            </a:r>
          </a:p>
          <a:p>
            <a:pPr lvl="1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Locke put it,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there is no law there is no freedom</a:t>
            </a:r>
          </a:p>
          <a:p>
            <a:pPr lvl="1" indent="-342900"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Hobbes‘ view, stability and order could be secured only through the establishment of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unlimited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state, with power that could be neither challenged, nor questioned.</a:t>
            </a:r>
          </a:p>
          <a:p>
            <a:pPr lvl="1" indent="-342900"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Locke, on the other hand, developed a more typically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liberal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defense of the limited state</a:t>
            </a:r>
          </a:p>
        </p:txBody>
      </p:sp>
    </p:spTree>
    <p:extLst>
      <p:ext uri="{BB962C8B-B14F-4D97-AF65-F5344CB8AC3E}">
        <p14:creationId xmlns:p14="http://schemas.microsoft.com/office/powerpoint/2010/main" val="304050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AB7339-1EA5-22AD-EC63-5D0A211B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/>
              <a:t>2. The Capitalist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163E792-31F8-6B80-4328-546EA339C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17638"/>
            <a:ext cx="8839200" cy="516572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cannot be understood separately from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structure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society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is nothing but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instrument of class oppression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is clearly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society and entirely dependent on its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economically dominant class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capitalism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bourgeoisie.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cannot be understood except in a context of unequal class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20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C640C7-EC40-D97C-0A09-6C6DBC63C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0337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/>
              <a:t> 3. The Leviathan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B377AD-F984-B007-A2DB-8AFBDD250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915400" cy="54784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parasitic growth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threatens both individual liberty and economic security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 intervention reflected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dynamics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state.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expansionist dynamics of state power by reference to both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side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supply-side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pressures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 pursuit interest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separately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society /it is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977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28CE3C-FC99-382C-7E5B-985E3261C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/>
              <a:t> 4. The Patriarchal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C89B52F-973F-2030-A0A1-820F4E689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686800" cy="48307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Believe that all groups (including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have potentially equal access to state power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Seeing state intervention as a means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redressing gender inequality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enhancing the role of women</a:t>
            </a:r>
          </a:p>
        </p:txBody>
      </p:sp>
    </p:spTree>
    <p:extLst>
      <p:ext uri="{BB962C8B-B14F-4D97-AF65-F5344CB8AC3E}">
        <p14:creationId xmlns:p14="http://schemas.microsoft.com/office/powerpoint/2010/main" val="3310257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A14A03-D94A-8AA2-0DD8-AF1D22E83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Role of the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C329DD4-8FB9-995D-D0C8-97324E728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b="1" dirty="0"/>
              <a:t>Minimal States</a:t>
            </a:r>
          </a:p>
          <a:p>
            <a:pPr marL="914400" lvl="1" indent="-5143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Individuals enjoy the widest possible realm of </a:t>
            </a:r>
            <a:r>
              <a:rPr lang="en-US" b="1" dirty="0"/>
              <a:t>freedom</a:t>
            </a:r>
          </a:p>
          <a:p>
            <a:pPr marL="914400" lvl="1" indent="-5143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Rooted in </a:t>
            </a:r>
            <a:r>
              <a:rPr lang="en-US" b="1" dirty="0"/>
              <a:t>social-contract</a:t>
            </a:r>
            <a:r>
              <a:rPr lang="en-US" dirty="0"/>
              <a:t> theory</a:t>
            </a:r>
          </a:p>
          <a:p>
            <a:pPr marL="914400" lvl="1" indent="-5143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State is merely a </a:t>
            </a:r>
            <a:r>
              <a:rPr lang="en-US" b="1" dirty="0"/>
              <a:t>protective</a:t>
            </a:r>
            <a:r>
              <a:rPr lang="en-US" dirty="0"/>
              <a:t> body</a:t>
            </a:r>
          </a:p>
          <a:p>
            <a:pPr marL="914400" lvl="1" indent="-5143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State acts as a </a:t>
            </a:r>
            <a:r>
              <a:rPr lang="en-US" b="1" dirty="0"/>
              <a:t>night watchman</a:t>
            </a:r>
            <a:r>
              <a:rPr lang="en-US" dirty="0"/>
              <a:t>(Locke‘s</a:t>
            </a:r>
            <a:r>
              <a:rPr lang="en-US" dirty="0" smtClean="0"/>
              <a:t>)</a:t>
            </a:r>
          </a:p>
          <a:p>
            <a:pPr marL="914400" lvl="1" indent="-5143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/>
              <a:t>State provide only </a:t>
            </a:r>
            <a:r>
              <a:rPr lang="en-US" b="1" dirty="0" smtClean="0"/>
              <a:t>framework</a:t>
            </a:r>
            <a:r>
              <a:rPr lang="en-US" dirty="0" smtClean="0"/>
              <a:t> for peace and social order / provide </a:t>
            </a:r>
            <a:r>
              <a:rPr lang="en-US" b="1" dirty="0" smtClean="0"/>
              <a:t>protection</a:t>
            </a:r>
            <a:r>
              <a:rPr lang="en-US" dirty="0" smtClean="0"/>
              <a:t> from external attack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74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F2D080-9B3D-62BF-DC84-CD3C2F4A5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B. Developmental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287FC8-87DA-10F6-2DE1-A761B3E89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219200"/>
            <a:ext cx="9067800" cy="5257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State is one that intervenes in </a:t>
            </a:r>
            <a:r>
              <a:rPr lang="en-US" sz="2800" b="1" dirty="0"/>
              <a:t>economic life </a:t>
            </a:r>
            <a:r>
              <a:rPr lang="en-US" sz="2800" dirty="0"/>
              <a:t>with the </a:t>
            </a:r>
            <a:r>
              <a:rPr lang="en-US" sz="2800" b="1" dirty="0"/>
              <a:t>specific purpose </a:t>
            </a:r>
            <a:r>
              <a:rPr lang="en-US" sz="2800" dirty="0"/>
              <a:t>of promoting </a:t>
            </a:r>
            <a:r>
              <a:rPr lang="en-US" sz="2800" b="1" dirty="0"/>
              <a:t>industrial growth </a:t>
            </a:r>
            <a:r>
              <a:rPr lang="en-US" sz="2800" dirty="0"/>
              <a:t>and </a:t>
            </a:r>
            <a:r>
              <a:rPr lang="en-US" sz="2800" b="1" dirty="0"/>
              <a:t>economic development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States practice interventionism in order to stimulate economic progress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u="sng" dirty="0"/>
              <a:t>Eg</a:t>
            </a:r>
            <a:r>
              <a:rPr lang="en-US" sz="2800" dirty="0"/>
              <a:t>. Japan and Germany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423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C87FDA-8D0C-6F70-2F65-55B0B1F88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1" dirty="0"/>
              <a:t>C. Social Democratic (Welfare) States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8EFB77-BF98-222A-36FE-27E1A481E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534400" cy="498316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States intervene with a view to bringing about broader </a:t>
            </a:r>
            <a:r>
              <a:rPr lang="en-US" b="1" dirty="0"/>
              <a:t>social restructuring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 State is an active </a:t>
            </a:r>
            <a:r>
              <a:rPr lang="en-US" b="1" dirty="0"/>
              <a:t>participant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less upon the generation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wealth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more upon what is seen as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equitable, fair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 of wealth.</a:t>
            </a:r>
          </a:p>
        </p:txBody>
      </p:sp>
    </p:spTree>
    <p:extLst>
      <p:ext uri="{BB962C8B-B14F-4D97-AF65-F5344CB8AC3E}">
        <p14:creationId xmlns:p14="http://schemas.microsoft.com/office/powerpoint/2010/main" val="251096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AD515E-AA95-FAE4-0314-28C6930D3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/>
              <a:t>D. Collectivized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F8EB7BB-07CB-28E2-4BBA-B1F175D3B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8763000" cy="544036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States bring the </a:t>
            </a:r>
            <a:r>
              <a:rPr lang="en-US" sz="2400" b="1" dirty="0"/>
              <a:t>entirety</a:t>
            </a:r>
            <a:r>
              <a:rPr lang="en-US" sz="2400" dirty="0"/>
              <a:t> of economic life under </a:t>
            </a:r>
            <a:r>
              <a:rPr lang="en-US" sz="2400" b="1" dirty="0"/>
              <a:t>state control.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Command/socialism economies but differ from country to </a:t>
            </a:r>
            <a:r>
              <a:rPr lang="en-US" sz="2400" dirty="0" smtClean="0"/>
              <a:t>country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Prioritize common ownership than private  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E. Totalitarian States</a:t>
            </a:r>
          </a:p>
          <a:p>
            <a:pPr marL="85725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The most </a:t>
            </a:r>
            <a:r>
              <a:rPr lang="en-US" sz="2400" b="1" dirty="0"/>
              <a:t>extreme</a:t>
            </a:r>
            <a:r>
              <a:rPr lang="en-US" sz="2400" dirty="0"/>
              <a:t> and </a:t>
            </a:r>
            <a:r>
              <a:rPr lang="en-US" sz="2400" b="1" dirty="0"/>
              <a:t>extensive</a:t>
            </a:r>
            <a:r>
              <a:rPr lang="en-US" sz="2400" dirty="0"/>
              <a:t> form of interventionism</a:t>
            </a:r>
          </a:p>
          <a:p>
            <a:pPr marL="85725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State influence </a:t>
            </a:r>
            <a:r>
              <a:rPr lang="en-US" sz="2400" b="1" dirty="0"/>
              <a:t>every aspect</a:t>
            </a:r>
            <a:r>
              <a:rPr lang="en-US" sz="2400" dirty="0"/>
              <a:t> of human existence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F. Religious States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Theocratic rule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Religiously-orientated governments</a:t>
            </a:r>
          </a:p>
        </p:txBody>
      </p:sp>
    </p:spTree>
    <p:extLst>
      <p:ext uri="{BB962C8B-B14F-4D97-AF65-F5344CB8AC3E}">
        <p14:creationId xmlns:p14="http://schemas.microsoft.com/office/powerpoint/2010/main" val="1897248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Understanding Government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One of the most essential components and also an </a:t>
            </a:r>
            <a:r>
              <a:rPr lang="en-US" b="1" dirty="0"/>
              <a:t>administrative wing </a:t>
            </a:r>
            <a:r>
              <a:rPr lang="en-US" dirty="0"/>
              <a:t>of the state.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Possess </a:t>
            </a:r>
            <a:r>
              <a:rPr lang="en-US" b="1" dirty="0"/>
              <a:t>two essential attributes</a:t>
            </a:r>
            <a:r>
              <a:rPr lang="en-US" dirty="0"/>
              <a:t>: </a:t>
            </a:r>
          </a:p>
          <a:p>
            <a:pPr lvl="2">
              <a:buFont typeface="Wingdings" pitchFamily="2" charset="2"/>
              <a:buChar char="v"/>
            </a:pPr>
            <a:r>
              <a:rPr lang="en-US" sz="3200" dirty="0"/>
              <a:t>authority</a:t>
            </a:r>
          </a:p>
          <a:p>
            <a:pPr lvl="2">
              <a:buFont typeface="Wingdings" pitchFamily="2" charset="2"/>
              <a:buChar char="v"/>
            </a:pPr>
            <a:r>
              <a:rPr lang="en-US" sz="3200" dirty="0"/>
              <a:t>legitimacy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Soul and brain of </a:t>
            </a:r>
            <a:r>
              <a:rPr lang="en-US" dirty="0" smtClean="0"/>
              <a:t>state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 body of people who create, interpret and enforce laws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Purposes and Functions of Government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 </a:t>
            </a:r>
            <a:r>
              <a:rPr lang="en-US" dirty="0"/>
              <a:t>Self-Preservation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Distribution and Regulation of Resources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Management of Conflicts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Fulfillment of Social or Group Aspirations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Protection of Rights of Citizens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Protection of Property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Implementations of Moral Conditions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Provision of Goods and Services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Citizenship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219200"/>
            <a:ext cx="8839200" cy="56388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/>
              <a:t>The </a:t>
            </a:r>
            <a:r>
              <a:rPr lang="en-US" b="1" dirty="0"/>
              <a:t>means</a:t>
            </a:r>
            <a:r>
              <a:rPr lang="en-US" dirty="0"/>
              <a:t> by which we determine whether a person is legal member of a particular State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The </a:t>
            </a:r>
            <a:r>
              <a:rPr lang="en-US" b="1" dirty="0"/>
              <a:t>network</a:t>
            </a:r>
            <a:r>
              <a:rPr lang="en-US" dirty="0"/>
              <a:t> of relationships between the State and the citizen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 Generally, the concept of citizenship </a:t>
            </a:r>
            <a:r>
              <a:rPr lang="en-US" b="1" dirty="0"/>
              <a:t>varies</a:t>
            </a:r>
            <a:r>
              <a:rPr lang="en-US" dirty="0"/>
              <a:t> from society to society, depending on the place, the historical moment and political organization.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303850-86D3-2499-2D76-CE260F00A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82" y="160337"/>
            <a:ext cx="8229600" cy="754063"/>
          </a:xfrm>
        </p:spPr>
        <p:txBody>
          <a:bodyPr>
            <a:normAutofit/>
          </a:bodyPr>
          <a:lstStyle/>
          <a:p>
            <a:r>
              <a:rPr lang="en-US" sz="3200" b="1" dirty="0"/>
              <a:t>Theorizing Citizenship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7CE1C39-D0A1-F17B-4F03-B9F0E7953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935663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Citizenship in Liberal Thought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lang="en-US" dirty="0"/>
              <a:t>Begins with the </a:t>
            </a:r>
            <a:r>
              <a:rPr lang="en-US" b="1" dirty="0"/>
              <a:t>individual</a:t>
            </a:r>
            <a:r>
              <a:rPr lang="en-US" dirty="0"/>
              <a:t> person (the self).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lang="en-US" dirty="0"/>
              <a:t>Gives a strong emphasis to the </a:t>
            </a:r>
            <a:r>
              <a:rPr lang="en-US" b="1" dirty="0"/>
              <a:t>individual</a:t>
            </a:r>
            <a:r>
              <a:rPr lang="en-US" dirty="0"/>
              <a:t> </a:t>
            </a:r>
            <a:r>
              <a:rPr lang="en-US" b="1" dirty="0"/>
              <a:t>liberty</a:t>
            </a:r>
            <a:r>
              <a:rPr lang="en-US" dirty="0"/>
              <a:t> of the citizen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lang="en-US" dirty="0"/>
              <a:t>Individuals should be </a:t>
            </a:r>
            <a:r>
              <a:rPr lang="en-US" b="1" dirty="0"/>
              <a:t>free</a:t>
            </a:r>
            <a:r>
              <a:rPr lang="en-US" dirty="0"/>
              <a:t> to decide on their own conception of the good life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lang="en-US" dirty="0"/>
              <a:t>Citizenship </a:t>
            </a:r>
            <a:r>
              <a:rPr lang="en-US" b="1" dirty="0"/>
              <a:t>rests on the individual</a:t>
            </a:r>
            <a:r>
              <a:rPr lang="en-US" dirty="0"/>
              <a:t> and it is the individual that determines its aspects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lang="en-US" dirty="0"/>
              <a:t>The government ensures that it provides protection for individuals' rights and liberties by protecting three values</a:t>
            </a:r>
          </a:p>
          <a:p>
            <a:pPr marL="1257300" lvl="2" indent="-457200">
              <a:buFont typeface="Wingdings" panose="05000000000000000000" pitchFamily="2" charset="2"/>
              <a:buChar char="v"/>
            </a:pPr>
            <a:r>
              <a:rPr lang="en-US" dirty="0"/>
              <a:t>Equality</a:t>
            </a:r>
          </a:p>
          <a:p>
            <a:pPr marL="1257300" lvl="2" indent="-457200">
              <a:buFont typeface="Wingdings" panose="05000000000000000000" pitchFamily="2" charset="2"/>
              <a:buChar char="v"/>
            </a:pPr>
            <a:r>
              <a:rPr lang="en-US" dirty="0"/>
              <a:t>Due process</a:t>
            </a:r>
          </a:p>
          <a:p>
            <a:pPr marL="1257300" lvl="2" indent="-457200">
              <a:buFont typeface="Wingdings" panose="05000000000000000000" pitchFamily="2" charset="2"/>
              <a:buChar char="v"/>
            </a:pPr>
            <a:r>
              <a:rPr lang="en-US" dirty="0"/>
              <a:t>Mutual consent </a:t>
            </a:r>
          </a:p>
        </p:txBody>
      </p:sp>
    </p:spTree>
    <p:extLst>
      <p:ext uri="{BB962C8B-B14F-4D97-AF65-F5344CB8AC3E}">
        <p14:creationId xmlns:p14="http://schemas.microsoft.com/office/powerpoint/2010/main" val="3466347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70867A-65F7-152E-667F-910773EDA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9948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/>
              <a:t>2. Citizenship in Communitarian Thought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67FDE8-80A3-55FB-4176-FDB7953C0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76200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Emphasizes on the </a:t>
            </a:r>
            <a:r>
              <a:rPr lang="en-US" sz="2800" b="1" dirty="0"/>
              <a:t>importance of society </a:t>
            </a:r>
            <a:r>
              <a:rPr lang="en-US" sz="2800" dirty="0"/>
              <a:t>in articulating the good.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The identity of citizens cannot be understood outside the territory in which they live, their </a:t>
            </a:r>
            <a:r>
              <a:rPr lang="en-US" sz="2800" b="1" dirty="0"/>
              <a:t>culture</a:t>
            </a:r>
            <a:r>
              <a:rPr lang="en-US" sz="2800" dirty="0"/>
              <a:t> and </a:t>
            </a:r>
            <a:r>
              <a:rPr lang="en-US" sz="2800" b="1" dirty="0"/>
              <a:t>traditions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Viewing individuals as the product of social practices rather than viewing group practices as the product of individual choices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Privileging individual autonomy is seen as </a:t>
            </a:r>
            <a:r>
              <a:rPr lang="en-US" sz="2800" b="1" dirty="0"/>
              <a:t>destructive</a:t>
            </a:r>
            <a:r>
              <a:rPr lang="en-US" sz="2800" dirty="0"/>
              <a:t> of communities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Citizenship comes from the </a:t>
            </a:r>
            <a:r>
              <a:rPr lang="en-US" sz="2800" b="1" dirty="0"/>
              <a:t>community identity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The State must provide a policy for the common good</a:t>
            </a:r>
          </a:p>
        </p:txBody>
      </p:sp>
    </p:spTree>
    <p:extLst>
      <p:ext uri="{BB962C8B-B14F-4D97-AF65-F5344CB8AC3E}">
        <p14:creationId xmlns:p14="http://schemas.microsoft.com/office/powerpoint/2010/main" val="2291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10EB5E-65BE-A9B7-A671-3D7E3AB22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3. Citizenship in Republican Thought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7D2B0A-FDF7-96D2-E192-470819419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49831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Put emphasis on </a:t>
            </a:r>
            <a:r>
              <a:rPr lang="en-US" sz="2800" b="1" dirty="0"/>
              <a:t>both</a:t>
            </a:r>
            <a:r>
              <a:rPr lang="en-US" sz="2800" dirty="0"/>
              <a:t> individual and group rights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Encourages people to look for the </a:t>
            </a:r>
            <a:r>
              <a:rPr lang="en-US" sz="2800" b="1" dirty="0"/>
              <a:t>common ground </a:t>
            </a:r>
            <a:r>
              <a:rPr lang="en-US" sz="2800" dirty="0"/>
              <a:t>on which they stand, despite their differences, as citizens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True citizenship requires commitment to the common good and active participation in public affairs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1696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9DBE99-46EC-6135-D34F-E5622366C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Multicultural Citizenship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A926E71-EEFF-87C5-F405-82550F5F0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610600" cy="5562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Concerns with the </a:t>
            </a:r>
            <a:r>
              <a:rPr lang="en-US" b="1" dirty="0"/>
              <a:t>universal rights </a:t>
            </a:r>
            <a:r>
              <a:rPr lang="en-US" dirty="0"/>
              <a:t>of members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It is necessary to consciously recognize group </a:t>
            </a:r>
            <a:r>
              <a:rPr lang="en-US" b="1" dirty="0"/>
              <a:t>difference</a:t>
            </a:r>
            <a:r>
              <a:rPr lang="en-US" dirty="0"/>
              <a:t> and to understand its causes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It is necessary to make arrangements to ensure the participation of people directly affected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Differential treatment for people with different characteristics, needs and wants</a:t>
            </a:r>
          </a:p>
        </p:txBody>
      </p:sp>
    </p:spTree>
    <p:extLst>
      <p:ext uri="{BB962C8B-B14F-4D97-AF65-F5344CB8AC3E}">
        <p14:creationId xmlns:p14="http://schemas.microsoft.com/office/powerpoint/2010/main" val="328147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Modes/Ways of Acquiring and Loosing Citizenship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     </a:t>
            </a:r>
            <a:r>
              <a:rPr lang="en-US" b="1" u="sng" dirty="0"/>
              <a:t>Ways of Acquiring Citizenship 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The means of acquiring a particular State‘s citizenship vary from country to country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the common ways of acquiring citizenship can be grouped in to </a:t>
            </a:r>
            <a:r>
              <a:rPr lang="en-US" b="1" dirty="0"/>
              <a:t>two      </a:t>
            </a:r>
          </a:p>
          <a:p>
            <a:pPr>
              <a:buNone/>
            </a:pPr>
            <a:r>
              <a:rPr lang="en-US" b="1" dirty="0"/>
              <a:t>          1. Citizenship from birth/of Origin</a:t>
            </a:r>
          </a:p>
          <a:p>
            <a:pPr>
              <a:buNone/>
            </a:pPr>
            <a:r>
              <a:rPr lang="en-US" b="1" dirty="0"/>
              <a:t>          2. Citizenship by Naturalization/Law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kern="0" dirty="0">
                <a:solidFill>
                  <a:sysClr val="windowText" lastClr="000000"/>
                </a:solidFill>
              </a:rPr>
              <a:t/>
            </a:r>
            <a:br>
              <a:rPr lang="en-US" sz="3200" kern="0" dirty="0">
                <a:solidFill>
                  <a:sysClr val="windowText" lastClr="000000"/>
                </a:solidFill>
              </a:rPr>
            </a:br>
            <a:r>
              <a:rPr lang="en-US" sz="3200" kern="0" dirty="0">
                <a:solidFill>
                  <a:sysClr val="windowText" lastClr="000000"/>
                </a:solidFill>
              </a:rPr>
              <a:t>1. </a:t>
            </a:r>
            <a:r>
              <a:rPr lang="en-US" sz="3200" b="1" kern="0" dirty="0">
                <a:solidFill>
                  <a:sysClr val="windowText" lastClr="000000"/>
                </a:solidFill>
              </a:rPr>
              <a:t>Acquiring citizenship by birth</a:t>
            </a:r>
            <a:r>
              <a:rPr lang="en-US" sz="3200" kern="0" dirty="0">
                <a:solidFill>
                  <a:sysClr val="windowText" lastClr="000000"/>
                </a:solidFill>
              </a:rPr>
              <a:t/>
            </a:r>
            <a:br>
              <a:rPr lang="en-US" sz="3200" kern="0" dirty="0">
                <a:solidFill>
                  <a:sysClr val="windowText" lastClr="000000"/>
                </a:solidFill>
              </a:rPr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Has different principles</a:t>
            </a:r>
          </a:p>
          <a:p>
            <a:pPr marL="914400" lvl="1" indent="-457200">
              <a:buFont typeface="Arial" pitchFamily="34" charset="0"/>
              <a:buAutoNum type="alphaUcPeriod"/>
            </a:pPr>
            <a:r>
              <a:rPr lang="en-US" sz="2400" dirty="0">
                <a:solidFill>
                  <a:prstClr val="black"/>
                </a:solidFill>
              </a:rPr>
              <a:t>Place of birth</a:t>
            </a:r>
          </a:p>
          <a:p>
            <a:pPr marL="914400" lvl="1" indent="-457200">
              <a:buFont typeface="Arial" pitchFamily="34" charset="0"/>
              <a:buAutoNum type="alphaUcPeriod"/>
            </a:pPr>
            <a:r>
              <a:rPr lang="en-US" sz="2400" dirty="0">
                <a:solidFill>
                  <a:prstClr val="black"/>
                </a:solidFill>
              </a:rPr>
              <a:t>Descent  </a:t>
            </a:r>
          </a:p>
          <a:p>
            <a:pPr marL="514350" lvl="1" indent="-457200">
              <a:buNone/>
            </a:pPr>
            <a:r>
              <a:rPr lang="en-US" sz="2400" b="1" dirty="0">
                <a:solidFill>
                  <a:prstClr val="black"/>
                </a:solidFill>
              </a:rPr>
              <a:t>A. Place of birth</a:t>
            </a:r>
          </a:p>
          <a:p>
            <a:pPr marL="914400" lvl="1" indent="-457200">
              <a:buFont typeface="Wingdings" pitchFamily="2" charset="2"/>
              <a:buChar char="ü"/>
            </a:pPr>
            <a:r>
              <a:rPr lang="en-US" dirty="0">
                <a:solidFill>
                  <a:prstClr val="black"/>
                </a:solidFill>
              </a:rPr>
              <a:t>Is called Jus soli /the right of soil</a:t>
            </a:r>
          </a:p>
          <a:p>
            <a:pPr marL="914400" lvl="1" indent="-457200">
              <a:buFont typeface="Wingdings" pitchFamily="2" charset="2"/>
              <a:buChar char="ü"/>
            </a:pPr>
            <a:r>
              <a:rPr lang="en-US" dirty="0">
                <a:solidFill>
                  <a:prstClr val="black"/>
                </a:solidFill>
              </a:rPr>
              <a:t>Grant citizenship simply by being born there</a:t>
            </a:r>
          </a:p>
          <a:p>
            <a:pPr marL="1771650" lvl="3" indent="-457200">
              <a:buNone/>
            </a:pPr>
            <a:r>
              <a:rPr lang="en-US" dirty="0" err="1">
                <a:solidFill>
                  <a:prstClr val="black"/>
                </a:solidFill>
              </a:rPr>
              <a:t>Eg</a:t>
            </a:r>
            <a:r>
              <a:rPr lang="en-US" dirty="0">
                <a:solidFill>
                  <a:prstClr val="black"/>
                </a:solidFill>
              </a:rPr>
              <a:t>. Canada                 USA              UK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prstClr val="black"/>
                </a:solidFill>
              </a:rPr>
              <a:t>B. </a:t>
            </a:r>
            <a:r>
              <a:rPr lang="en-US" sz="2800" b="1" dirty="0">
                <a:solidFill>
                  <a:prstClr val="black"/>
                </a:solidFill>
              </a:rPr>
              <a:t>Descent principles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/>
          <a:lstStyle/>
          <a:p>
            <a:pPr lvl="0">
              <a:buFont typeface="Wingdings" pitchFamily="2" charset="2"/>
              <a:buChar char="ü"/>
            </a:pPr>
            <a:r>
              <a:rPr lang="en-US" sz="2600" dirty="0">
                <a:solidFill>
                  <a:prstClr val="black"/>
                </a:solidFill>
              </a:rPr>
              <a:t>Is called Jus </a:t>
            </a:r>
            <a:r>
              <a:rPr lang="en-US" sz="2600" dirty="0" err="1">
                <a:solidFill>
                  <a:prstClr val="black"/>
                </a:solidFill>
              </a:rPr>
              <a:t>sanguinis</a:t>
            </a:r>
            <a:r>
              <a:rPr lang="en-US" sz="2600" dirty="0">
                <a:solidFill>
                  <a:prstClr val="black"/>
                </a:solidFill>
              </a:rPr>
              <a:t> /the right of blood</a:t>
            </a:r>
          </a:p>
          <a:p>
            <a:pPr lvl="0">
              <a:buFont typeface="Wingdings" pitchFamily="2" charset="2"/>
              <a:buChar char="ü"/>
            </a:pPr>
            <a:r>
              <a:rPr lang="en-US" sz="2600" dirty="0">
                <a:solidFill>
                  <a:prstClr val="black"/>
                </a:solidFill>
              </a:rPr>
              <a:t>Provides citizenship referring the nationality of either parents</a:t>
            </a:r>
          </a:p>
          <a:p>
            <a:pPr lvl="2">
              <a:buFont typeface="Wingdings" pitchFamily="2" charset="2"/>
              <a:buChar char="ü"/>
            </a:pPr>
            <a:r>
              <a:rPr lang="en-US" sz="1900" dirty="0" err="1">
                <a:solidFill>
                  <a:prstClr val="black"/>
                </a:solidFill>
              </a:rPr>
              <a:t>Eg</a:t>
            </a:r>
            <a:r>
              <a:rPr lang="en-US" sz="1900" dirty="0">
                <a:solidFill>
                  <a:prstClr val="black"/>
                </a:solidFill>
              </a:rPr>
              <a:t>.    Ethiopia         USA          France</a:t>
            </a:r>
          </a:p>
          <a:p>
            <a:pPr lvl="2">
              <a:buNone/>
            </a:pPr>
            <a:endParaRPr lang="en-US" sz="1900" dirty="0">
              <a:solidFill>
                <a:prstClr val="black"/>
              </a:solidFill>
            </a:endParaRPr>
          </a:p>
          <a:p>
            <a:pPr lvl="1">
              <a:buNone/>
            </a:pPr>
            <a:r>
              <a:rPr lang="en-US" sz="2600" b="1" dirty="0">
                <a:solidFill>
                  <a:prstClr val="black"/>
                </a:solidFill>
              </a:rPr>
              <a:t>2. Acquiring citizenship by naturalization</a:t>
            </a:r>
          </a:p>
          <a:p>
            <a:pPr lvl="2">
              <a:buFont typeface="Wingdings" pitchFamily="2" charset="2"/>
              <a:buChar char="Ø"/>
            </a:pPr>
            <a:r>
              <a:rPr lang="en-US" sz="2200" dirty="0">
                <a:solidFill>
                  <a:prstClr val="black"/>
                </a:solidFill>
              </a:rPr>
              <a:t> is an alternative methods of acquiring citizenship after birth </a:t>
            </a:r>
          </a:p>
          <a:p>
            <a:pPr lvl="2">
              <a:buFont typeface="Wingdings" pitchFamily="2" charset="2"/>
              <a:buChar char="Ø"/>
            </a:pPr>
            <a:r>
              <a:rPr lang="en-US" sz="2200" dirty="0">
                <a:solidFill>
                  <a:prstClr val="black"/>
                </a:solidFill>
              </a:rPr>
              <a:t>Is  a legal process by which state gives its citizenship for who is originally not its citizen</a:t>
            </a:r>
          </a:p>
          <a:p>
            <a:pPr lvl="2">
              <a:buFont typeface="Wingdings" pitchFamily="2" charset="2"/>
              <a:buChar char="Ø"/>
            </a:pPr>
            <a:r>
              <a:rPr lang="en-US" sz="2200" dirty="0">
                <a:solidFill>
                  <a:prstClr val="black"/>
                </a:solidFill>
              </a:rPr>
              <a:t>Is purely under the authority of the state</a:t>
            </a:r>
          </a:p>
          <a:p>
            <a:pPr lvl="2">
              <a:buFont typeface="Wingdings" pitchFamily="2" charset="2"/>
              <a:buChar char="Ø"/>
            </a:pPr>
            <a:r>
              <a:rPr lang="en-US" sz="2200" dirty="0">
                <a:solidFill>
                  <a:prstClr val="black"/>
                </a:solidFill>
              </a:rPr>
              <a:t>Has different requirements in d/f state</a:t>
            </a:r>
          </a:p>
        </p:txBody>
      </p:sp>
    </p:spTree>
    <p:extLst>
      <p:ext uri="{BB962C8B-B14F-4D97-AF65-F5344CB8AC3E}">
        <p14:creationId xmlns:p14="http://schemas.microsoft.com/office/powerpoint/2010/main" val="163376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The Modes of Acquiring Ethiopian Citizenship in the 2003 nationality proclamation.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5259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 person can acquire Ethiopian citizenship either by birth or naturalization</a:t>
            </a:r>
          </a:p>
          <a:p>
            <a:pPr lvl="1">
              <a:buNone/>
            </a:pPr>
            <a:r>
              <a:rPr lang="en-US" sz="2400" b="1" dirty="0"/>
              <a:t>    </a:t>
            </a:r>
            <a:r>
              <a:rPr lang="en-US" sz="3200" b="1" dirty="0"/>
              <a:t>1. Acquisition by Descent</a:t>
            </a:r>
          </a:p>
          <a:p>
            <a:pPr algn="just">
              <a:buFont typeface="Wingdings" pitchFamily="2" charset="2"/>
              <a:buChar char="ü"/>
            </a:pPr>
            <a:r>
              <a:rPr lang="en-US" sz="2400" b="1" dirty="0"/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any person of either sex shall be an Ethiopian national where both or either parent is Ethiopian.</a:t>
            </a:r>
          </a:p>
          <a:p>
            <a:pPr algn="just">
              <a:buFont typeface="Wingdings" pitchFamily="2" charset="2"/>
              <a:buChar char="ü"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any person can‘t acquire Ethiopian citizenship through </a:t>
            </a:r>
            <a:r>
              <a:rPr lang="en-US" sz="3500" dirty="0">
                <a:latin typeface="Times New Roman" pitchFamily="18" charset="0"/>
                <a:cs typeface="Times New Roman" pitchFamily="18" charset="0"/>
              </a:rPr>
              <a:t>the principle of </a:t>
            </a:r>
            <a:r>
              <a:rPr lang="en-US" sz="3500" i="1" dirty="0">
                <a:latin typeface="Times New Roman" pitchFamily="18" charset="0"/>
                <a:cs typeface="Times New Roman" pitchFamily="18" charset="0"/>
              </a:rPr>
              <a:t>Jus Soli (law of soil).</a:t>
            </a:r>
            <a:endParaRPr lang="en-US" sz="35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2. Acquisition by Law (Naturalization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Grant on Application (registration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Cases of Marriage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Cases of Adoption (Legitimating)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Special Cases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Reintegration/Restoration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Dual Citizenship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458200" cy="46783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reach the age of majority, 18 years;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lived in Ethiopia for a total of at least four years;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has sufficient and lawful source of income (economically self-reliant);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is able to communicate in any of the indigenous languages spoken in Ethiopia;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has a good character;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has not recorded criminal conviction;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has been released from his/her previous nationality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Ways of Loosing Citizenship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8768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 Deprivation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Lapse/expiration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Renunciation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Substitution</a:t>
            </a:r>
          </a:p>
          <a:p>
            <a:pPr marL="0" indent="0">
              <a:buNone/>
            </a:pPr>
            <a:endParaRPr lang="en-US" sz="3200" dirty="0"/>
          </a:p>
          <a:p>
            <a:pPr lvl="3" algn="just">
              <a:buFont typeface="Wingdings" pitchFamily="2" charset="2"/>
              <a:buChar char="v"/>
            </a:pPr>
            <a:r>
              <a:rPr lang="en-US" sz="2800" b="1" dirty="0"/>
              <a:t>Statelessness  </a:t>
            </a:r>
            <a:r>
              <a:rPr lang="en-US" sz="2800" b="1" dirty="0">
                <a:sym typeface="Wingdings"/>
              </a:rPr>
              <a:t></a:t>
            </a:r>
            <a:r>
              <a:rPr lang="en-US" sz="2800" dirty="0"/>
              <a:t> not considered as a national by any state under the operation of its law</a:t>
            </a:r>
            <a:r>
              <a:rPr lang="en-US" sz="2800" b="1" dirty="0"/>
              <a:t> 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Tips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219200"/>
            <a:ext cx="8991600" cy="490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Basic Differences between State and Government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State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organization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 is more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inclusive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greater than government (organ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state is an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abstract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invisible entity while government is a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concrete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social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reality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State is more or less a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permanent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institution unless it is conquered and annexed by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some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other state while government is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temporary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subject to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frequent changes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State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universal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in character while government may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vary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from country to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country</a:t>
            </a:r>
          </a:p>
          <a:p>
            <a:pPr>
              <a:buFont typeface="Wingdings" pitchFamily="2" charset="2"/>
              <a:buChar char="v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85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63000" cy="53340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 smtClean="0"/>
              <a:t>True/‘False.</a:t>
            </a:r>
            <a:endParaRPr lang="en-US" b="1" dirty="0"/>
          </a:p>
          <a:p>
            <a:pPr marL="0" indent="0" algn="just">
              <a:buNone/>
            </a:pPr>
            <a:r>
              <a:rPr lang="en-US" dirty="0" smtClean="0"/>
              <a:t>1</a:t>
            </a:r>
            <a:r>
              <a:rPr lang="en-US" dirty="0"/>
              <a:t>.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The principle of jus soli gives a child the citizenship of his /her parents</a:t>
            </a:r>
          </a:p>
          <a:p>
            <a:pPr marL="0" indent="0" algn="just">
              <a:buNone/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2.The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Ethiopian law of citizenship is based on the principle of jus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sanguinis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. The way of acquiring citizenship is determined by international laws.</a:t>
            </a:r>
          </a:p>
          <a:p>
            <a:pPr marL="0" indent="0" algn="just">
              <a:buNone/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. The 2003 nationality law of Ethiopia prohibits dual citizenship. </a:t>
            </a:r>
          </a:p>
          <a:p>
            <a:pPr marL="0" indent="0" algn="just">
              <a:buNone/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. According to the 2003 nationality law of Ethiopia, a foreigner must be able to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Communicate in Amharic to apply for Ethiopian citizenship</a:t>
            </a:r>
          </a:p>
        </p:txBody>
      </p:sp>
    </p:spTree>
    <p:extLst>
      <p:ext uri="{BB962C8B-B14F-4D97-AF65-F5344CB8AC3E}">
        <p14:creationId xmlns:p14="http://schemas.microsoft.com/office/powerpoint/2010/main" val="4273266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Authority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Legitimacy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enables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government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perform its functions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7. According to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Hobbes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’ view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democratic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state is needed to bring stability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59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sz="3200" b="1" dirty="0"/>
              <a:t>Chapter Five:</a:t>
            </a:r>
            <a:br>
              <a:rPr lang="en-US" sz="3200" b="1" dirty="0"/>
            </a:br>
            <a:r>
              <a:rPr lang="en-US" sz="3200" b="1" dirty="0"/>
              <a:t> Constitution, Democracy and Human Rights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>
              <a:buNone/>
            </a:pPr>
            <a:r>
              <a:rPr lang="en-US" sz="3200" b="1" u="sng" dirty="0"/>
              <a:t>Constitution</a:t>
            </a:r>
          </a:p>
          <a:p>
            <a:pPr lvl="2">
              <a:buFont typeface="Wingdings" pitchFamily="2" charset="2"/>
              <a:buChar char="ü"/>
            </a:pPr>
            <a:r>
              <a:rPr lang="en-US" sz="3200" dirty="0"/>
              <a:t> fundamental or basic law of a state (supreme law of a land)</a:t>
            </a:r>
          </a:p>
          <a:p>
            <a:pPr lvl="2">
              <a:buFont typeface="Wingdings" pitchFamily="2" charset="2"/>
              <a:buChar char="ü"/>
            </a:pPr>
            <a:r>
              <a:rPr lang="en-US" sz="3200" dirty="0"/>
              <a:t> collection of principles, rules and laws</a:t>
            </a:r>
          </a:p>
          <a:p>
            <a:pPr lvl="2">
              <a:buFont typeface="Wingdings" pitchFamily="2" charset="2"/>
              <a:buChar char="ü"/>
            </a:pPr>
            <a:r>
              <a:rPr lang="en-US" sz="3200" dirty="0"/>
              <a:t> the mothers of all laws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Peculiar Features of Constitution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UcPeriod"/>
            </a:pPr>
            <a:r>
              <a:rPr lang="en-US" dirty="0"/>
              <a:t>Generality</a:t>
            </a:r>
          </a:p>
          <a:p>
            <a:pPr marL="514350" indent="-514350">
              <a:buAutoNum type="alphaUcPeriod"/>
            </a:pPr>
            <a:r>
              <a:rPr lang="en-US" dirty="0"/>
              <a:t> Permanency</a:t>
            </a:r>
          </a:p>
          <a:p>
            <a:pPr marL="514350" indent="-514350">
              <a:buAutoNum type="alphaUcPeriod"/>
            </a:pPr>
            <a:r>
              <a:rPr lang="en-US" dirty="0"/>
              <a:t> Supremacy</a:t>
            </a:r>
          </a:p>
          <a:p>
            <a:pPr marL="514350" indent="-514350">
              <a:buAutoNum type="alphaUcPeriod"/>
            </a:pPr>
            <a:r>
              <a:rPr lang="en-US" dirty="0"/>
              <a:t> Codified document</a:t>
            </a:r>
          </a:p>
          <a:p>
            <a:pPr marL="514350" indent="-514350">
              <a:buAutoNum type="alphaUcPeriod"/>
            </a:pPr>
            <a:r>
              <a:rPr lang="en-US" dirty="0"/>
              <a:t> Allocation of powers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Major Purposes and Functions of Constitution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 serves as a framework for Government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Limits the Powers of Government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protects individual and collective rights of citizens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serves as the Supreme (Highest) Law of a Country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provides Government legitimacy/stability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Blue Prints for establishing Values and Goals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Classification of Constitutions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915400" cy="4525963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lphaUcPeriod"/>
            </a:pPr>
            <a:r>
              <a:rPr lang="en-US" b="1" dirty="0"/>
              <a:t>Constitution based on form/appearance </a:t>
            </a:r>
          </a:p>
          <a:p>
            <a:pPr marL="914400" lvl="1" indent="-514350">
              <a:buFont typeface="Wingdings" pitchFamily="2" charset="2"/>
              <a:buChar char="ü"/>
            </a:pPr>
            <a:r>
              <a:rPr lang="en-US" b="1" dirty="0"/>
              <a:t> </a:t>
            </a:r>
            <a:r>
              <a:rPr lang="en-US" dirty="0"/>
              <a:t>Written Constitution</a:t>
            </a:r>
          </a:p>
          <a:p>
            <a:pPr marL="914400" lvl="1" indent="-514350">
              <a:buFont typeface="Wingdings" pitchFamily="2" charset="2"/>
              <a:buChar char="ü"/>
            </a:pPr>
            <a:r>
              <a:rPr lang="en-US" dirty="0"/>
              <a:t>Unwritten Constitution     </a:t>
            </a:r>
          </a:p>
          <a:p>
            <a:pPr marL="514350" indent="-514350">
              <a:buNone/>
            </a:pPr>
            <a:r>
              <a:rPr lang="en-US" b="1" dirty="0"/>
              <a:t>B. Constitution based on complexity of amending process</a:t>
            </a:r>
          </a:p>
          <a:p>
            <a:pPr marL="1314450" lvl="2" indent="-514350">
              <a:buFont typeface="Wingdings" pitchFamily="2" charset="2"/>
              <a:buChar char="Ø"/>
            </a:pPr>
            <a:r>
              <a:rPr lang="en-US" dirty="0"/>
              <a:t> Rigid Constitution</a:t>
            </a:r>
          </a:p>
          <a:p>
            <a:pPr marL="1314450" lvl="2" indent="-514350">
              <a:buFont typeface="Wingdings" pitchFamily="2" charset="2"/>
              <a:buChar char="Ø"/>
            </a:pPr>
            <a:r>
              <a:rPr lang="en-US" dirty="0"/>
              <a:t> Flexible Constitution</a:t>
            </a:r>
          </a:p>
          <a:p>
            <a:pPr marL="514350" indent="-514350">
              <a:buNone/>
            </a:pPr>
            <a:r>
              <a:rPr lang="en-US" b="1" dirty="0"/>
              <a:t>C. Constitution based on degree of practice</a:t>
            </a:r>
          </a:p>
          <a:p>
            <a:pPr marL="1771650" lvl="3" indent="-514350">
              <a:buFont typeface="Wingdings" pitchFamily="2" charset="2"/>
              <a:buChar char="q"/>
            </a:pPr>
            <a:r>
              <a:rPr lang="en-US" dirty="0"/>
              <a:t>Effective Constitution</a:t>
            </a:r>
          </a:p>
          <a:p>
            <a:pPr marL="1771650" lvl="3" indent="-514350">
              <a:buFont typeface="Wingdings" pitchFamily="2" charset="2"/>
              <a:buChar char="q"/>
            </a:pPr>
            <a:r>
              <a:rPr lang="en-US" dirty="0"/>
              <a:t> Nominal constitution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buFont typeface="Wingdings" pitchFamily="2" charset="2"/>
              <a:buChar char="Ø"/>
            </a:pPr>
            <a:endParaRPr lang="en-US" dirty="0"/>
          </a:p>
          <a:p>
            <a:pPr lvl="1">
              <a:buNone/>
            </a:pPr>
            <a:r>
              <a:rPr lang="en-US" sz="3600" b="1" dirty="0"/>
              <a:t>D. Based on the kind of state structure</a:t>
            </a:r>
            <a:endParaRPr lang="en-US" sz="3600" dirty="0"/>
          </a:p>
          <a:p>
            <a:pPr lvl="2">
              <a:buFont typeface="Wingdings" pitchFamily="2" charset="2"/>
              <a:buChar char="Ø"/>
            </a:pPr>
            <a:r>
              <a:rPr lang="en-US" dirty="0"/>
              <a:t>  </a:t>
            </a:r>
            <a:r>
              <a:rPr lang="en-US" sz="3200" dirty="0"/>
              <a:t>Federal Constitution</a:t>
            </a:r>
          </a:p>
          <a:p>
            <a:pPr lvl="2">
              <a:buFont typeface="Wingdings" pitchFamily="2" charset="2"/>
              <a:buChar char="Ø"/>
            </a:pPr>
            <a:r>
              <a:rPr lang="en-US" sz="3200" dirty="0"/>
              <a:t> Unitary </a:t>
            </a:r>
            <a:r>
              <a:rPr lang="en-US" sz="3200" dirty="0" smtClean="0"/>
              <a:t>Constitution</a:t>
            </a:r>
          </a:p>
          <a:p>
            <a:pPr marL="514350" lvl="1" indent="0">
              <a:buNone/>
            </a:pPr>
            <a:r>
              <a:rPr lang="en-US" sz="3600" dirty="0" smtClean="0"/>
              <a:t>E. Based on where and How established</a:t>
            </a:r>
          </a:p>
          <a:p>
            <a:pPr lvl="3">
              <a:buFont typeface="Wingdings" pitchFamily="2" charset="2"/>
              <a:buChar char="Ø"/>
            </a:pPr>
            <a:r>
              <a:rPr lang="en-US" sz="2800" dirty="0"/>
              <a:t>Indigenous Constitution</a:t>
            </a:r>
            <a:endParaRPr lang="en-US" sz="2800" dirty="0" smtClean="0"/>
          </a:p>
          <a:p>
            <a:pPr lvl="3">
              <a:buFont typeface="Wingdings" pitchFamily="2" charset="2"/>
              <a:buChar char="Ø"/>
            </a:pPr>
            <a:r>
              <a:rPr lang="en-US" sz="2800" smtClean="0"/>
              <a:t>Emulated  Constitution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Constitutionalism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47800"/>
            <a:ext cx="8915400" cy="4678363"/>
          </a:xfrm>
        </p:spPr>
        <p:txBody>
          <a:bodyPr/>
          <a:lstStyle/>
          <a:p>
            <a:pPr algn="just">
              <a:buFont typeface="Wingdings" pitchFamily="2" charset="2"/>
              <a:buChar char="q"/>
            </a:pPr>
            <a:r>
              <a:rPr lang="en-US" dirty="0"/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doctrine that governments should be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faithful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their constitutions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belief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that constitution is the best arrangement of affairs in a society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desires a political order in which the powers of the government are limited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does not merely require the existence of constitution.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The Constitutional Experience of Ethiopia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4525963"/>
          </a:xfrm>
        </p:spPr>
        <p:txBody>
          <a:bodyPr>
            <a:normAutofit fontScale="92500" lnSpcReduction="10000"/>
          </a:bodyPr>
          <a:lstStyle/>
          <a:p>
            <a:pPr marL="971550" lvl="1" indent="-514350">
              <a:buAutoNum type="arabicPeriod"/>
            </a:pPr>
            <a:r>
              <a:rPr lang="en-US" b="1" dirty="0"/>
              <a:t>Traditional Constitution (Pre- 1931) </a:t>
            </a:r>
          </a:p>
          <a:p>
            <a:pPr marL="1371600" lvl="2" indent="-514350">
              <a:buFont typeface="Wingdings" pitchFamily="2" charset="2"/>
              <a:buChar char="ü"/>
            </a:pPr>
            <a:r>
              <a:rPr lang="en-US" dirty="0" err="1"/>
              <a:t>Fetha</a:t>
            </a:r>
            <a:r>
              <a:rPr lang="en-US" dirty="0"/>
              <a:t> </a:t>
            </a:r>
            <a:r>
              <a:rPr lang="en-US" dirty="0" err="1"/>
              <a:t>Negest</a:t>
            </a:r>
            <a:r>
              <a:rPr lang="en-US" dirty="0"/>
              <a:t> (</a:t>
            </a:r>
            <a:r>
              <a:rPr lang="en-US" i="1" dirty="0"/>
              <a:t>The Law of Kings</a:t>
            </a:r>
            <a:r>
              <a:rPr lang="en-US" dirty="0"/>
              <a:t>)                    </a:t>
            </a:r>
            <a:r>
              <a:rPr lang="en-US" sz="4000" b="1" dirty="0"/>
              <a:t> </a:t>
            </a:r>
            <a:r>
              <a:rPr lang="en-US" sz="4000" b="1" dirty="0">
                <a:sym typeface="Wingdings"/>
              </a:rPr>
              <a:t></a:t>
            </a:r>
            <a:endParaRPr lang="en-US" sz="4000" b="1" dirty="0"/>
          </a:p>
          <a:p>
            <a:pPr marL="1371600" lvl="2" indent="-514350"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dirty="0" err="1"/>
              <a:t>Kibre</a:t>
            </a:r>
            <a:r>
              <a:rPr lang="en-US" dirty="0"/>
              <a:t> </a:t>
            </a:r>
            <a:r>
              <a:rPr lang="en-US" dirty="0" err="1"/>
              <a:t>Negest</a:t>
            </a:r>
            <a:r>
              <a:rPr lang="en-US" dirty="0"/>
              <a:t> (</a:t>
            </a:r>
            <a:r>
              <a:rPr lang="en-US" i="1" dirty="0"/>
              <a:t>The Glory of Kings</a:t>
            </a:r>
            <a:r>
              <a:rPr lang="en-US" dirty="0"/>
              <a:t>) 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dirty="0" err="1"/>
              <a:t>Ser’ate</a:t>
            </a:r>
            <a:r>
              <a:rPr lang="en-US" dirty="0"/>
              <a:t> </a:t>
            </a:r>
            <a:r>
              <a:rPr lang="en-US" dirty="0" err="1"/>
              <a:t>Mengist</a:t>
            </a:r>
            <a:r>
              <a:rPr lang="en-US" dirty="0"/>
              <a:t> </a:t>
            </a:r>
            <a:r>
              <a:rPr lang="en-US" sz="19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sz="19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Principle, protocol/Regulation of Kings</a:t>
            </a:r>
            <a:r>
              <a:rPr lang="en-US" sz="19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/>
          </a:p>
          <a:p>
            <a:pPr marL="971550" lvl="1" indent="-514350">
              <a:buNone/>
            </a:pPr>
            <a:r>
              <a:rPr lang="en-US" b="1" dirty="0"/>
              <a:t>2. Modern constitution (post-1931</a:t>
            </a:r>
          </a:p>
          <a:p>
            <a:pPr marL="1371600" lvl="2" indent="-514350">
              <a:buFont typeface="Wingdings" pitchFamily="2" charset="2"/>
              <a:buChar char="Ø"/>
            </a:pPr>
            <a:r>
              <a:rPr lang="en-US" dirty="0"/>
              <a:t>The 1931 First Written Constitution</a:t>
            </a:r>
          </a:p>
          <a:p>
            <a:pPr marL="1371600" lvl="2" indent="-514350">
              <a:buFont typeface="Wingdings" pitchFamily="2" charset="2"/>
              <a:buChar char="Ø"/>
            </a:pPr>
            <a:r>
              <a:rPr lang="en-US" dirty="0"/>
              <a:t> The Revised Constitution of 1955 </a:t>
            </a:r>
          </a:p>
          <a:p>
            <a:pPr marL="1371600" lvl="2" indent="-514350">
              <a:buFont typeface="Wingdings" pitchFamily="2" charset="2"/>
              <a:buChar char="Ø"/>
            </a:pPr>
            <a:r>
              <a:rPr lang="en-US" dirty="0"/>
              <a:t>The 1987 Constitution of People’s Democratic Republic Ethiopia (PDRE) </a:t>
            </a:r>
          </a:p>
          <a:p>
            <a:pPr marL="1371600" lvl="2" indent="-514350">
              <a:buFont typeface="Wingdings" pitchFamily="2" charset="2"/>
              <a:buChar char="Ø"/>
            </a:pPr>
            <a:r>
              <a:rPr lang="en-US" dirty="0"/>
              <a:t> The 1995 (FDRE) Constitution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7543800" y="990600"/>
            <a:ext cx="1828800" cy="2895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</a:t>
            </a:r>
            <a:r>
              <a:rPr lang="en-US" b="1" dirty="0"/>
              <a:t>based on;-</a:t>
            </a:r>
          </a:p>
          <a:p>
            <a:pPr marL="285750" indent="-285750" algn="ctr">
              <a:buFont typeface="Wingdings" pitchFamily="2" charset="2"/>
              <a:buChar char="ü"/>
            </a:pPr>
            <a:r>
              <a:rPr lang="en-US" dirty="0"/>
              <a:t>Tradition</a:t>
            </a:r>
          </a:p>
          <a:p>
            <a:pPr marL="285750" indent="-285750" algn="ctr">
              <a:buFont typeface="Wingdings" pitchFamily="2" charset="2"/>
              <a:buChar char="ü"/>
            </a:pPr>
            <a:r>
              <a:rPr lang="en-US" dirty="0"/>
              <a:t>Customs</a:t>
            </a:r>
          </a:p>
          <a:p>
            <a:pPr algn="ctr"/>
            <a:r>
              <a:rPr lang="en-US" b="1" dirty="0"/>
              <a:t>Characterized by:</a:t>
            </a:r>
          </a:p>
          <a:p>
            <a:pPr marL="285750" indent="-285750" algn="ctr">
              <a:buFont typeface="Wingdings" pitchFamily="2" charset="2"/>
              <a:buChar char="v"/>
            </a:pPr>
            <a:r>
              <a:rPr lang="en-US" dirty="0"/>
              <a:t>Myths</a:t>
            </a:r>
          </a:p>
          <a:p>
            <a:pPr marL="285750" indent="-285750" algn="ctr">
              <a:buFont typeface="Wingdings" pitchFamily="2" charset="2"/>
              <a:buChar char="v"/>
            </a:pPr>
            <a:r>
              <a:rPr lang="en-US" dirty="0" err="1"/>
              <a:t>Legendes</a:t>
            </a:r>
            <a:endParaRPr lang="en-US" dirty="0"/>
          </a:p>
          <a:p>
            <a:pPr algn="ctr"/>
            <a:r>
              <a:rPr lang="en-US" b="1" dirty="0"/>
              <a:t>Revolve around</a:t>
            </a:r>
            <a:r>
              <a:rPr lang="en-US" dirty="0"/>
              <a:t>:</a:t>
            </a:r>
          </a:p>
          <a:p>
            <a:pPr marL="285750" indent="-285750" algn="ctr">
              <a:buFont typeface="Wingdings" pitchFamily="2" charset="2"/>
              <a:buChar char="Ø"/>
            </a:pPr>
            <a:r>
              <a:rPr lang="en-US" dirty="0"/>
              <a:t>Divine rights of kings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 fontScale="90000"/>
          </a:bodyPr>
          <a:lstStyle/>
          <a:p>
            <a:pPr marL="1371600" marR="0" lvl="2" indent="-51435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/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</a:b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 1931 First Written Constitution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</a:b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5105400"/>
          </a:xfrm>
        </p:spPr>
        <p:txBody>
          <a:bodyPr/>
          <a:lstStyle/>
          <a:p>
            <a:pPr lvl="0">
              <a:buFont typeface="Wingdings" pitchFamily="2" charset="2"/>
              <a:buChar char="ü"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first written 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constitution</a:t>
            </a:r>
          </a:p>
          <a:p>
            <a:pPr lvl="0">
              <a:buFont typeface="Wingdings" pitchFamily="2" charset="2"/>
              <a:buChar char="ü"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Founded upon the very idea of the </a:t>
            </a:r>
            <a:r>
              <a:rPr lang="en-US" sz="24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divine rights of kings</a:t>
            </a:r>
          </a:p>
          <a:p>
            <a:pPr lvl="0">
              <a:buFont typeface="Wingdings" pitchFamily="2" charset="2"/>
              <a:buChar char="ü"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King was represented as the representative of God =‘</a:t>
            </a:r>
            <a:r>
              <a:rPr lang="en-US" sz="24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Niguse</a:t>
            </a:r>
            <a:r>
              <a:rPr lang="en-US" sz="24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Negist</a:t>
            </a:r>
            <a:r>
              <a:rPr lang="en-US" sz="24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seyume</a:t>
            </a:r>
            <a:r>
              <a:rPr lang="en-US" sz="24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Egziabher</a:t>
            </a:r>
            <a:r>
              <a:rPr lang="en-US" sz="24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’’</a:t>
            </a:r>
          </a:p>
          <a:p>
            <a:pPr lvl="0">
              <a:buFont typeface="Wingdings" pitchFamily="2" charset="2"/>
              <a:buChar char="ü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intended to give </a:t>
            </a:r>
            <a:r>
              <a:rPr lang="en-US" sz="24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Ethiopia the image of “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modernity</a:t>
            </a:r>
            <a:r>
              <a:rPr lang="en-US" sz="24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lvl="0">
              <a:buFont typeface="Wingdings" pitchFamily="2" charset="2"/>
              <a:buChar char="ü"/>
            </a:pPr>
            <a:r>
              <a:rPr lang="en-US" sz="24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Introduced to strengthen, &amp; centralize the absolute power of the Emperor </a:t>
            </a:r>
          </a:p>
          <a:p>
            <a:pPr lvl="0">
              <a:buFont typeface="Wingdings" pitchFamily="2" charset="2"/>
              <a:buChar char="ü"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his dignity is inviolable /can’t challenged and his power was indisputable/unquestionable  Art.5</a:t>
            </a:r>
          </a:p>
          <a:p>
            <a:pPr lvl="0">
              <a:buFont typeface="Wingdings" pitchFamily="2" charset="2"/>
              <a:buChar char="ü"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supreme power rests in the hands of the Emperor</a:t>
            </a:r>
            <a:endParaRPr lang="en-US" sz="24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8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prstClr val="black"/>
                </a:solidFill>
              </a:rPr>
              <a:t/>
            </a:r>
            <a:br>
              <a:rPr lang="en-US" sz="3200" b="1" dirty="0">
                <a:solidFill>
                  <a:prstClr val="black"/>
                </a:solidFill>
              </a:rPr>
            </a:br>
            <a:r>
              <a:rPr lang="en-US" sz="3200" b="1" dirty="0">
                <a:solidFill>
                  <a:prstClr val="black"/>
                </a:solidFill>
              </a:rPr>
              <a:t>The 1955 Revised Constitution</a:t>
            </a:r>
            <a:r>
              <a:rPr lang="en-US" sz="2400" dirty="0">
                <a:solidFill>
                  <a:prstClr val="black"/>
                </a:solidFill>
              </a:rPr>
              <a:t/>
            </a:r>
            <a:br>
              <a:rPr lang="en-US" sz="2400" dirty="0">
                <a:solidFill>
                  <a:prstClr val="black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334000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solidified the absolutism of the monarchy.  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detailed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document </a:t>
            </a:r>
          </a:p>
          <a:p>
            <a:pPr lvl="1">
              <a:buNone/>
            </a:pPr>
            <a:r>
              <a:rPr lang="en-US" sz="2400" b="1" u="sng" dirty="0">
                <a:solidFill>
                  <a:prstClr val="black"/>
                </a:solidFill>
              </a:rPr>
              <a:t>Reasons for the 1955 constitution</a:t>
            </a:r>
          </a:p>
          <a:p>
            <a:pPr lvl="0">
              <a:buFont typeface="Wingdings" pitchFamily="2" charset="2"/>
              <a:buChar char="ü"/>
            </a:pPr>
            <a:r>
              <a:rPr lang="en-US" dirty="0">
                <a:solidFill>
                  <a:prstClr val="black"/>
                </a:solidFill>
              </a:rPr>
              <a:t>The federation of Eritrea under the sovereign of Ethiopia in 1952</a:t>
            </a:r>
            <a:endParaRPr lang="en-US" sz="2800" dirty="0">
              <a:solidFill>
                <a:prstClr val="black"/>
              </a:solidFill>
            </a:endParaRPr>
          </a:p>
          <a:p>
            <a:pPr lvl="0">
              <a:buFont typeface="Wingdings" pitchFamily="2" charset="2"/>
              <a:buChar char="ü"/>
            </a:pPr>
            <a:r>
              <a:rPr lang="en-US" dirty="0">
                <a:solidFill>
                  <a:prstClr val="black"/>
                </a:solidFill>
              </a:rPr>
              <a:t>The emperor’s desire to settle peace with the then socio-economic and political turmoil</a:t>
            </a:r>
          </a:p>
          <a:p>
            <a:pPr lvl="0">
              <a:buFont typeface="Wingdings" pitchFamily="2" charset="2"/>
              <a:buChar char="ü"/>
            </a:pP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prstClr val="black"/>
                </a:solidFill>
              </a:rPr>
              <a:t>The strong pressure came from Ethiopian young intellectuals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983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prstClr val="black"/>
                </a:solidFill>
              </a:rPr>
              <a:t>1987 Constitution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763000" cy="5257800"/>
          </a:xfrm>
        </p:spPr>
        <p:txBody>
          <a:bodyPr>
            <a:normAutofit/>
          </a:bodyPr>
          <a:lstStyle/>
          <a:p>
            <a:pPr lvl="1">
              <a:buFont typeface="Wingdings" pitchFamily="2" charset="2"/>
              <a:buChar char="v"/>
            </a:pPr>
            <a:r>
              <a:rPr lang="en-US" sz="2000" b="1" dirty="0">
                <a:solidFill>
                  <a:prstClr val="black"/>
                </a:solidFill>
              </a:rPr>
              <a:t>Different resistance(struggles) were face Emperor</a:t>
            </a:r>
          </a:p>
          <a:p>
            <a:pPr lvl="2">
              <a:buFont typeface="Wingdings" pitchFamily="2" charset="2"/>
              <a:buChar char="ü"/>
            </a:pPr>
            <a:r>
              <a:rPr lang="en-US" sz="1600" b="1" dirty="0">
                <a:solidFill>
                  <a:prstClr val="black"/>
                </a:solidFill>
              </a:rPr>
              <a:t>Student movements (land to the tiller)</a:t>
            </a:r>
          </a:p>
          <a:p>
            <a:pPr lvl="2">
              <a:buFont typeface="Wingdings" pitchFamily="2" charset="2"/>
              <a:buChar char="ü"/>
            </a:pPr>
            <a:r>
              <a:rPr lang="en-US" sz="1600" dirty="0">
                <a:solidFill>
                  <a:prstClr val="black"/>
                </a:solidFill>
              </a:rPr>
              <a:t>Peasants rebellions</a:t>
            </a:r>
          </a:p>
          <a:p>
            <a:pPr lvl="2">
              <a:buFont typeface="Wingdings" pitchFamily="2" charset="2"/>
              <a:buChar char="ü"/>
            </a:pPr>
            <a:r>
              <a:rPr lang="en-US" sz="1600" dirty="0">
                <a:solidFill>
                  <a:prstClr val="black"/>
                </a:solidFill>
              </a:rPr>
              <a:t>Teachers, taxi drivers </a:t>
            </a:r>
            <a:r>
              <a:rPr lang="en-US" sz="1600" dirty="0" err="1">
                <a:solidFill>
                  <a:prstClr val="black"/>
                </a:solidFill>
              </a:rPr>
              <a:t>etc</a:t>
            </a:r>
            <a:endParaRPr lang="en-US" sz="1600" dirty="0">
              <a:solidFill>
                <a:prstClr val="black"/>
              </a:solidFill>
            </a:endParaRPr>
          </a:p>
          <a:p>
            <a:pPr lvl="0">
              <a:buFont typeface="Wingdings" pitchFamily="2" charset="2"/>
              <a:buChar char="q"/>
            </a:pPr>
            <a:r>
              <a:rPr lang="en-US" sz="2400" dirty="0">
                <a:solidFill>
                  <a:prstClr val="black"/>
                </a:solidFill>
              </a:rPr>
              <a:t>Known as </a:t>
            </a:r>
            <a:r>
              <a:rPr lang="en-US" sz="2400" b="1" dirty="0">
                <a:solidFill>
                  <a:prstClr val="black"/>
                </a:solidFill>
              </a:rPr>
              <a:t>PDRE</a:t>
            </a:r>
            <a:r>
              <a:rPr lang="en-US" sz="2400" dirty="0">
                <a:solidFill>
                  <a:prstClr val="black"/>
                </a:solidFill>
              </a:rPr>
              <a:t> Constitution</a:t>
            </a:r>
          </a:p>
          <a:p>
            <a:pPr lvl="0">
              <a:buFont typeface="Wingdings" pitchFamily="2" charset="2"/>
              <a:buChar char="q"/>
            </a:pPr>
            <a:r>
              <a:rPr lang="en-US" sz="2400" dirty="0">
                <a:solidFill>
                  <a:prstClr val="black"/>
                </a:solidFill>
              </a:rPr>
              <a:t>consisted of 17 chapters and 119 articles</a:t>
            </a:r>
          </a:p>
          <a:p>
            <a:pPr lvl="0">
              <a:buFont typeface="Wingdings" pitchFamily="2" charset="2"/>
              <a:buChar char="q"/>
            </a:pPr>
            <a:r>
              <a:rPr lang="en-US" sz="2400" dirty="0">
                <a:solidFill>
                  <a:prstClr val="black"/>
                </a:solidFill>
              </a:rPr>
              <a:t>conferred ultimate state power on the </a:t>
            </a:r>
            <a:r>
              <a:rPr lang="en-US" sz="2400" b="1" dirty="0">
                <a:solidFill>
                  <a:prstClr val="black"/>
                </a:solidFill>
              </a:rPr>
              <a:t>National </a:t>
            </a:r>
            <a:r>
              <a:rPr lang="en-US" sz="2400" b="1" dirty="0" err="1">
                <a:solidFill>
                  <a:prstClr val="black"/>
                </a:solidFill>
              </a:rPr>
              <a:t>Shengo</a:t>
            </a:r>
            <a:endParaRPr lang="en-US" sz="2400" b="1" dirty="0">
              <a:solidFill>
                <a:prstClr val="black"/>
              </a:solidFill>
            </a:endParaRPr>
          </a:p>
          <a:p>
            <a:pPr lvl="0">
              <a:buFont typeface="Wingdings" pitchFamily="2" charset="2"/>
              <a:buChar char="q"/>
            </a:pPr>
            <a:r>
              <a:rPr lang="en-US" sz="2400" dirty="0">
                <a:solidFill>
                  <a:prstClr val="black"/>
                </a:solidFill>
              </a:rPr>
              <a:t>endorses a </a:t>
            </a:r>
            <a:r>
              <a:rPr lang="en-US" sz="2400" b="1" dirty="0">
                <a:solidFill>
                  <a:prstClr val="black"/>
                </a:solidFill>
              </a:rPr>
              <a:t>unicameral</a:t>
            </a:r>
            <a:r>
              <a:rPr lang="en-US" sz="2400" dirty="0">
                <a:solidFill>
                  <a:prstClr val="black"/>
                </a:solidFill>
              </a:rPr>
              <a:t> parliament</a:t>
            </a:r>
          </a:p>
          <a:p>
            <a:pPr lvl="0">
              <a:buFont typeface="Wingdings" pitchFamily="2" charset="2"/>
              <a:buChar char="q"/>
            </a:pPr>
            <a:r>
              <a:rPr lang="en-US" sz="2400" b="1" dirty="0">
                <a:solidFill>
                  <a:prstClr val="black"/>
                </a:solidFill>
              </a:rPr>
              <a:t>Workers Party of Ethiopia </a:t>
            </a:r>
            <a:r>
              <a:rPr lang="en-US" sz="2400" dirty="0">
                <a:solidFill>
                  <a:prstClr val="black"/>
                </a:solidFill>
              </a:rPr>
              <a:t>was a </a:t>
            </a:r>
            <a:r>
              <a:rPr lang="en-US" sz="2400" b="1" dirty="0">
                <a:solidFill>
                  <a:prstClr val="black"/>
                </a:solidFill>
              </a:rPr>
              <a:t>single-party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</a:p>
          <a:p>
            <a:pPr lvl="0">
              <a:buFont typeface="Wingdings" pitchFamily="2" charset="2"/>
              <a:buChar char="q"/>
            </a:pPr>
            <a:r>
              <a:rPr lang="en-US" sz="2400" b="1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prstClr val="black"/>
                </a:solidFill>
              </a:rPr>
              <a:t>Practically it </a:t>
            </a:r>
            <a:r>
              <a:rPr lang="en-US" sz="2400" b="1" dirty="0">
                <a:solidFill>
                  <a:prstClr val="black"/>
                </a:solidFill>
              </a:rPr>
              <a:t>was dictator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23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prstClr val="black"/>
                </a:solidFill>
              </a:rPr>
              <a:t>The FDRE 1995 Constitution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4830763"/>
          </a:xfrm>
        </p:spPr>
        <p:txBody>
          <a:bodyPr/>
          <a:lstStyle/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prstClr val="black"/>
                </a:solidFill>
              </a:rPr>
              <a:t>affirms that the </a:t>
            </a:r>
            <a:r>
              <a:rPr lang="en-US" sz="2200" b="1" dirty="0">
                <a:solidFill>
                  <a:prstClr val="black"/>
                </a:solidFill>
              </a:rPr>
              <a:t>peoples of Ethiopia </a:t>
            </a:r>
            <a:r>
              <a:rPr lang="en-US" sz="2200" dirty="0">
                <a:solidFill>
                  <a:prstClr val="black"/>
                </a:solidFill>
              </a:rPr>
              <a:t>are the </a:t>
            </a:r>
            <a:r>
              <a:rPr lang="en-US" sz="2200" b="1" dirty="0">
                <a:solidFill>
                  <a:prstClr val="black"/>
                </a:solidFill>
              </a:rPr>
              <a:t>source of sovereignty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prstClr val="black"/>
                </a:solidFill>
              </a:rPr>
              <a:t>Declares the right of </a:t>
            </a:r>
            <a:r>
              <a:rPr lang="en-US" sz="2200" b="1" dirty="0">
                <a:solidFill>
                  <a:prstClr val="black"/>
                </a:solidFill>
              </a:rPr>
              <a:t>self-administration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prstClr val="black"/>
                </a:solidFill>
              </a:rPr>
              <a:t>established a </a:t>
            </a:r>
            <a:r>
              <a:rPr lang="en-US" sz="2200" b="1" dirty="0">
                <a:solidFill>
                  <a:prstClr val="black"/>
                </a:solidFill>
              </a:rPr>
              <a:t>federal</a:t>
            </a:r>
            <a:r>
              <a:rPr lang="en-US" sz="2200" dirty="0">
                <a:solidFill>
                  <a:prstClr val="black"/>
                </a:solidFill>
              </a:rPr>
              <a:t>  and </a:t>
            </a:r>
            <a:r>
              <a:rPr lang="en-US" sz="2200" b="1" dirty="0">
                <a:solidFill>
                  <a:prstClr val="black"/>
                </a:solidFill>
              </a:rPr>
              <a:t>parliamentary </a:t>
            </a:r>
            <a:r>
              <a:rPr lang="en-US" sz="2200" dirty="0">
                <a:solidFill>
                  <a:prstClr val="black"/>
                </a:solidFill>
              </a:rPr>
              <a:t>system comprising of nine member states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66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Democracy and Democratization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458200" cy="5029200"/>
          </a:xfrm>
        </p:spPr>
        <p:txBody>
          <a:bodyPr>
            <a:normAutofit/>
          </a:bodyPr>
          <a:lstStyle/>
          <a:p>
            <a:pPr lvl="3">
              <a:buNone/>
            </a:pPr>
            <a:r>
              <a:rPr lang="en-US" sz="3200" b="1" dirty="0"/>
              <a:t>Democracy</a:t>
            </a:r>
            <a:endParaRPr lang="en-US" sz="3200" dirty="0"/>
          </a:p>
          <a:p>
            <a:pPr lvl="0">
              <a:buFont typeface="Wingdings" pitchFamily="2" charset="2"/>
              <a:buChar char="q"/>
            </a:pPr>
            <a:r>
              <a:rPr lang="en-US" sz="2400" dirty="0">
                <a:solidFill>
                  <a:prstClr val="black"/>
                </a:solidFill>
              </a:rPr>
              <a:t>Etymologically,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solidFill>
                  <a:prstClr val="black"/>
                </a:solidFill>
              </a:rPr>
              <a:t>the  term  ‘Democracy’  originated  from  </a:t>
            </a:r>
            <a:r>
              <a:rPr lang="en-US" sz="2000" b="1" dirty="0">
                <a:solidFill>
                  <a:prstClr val="black"/>
                </a:solidFill>
              </a:rPr>
              <a:t>two  Greek  </a:t>
            </a:r>
            <a:r>
              <a:rPr lang="en-US" sz="2000" dirty="0">
                <a:solidFill>
                  <a:prstClr val="black"/>
                </a:solidFill>
              </a:rPr>
              <a:t>words,  </a:t>
            </a:r>
          </a:p>
          <a:p>
            <a:pPr lvl="2">
              <a:buFont typeface="Wingdings" pitchFamily="2" charset="2"/>
              <a:buChar char="ü"/>
            </a:pPr>
            <a:r>
              <a:rPr lang="en-US" sz="1600" dirty="0">
                <a:solidFill>
                  <a:prstClr val="black"/>
                </a:solidFill>
              </a:rPr>
              <a:t>‘demos’   </a:t>
            </a:r>
          </a:p>
          <a:p>
            <a:pPr lvl="2">
              <a:buFont typeface="Wingdings" pitchFamily="2" charset="2"/>
              <a:buChar char="ü"/>
            </a:pPr>
            <a:r>
              <a:rPr lang="en-US" sz="1600" dirty="0">
                <a:solidFill>
                  <a:prstClr val="black"/>
                </a:solidFill>
              </a:rPr>
              <a:t> ‘</a:t>
            </a:r>
            <a:r>
              <a:rPr lang="en-US" sz="1600" dirty="0" err="1">
                <a:solidFill>
                  <a:prstClr val="black"/>
                </a:solidFill>
              </a:rPr>
              <a:t>kratos</a:t>
            </a:r>
            <a:r>
              <a:rPr lang="en-US" sz="1600" dirty="0">
                <a:solidFill>
                  <a:prstClr val="black"/>
                </a:solidFill>
              </a:rPr>
              <a:t>’ meaning </a:t>
            </a:r>
            <a:r>
              <a:rPr lang="en-US" sz="1600" b="1" dirty="0">
                <a:solidFill>
                  <a:prstClr val="black"/>
                </a:solidFill>
              </a:rPr>
              <a:t>people</a:t>
            </a:r>
            <a:r>
              <a:rPr lang="en-US" sz="1600" dirty="0">
                <a:solidFill>
                  <a:prstClr val="black"/>
                </a:solidFill>
              </a:rPr>
              <a:t> and </a:t>
            </a:r>
            <a:r>
              <a:rPr lang="en-US" sz="1600" b="1" dirty="0">
                <a:solidFill>
                  <a:prstClr val="black"/>
                </a:solidFill>
              </a:rPr>
              <a:t>rule</a:t>
            </a:r>
            <a:r>
              <a:rPr lang="en-US" sz="1600" dirty="0">
                <a:solidFill>
                  <a:prstClr val="black"/>
                </a:solidFill>
              </a:rPr>
              <a:t> respectively. </a:t>
            </a:r>
          </a:p>
          <a:p>
            <a:pPr lvl="0">
              <a:buFont typeface="Wingdings" pitchFamily="2" charset="2"/>
              <a:buChar char="q"/>
            </a:pPr>
            <a:r>
              <a:rPr lang="en-US" sz="2400" dirty="0">
                <a:solidFill>
                  <a:prstClr val="black"/>
                </a:solidFill>
              </a:rPr>
              <a:t>A </a:t>
            </a:r>
            <a:r>
              <a:rPr lang="en-US" sz="2400" b="1" dirty="0">
                <a:solidFill>
                  <a:prstClr val="black"/>
                </a:solidFill>
              </a:rPr>
              <a:t>form of government</a:t>
            </a:r>
            <a:r>
              <a:rPr lang="en-US" sz="2400" dirty="0">
                <a:solidFill>
                  <a:prstClr val="black"/>
                </a:solidFill>
              </a:rPr>
              <a:t>, which is conducted, with the </a:t>
            </a:r>
            <a:r>
              <a:rPr lang="en-US" sz="2400" b="1" dirty="0">
                <a:solidFill>
                  <a:prstClr val="black"/>
                </a:solidFill>
              </a:rPr>
              <a:t>free consent of the people</a:t>
            </a:r>
            <a:r>
              <a:rPr lang="en-US" sz="2400" dirty="0">
                <a:solidFill>
                  <a:prstClr val="black"/>
                </a:solidFill>
              </a:rPr>
              <a:t>. </a:t>
            </a:r>
          </a:p>
          <a:p>
            <a:pPr lvl="0">
              <a:buFont typeface="Wingdings" pitchFamily="2" charset="2"/>
              <a:buChar char="q"/>
            </a:pPr>
            <a:r>
              <a:rPr lang="en-US" sz="2400" dirty="0">
                <a:solidFill>
                  <a:prstClr val="black"/>
                </a:solidFill>
              </a:rPr>
              <a:t>A </a:t>
            </a:r>
            <a:r>
              <a:rPr lang="en-US" sz="2400" b="1" dirty="0">
                <a:solidFill>
                  <a:prstClr val="black"/>
                </a:solidFill>
              </a:rPr>
              <a:t>system of government </a:t>
            </a:r>
            <a:r>
              <a:rPr lang="en-US" sz="2400" dirty="0">
                <a:solidFill>
                  <a:prstClr val="black"/>
                </a:solidFill>
              </a:rPr>
              <a:t>in which supreme authority rests on the hand of people. </a:t>
            </a:r>
          </a:p>
          <a:p>
            <a:pPr lvl="0">
              <a:buFont typeface="Wingdings" pitchFamily="2" charset="2"/>
              <a:buChar char="q"/>
            </a:pPr>
            <a:r>
              <a:rPr lang="en-US" sz="2400" dirty="0">
                <a:solidFill>
                  <a:prstClr val="black"/>
                </a:solidFill>
              </a:rPr>
              <a:t>The government of the people, by the people, and for the people (</a:t>
            </a:r>
            <a:r>
              <a:rPr lang="en-US" sz="2400" b="1" dirty="0">
                <a:solidFill>
                  <a:prstClr val="black"/>
                </a:solidFill>
              </a:rPr>
              <a:t>Abraham Lincoln</a:t>
            </a:r>
            <a:r>
              <a:rPr lang="en-US" sz="2400" dirty="0">
                <a:solidFill>
                  <a:prstClr val="black"/>
                </a:solidFill>
              </a:rPr>
              <a:t>). 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prstClr val="black"/>
                </a:solidFill>
              </a:rPr>
              <a:t>Ways of exercising Democracy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pPr lvl="3">
              <a:buFont typeface="Wingdings" pitchFamily="2" charset="2"/>
              <a:buChar char="Ø"/>
            </a:pPr>
            <a:r>
              <a:rPr lang="en-US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Direct Democracy</a:t>
            </a:r>
          </a:p>
          <a:p>
            <a:pPr lvl="3">
              <a:buFont typeface="Wingdings" pitchFamily="2" charset="2"/>
              <a:buChar char="Ø"/>
            </a:pPr>
            <a:r>
              <a:rPr lang="en-US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Indirect Democracy (Representative Democracy) </a:t>
            </a:r>
          </a:p>
          <a:p>
            <a:pPr marL="1371600" lvl="3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8160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b="1" dirty="0">
                <a:solidFill>
                  <a:prstClr val="black"/>
                </a:solidFill>
                <a:ea typeface="+mn-ea"/>
                <a:cs typeface="+mn-cs"/>
              </a:rPr>
              <a:t> </a:t>
            </a:r>
            <a:r>
              <a:rPr lang="en-US" sz="3200" b="1" dirty="0">
                <a:solidFill>
                  <a:prstClr val="black"/>
                </a:solidFill>
                <a:ea typeface="+mn-ea"/>
                <a:cs typeface="+mn-cs"/>
              </a:rPr>
              <a:t>Principles of Democracy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295400"/>
            <a:ext cx="8915400" cy="5029200"/>
          </a:xfrm>
        </p:spPr>
        <p:txBody>
          <a:bodyPr>
            <a:normAutofit fontScale="92500" lnSpcReduction="20000"/>
          </a:bodyPr>
          <a:lstStyle/>
          <a:p>
            <a:pPr lvl="0">
              <a:buFont typeface="Wingdings" pitchFamily="2" charset="2"/>
              <a:buChar char="ü"/>
            </a:pPr>
            <a:r>
              <a:rPr lang="en-US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Sovereignty of the people /popular sovereignty/ </a:t>
            </a:r>
          </a:p>
          <a:p>
            <a:pPr lvl="0">
              <a:buFont typeface="Wingdings" pitchFamily="2" charset="2"/>
              <a:buChar char="ü"/>
            </a:pPr>
            <a:r>
              <a:rPr lang="en-US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Majority rule and minority rights </a:t>
            </a:r>
          </a:p>
          <a:p>
            <a:pPr lvl="0">
              <a:buFont typeface="Wingdings" pitchFamily="2" charset="2"/>
              <a:buChar char="ü"/>
            </a:pPr>
            <a:r>
              <a:rPr lang="en-US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Promoting human and democratic rights </a:t>
            </a:r>
          </a:p>
          <a:p>
            <a:pPr lvl="0">
              <a:buFont typeface="Wingdings" pitchFamily="2" charset="2"/>
              <a:buChar char="ü"/>
            </a:pPr>
            <a:r>
              <a:rPr lang="en-US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Free and fair election </a:t>
            </a:r>
          </a:p>
          <a:p>
            <a:pPr lvl="0">
              <a:buFont typeface="Wingdings" pitchFamily="2" charset="2"/>
              <a:buChar char="ü"/>
            </a:pPr>
            <a:r>
              <a:rPr lang="en-US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Constitutionally limited government </a:t>
            </a:r>
          </a:p>
          <a:p>
            <a:pPr lvl="0">
              <a:buFont typeface="Wingdings" pitchFamily="2" charset="2"/>
              <a:buChar char="ü"/>
            </a:pPr>
            <a:r>
              <a:rPr lang="en-US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Due process of law </a:t>
            </a:r>
          </a:p>
          <a:p>
            <a:pPr lvl="0">
              <a:buFont typeface="Wingdings" pitchFamily="2" charset="2"/>
              <a:buChar char="ü"/>
            </a:pPr>
            <a:r>
              <a:rPr lang="en-US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Multi-party system </a:t>
            </a:r>
          </a:p>
          <a:p>
            <a:pPr lvl="0">
              <a:buFont typeface="Wingdings" pitchFamily="2" charset="2"/>
              <a:buChar char="ü"/>
            </a:pPr>
            <a:r>
              <a:rPr lang="en-US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Equality before the law </a:t>
            </a:r>
          </a:p>
          <a:p>
            <a:pPr lvl="0">
              <a:buFont typeface="Wingdings" pitchFamily="2" charset="2"/>
              <a:buChar char="ü"/>
            </a:pPr>
            <a:r>
              <a:rPr lang="en-US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Tolerance of diversity</a:t>
            </a:r>
          </a:p>
          <a:p>
            <a:pPr lvl="0">
              <a:buFont typeface="Wingdings" pitchFamily="2" charset="2"/>
              <a:buChar char="ü"/>
            </a:pPr>
            <a:r>
              <a:rPr lang="en-US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The principles of Accountability and Transparency </a:t>
            </a:r>
          </a:p>
          <a:p>
            <a:pPr lvl="0">
              <a:buFont typeface="Wingdings" pitchFamily="2" charset="2"/>
              <a:buChar char="ü"/>
            </a:pPr>
            <a:r>
              <a:rPr lang="en-US" sz="3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Separation of power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93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Values of Democracy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800" dirty="0" smtClean="0"/>
              <a:t>Liberty (political, economics and personal freedom </a:t>
            </a:r>
            <a:endParaRPr lang="en-US" sz="2800" dirty="0"/>
          </a:p>
          <a:p>
            <a:pPr>
              <a:buFont typeface="Wingdings" pitchFamily="2" charset="2"/>
              <a:buChar char="ü"/>
            </a:pPr>
            <a:r>
              <a:rPr lang="en-US" sz="2800" dirty="0" smtClean="0"/>
              <a:t>Justice (distributive, procedural and corrective)</a:t>
            </a:r>
            <a:endParaRPr lang="en-US" sz="2800" dirty="0"/>
          </a:p>
          <a:p>
            <a:pPr>
              <a:buFont typeface="Wingdings" pitchFamily="2" charset="2"/>
              <a:buChar char="ü"/>
            </a:pPr>
            <a:r>
              <a:rPr lang="en-US" sz="2800" dirty="0" smtClean="0"/>
              <a:t>Equality (political, social and economic)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04051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Actors of Democratization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ü"/>
            </a:pPr>
            <a:r>
              <a:rPr lang="en-US" dirty="0">
                <a:solidFill>
                  <a:prstClr val="black"/>
                </a:solidFill>
              </a:rPr>
              <a:t>Political Parties</a:t>
            </a:r>
          </a:p>
          <a:p>
            <a:pPr lvl="0">
              <a:buFont typeface="Wingdings" pitchFamily="2" charset="2"/>
              <a:buChar char="ü"/>
            </a:pPr>
            <a:r>
              <a:rPr lang="en-US" dirty="0">
                <a:solidFill>
                  <a:prstClr val="black"/>
                </a:solidFill>
              </a:rPr>
              <a:t>Media</a:t>
            </a:r>
          </a:p>
          <a:p>
            <a:pPr lvl="0">
              <a:buFont typeface="Wingdings" pitchFamily="2" charset="2"/>
              <a:buChar char="ü"/>
            </a:pPr>
            <a:r>
              <a:rPr lang="en-US" dirty="0">
                <a:solidFill>
                  <a:prstClr val="black"/>
                </a:solidFill>
              </a:rPr>
              <a:t>Civic Societies etc.</a:t>
            </a:r>
          </a:p>
          <a:p>
            <a:pPr marL="0" lvl="0" indent="0">
              <a:buNone/>
            </a:pPr>
            <a:endParaRPr lang="en-US" dirty="0">
              <a:solidFill>
                <a:prstClr val="black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85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Democratization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dirty="0"/>
              <a:t>the institutionalization and routinization of democratic ideals and principles and their effective functioning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a conclusive and extended </a:t>
            </a:r>
            <a:r>
              <a:rPr lang="en-US" b="1" dirty="0"/>
              <a:t>process</a:t>
            </a:r>
            <a:r>
              <a:rPr lang="en-US" dirty="0"/>
              <a:t>, which involves the emergence or presence of the formal elements of a democratic political system </a:t>
            </a:r>
          </a:p>
        </p:txBody>
      </p:sp>
    </p:spTree>
    <p:extLst>
      <p:ext uri="{BB962C8B-B14F-4D97-AF65-F5344CB8AC3E}">
        <p14:creationId xmlns:p14="http://schemas.microsoft.com/office/powerpoint/2010/main" val="66560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686800" cy="4648199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endParaRPr lang="en-US" sz="24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endParaRPr lang="en-US" sz="2400" dirty="0">
              <a:solidFill>
                <a:prstClr val="black"/>
              </a:solidFill>
            </a:endParaRPr>
          </a:p>
          <a:p>
            <a:pPr lvl="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>
                <a:solidFill>
                  <a:prstClr val="black"/>
                </a:solidFill>
              </a:rPr>
              <a:t>rights that one has simply because one is </a:t>
            </a:r>
            <a:r>
              <a:rPr lang="en-US" b="1" dirty="0">
                <a:solidFill>
                  <a:prstClr val="black"/>
                </a:solidFill>
              </a:rPr>
              <a:t>human</a:t>
            </a:r>
            <a:r>
              <a:rPr lang="en-US" dirty="0">
                <a:solidFill>
                  <a:prstClr val="black"/>
                </a:solidFill>
              </a:rPr>
              <a:t>. </a:t>
            </a:r>
          </a:p>
          <a:p>
            <a:pPr lvl="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>
                <a:solidFill>
                  <a:prstClr val="black"/>
                </a:solidFill>
              </a:rPr>
              <a:t>Human rights are rights that are only </a:t>
            </a:r>
            <a:r>
              <a:rPr lang="en-US" b="1" dirty="0">
                <a:solidFill>
                  <a:prstClr val="black"/>
                </a:solidFill>
              </a:rPr>
              <a:t>enjoyed by human beings</a:t>
            </a:r>
            <a:r>
              <a:rPr lang="en-US" dirty="0">
                <a:solidFill>
                  <a:prstClr val="black"/>
                </a:solidFill>
              </a:rPr>
              <a:t>. </a:t>
            </a:r>
          </a:p>
          <a:p>
            <a:pPr lvl="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>
                <a:solidFill>
                  <a:prstClr val="black"/>
                </a:solidFill>
              </a:rPr>
              <a:t>They are held by all human beings, irrespective of any rights or duties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89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kern="0" dirty="0">
                <a:solidFill>
                  <a:sysClr val="windowText" lastClr="000000"/>
                </a:solidFill>
              </a:rPr>
              <a:t>Basic features of human rights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ü"/>
            </a:pPr>
            <a:r>
              <a:rPr lang="en-US" dirty="0">
                <a:solidFill>
                  <a:prstClr val="black"/>
                </a:solidFill>
              </a:rPr>
              <a:t>Equality Rights</a:t>
            </a:r>
          </a:p>
          <a:p>
            <a:pPr lvl="0">
              <a:buFont typeface="Wingdings" pitchFamily="2" charset="2"/>
              <a:buChar char="ü"/>
            </a:pPr>
            <a:r>
              <a:rPr lang="en-US" dirty="0">
                <a:solidFill>
                  <a:prstClr val="black"/>
                </a:solidFill>
              </a:rPr>
              <a:t>Universal</a:t>
            </a:r>
          </a:p>
          <a:p>
            <a:pPr lvl="0">
              <a:buFont typeface="Wingdings" pitchFamily="2" charset="2"/>
              <a:buChar char="ü"/>
            </a:pPr>
            <a:r>
              <a:rPr lang="en-US" dirty="0">
                <a:solidFill>
                  <a:prstClr val="black"/>
                </a:solidFill>
              </a:rPr>
              <a:t>Natural</a:t>
            </a:r>
          </a:p>
          <a:p>
            <a:pPr lvl="0">
              <a:buFont typeface="Wingdings" pitchFamily="2" charset="2"/>
              <a:buChar char="ü"/>
            </a:pPr>
            <a:r>
              <a:rPr lang="en-US" dirty="0">
                <a:solidFill>
                  <a:prstClr val="black"/>
                </a:solidFill>
              </a:rPr>
              <a:t>Eternal</a:t>
            </a:r>
          </a:p>
          <a:p>
            <a:pPr lvl="0">
              <a:buFont typeface="Wingdings" pitchFamily="2" charset="2"/>
              <a:buChar char="ü"/>
            </a:pPr>
            <a:r>
              <a:rPr lang="en-US" dirty="0">
                <a:solidFill>
                  <a:prstClr val="black"/>
                </a:solidFill>
              </a:rPr>
              <a:t>Inalienable </a:t>
            </a:r>
          </a:p>
          <a:p>
            <a:pPr lvl="0">
              <a:buFont typeface="Wingdings" pitchFamily="2" charset="2"/>
              <a:buChar char="ü"/>
            </a:pPr>
            <a:r>
              <a:rPr lang="en-US" dirty="0">
                <a:solidFill>
                  <a:prstClr val="black"/>
                </a:solidFill>
              </a:rPr>
              <a:t>Inviolability</a:t>
            </a:r>
          </a:p>
          <a:p>
            <a:pPr lvl="0">
              <a:buFont typeface="Wingdings" pitchFamily="2" charset="2"/>
              <a:buChar char="ü"/>
            </a:pPr>
            <a:r>
              <a:rPr lang="en-US" dirty="0">
                <a:solidFill>
                  <a:prstClr val="black"/>
                </a:solidFill>
              </a:rPr>
              <a:t>Irreducible (interdependent and </a:t>
            </a:r>
            <a:r>
              <a:rPr lang="en-US" dirty="0" smtClean="0">
                <a:solidFill>
                  <a:prstClr val="black"/>
                </a:solidFill>
              </a:rPr>
              <a:t>interrelated)</a:t>
            </a:r>
            <a:endParaRPr lang="en-US" dirty="0">
              <a:solidFill>
                <a:prstClr val="black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7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 Human Rights Instruments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/>
              <a:t>UN 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UDHR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International </a:t>
            </a:r>
            <a:r>
              <a:rPr lang="en-US" dirty="0"/>
              <a:t>Covenant on </a:t>
            </a:r>
            <a:r>
              <a:rPr lang="en-US" dirty="0" smtClean="0"/>
              <a:t>Civil and </a:t>
            </a:r>
            <a:r>
              <a:rPr lang="en-US" dirty="0"/>
              <a:t>Political Rights (</a:t>
            </a:r>
            <a:r>
              <a:rPr lang="en-US" dirty="0" smtClean="0"/>
              <a:t>ICCPR)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588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kern="0" dirty="0">
                <a:solidFill>
                  <a:sysClr val="windowText" lastClr="000000"/>
                </a:solidFill>
              </a:rPr>
              <a:t/>
            </a:r>
            <a:br>
              <a:rPr lang="en-US" sz="3600" b="1" kern="0" dirty="0">
                <a:solidFill>
                  <a:sysClr val="windowText" lastClr="000000"/>
                </a:solidFill>
              </a:rPr>
            </a:br>
            <a:r>
              <a:rPr lang="en-US" sz="3600" b="1" kern="0" dirty="0">
                <a:solidFill>
                  <a:sysClr val="windowText" lastClr="000000"/>
                </a:solidFill>
              </a:rPr>
              <a:t>Classification of Human Rights </a:t>
            </a:r>
            <a:r>
              <a:rPr lang="en-US" sz="3600" kern="0" dirty="0">
                <a:solidFill>
                  <a:sysClr val="windowText" lastClr="000000"/>
                </a:solidFill>
              </a:rPr>
              <a:t/>
            </a:r>
            <a:br>
              <a:rPr lang="en-US" sz="3600" kern="0" dirty="0">
                <a:solidFill>
                  <a:sysClr val="windowText" lastClr="000000"/>
                </a:solidFill>
              </a:rPr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534400" cy="4525963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b="1" u="sng" dirty="0">
                <a:solidFill>
                  <a:prstClr val="black"/>
                </a:solidFill>
              </a:rPr>
              <a:t>First  generation  rights  (the  ‘classic’  human  rights</a:t>
            </a:r>
            <a:r>
              <a:rPr lang="en-US" b="1" dirty="0">
                <a:solidFill>
                  <a:prstClr val="black"/>
                </a:solidFill>
              </a:rPr>
              <a:t>)</a:t>
            </a:r>
            <a:r>
              <a:rPr lang="en-US" dirty="0">
                <a:solidFill>
                  <a:prstClr val="black"/>
                </a:solidFill>
              </a:rPr>
              <a:t>: civil and political rights </a:t>
            </a:r>
          </a:p>
          <a:p>
            <a:pPr lvl="0">
              <a:buFont typeface="Wingdings" pitchFamily="2" charset="2"/>
              <a:buChar char="Ø"/>
            </a:pPr>
            <a:r>
              <a:rPr lang="en-US" b="1" u="sng" dirty="0">
                <a:solidFill>
                  <a:prstClr val="black"/>
                </a:solidFill>
              </a:rPr>
              <a:t>Second generation rights:</a:t>
            </a:r>
            <a:r>
              <a:rPr lang="en-US" dirty="0">
                <a:solidFill>
                  <a:prstClr val="black"/>
                </a:solidFill>
              </a:rPr>
              <a:t> economic, social and cultural rights </a:t>
            </a:r>
          </a:p>
          <a:p>
            <a:pPr lvl="0">
              <a:buFont typeface="Wingdings" pitchFamily="2" charset="2"/>
              <a:buChar char="Ø"/>
            </a:pPr>
            <a:r>
              <a:rPr lang="en-US" b="1" u="sng" dirty="0">
                <a:solidFill>
                  <a:prstClr val="black"/>
                </a:solidFill>
              </a:rPr>
              <a:t>Third generation rights</a:t>
            </a:r>
            <a:r>
              <a:rPr lang="en-US" dirty="0">
                <a:solidFill>
                  <a:prstClr val="black"/>
                </a:solidFill>
              </a:rPr>
              <a:t>: solidarity rights/collective rights </a:t>
            </a:r>
            <a:r>
              <a:rPr lang="en-US" dirty="0">
                <a:solidFill>
                  <a:prstClr val="black"/>
                </a:solidFill>
                <a:sym typeface="Wingdings"/>
              </a:rPr>
              <a:t></a:t>
            </a:r>
            <a:r>
              <a:rPr lang="en-US" dirty="0"/>
              <a:t>Peace, Development and Environmental Rights </a:t>
            </a:r>
            <a:endParaRPr lang="en-US" dirty="0">
              <a:solidFill>
                <a:prstClr val="black"/>
              </a:solidFill>
            </a:endParaRP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468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3784</TotalTime>
  <Words>6200</Words>
  <Application>Microsoft Office PowerPoint</Application>
  <PresentationFormat>On-screen Show (4:3)</PresentationFormat>
  <Paragraphs>886</Paragraphs>
  <Slides>110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110</vt:i4>
      </vt:variant>
    </vt:vector>
  </HeadingPairs>
  <TitlesOfParts>
    <vt:vector size="113" baseType="lpstr">
      <vt:lpstr>Office Theme</vt:lpstr>
      <vt:lpstr>1_Office Theme</vt:lpstr>
      <vt:lpstr>2_Office Theme</vt:lpstr>
      <vt:lpstr>MORAL AND CITIZENSHIP EDUCATION</vt:lpstr>
      <vt:lpstr>Main Objectives of Course</vt:lpstr>
      <vt:lpstr> Chapter One:  Understanding Civics and Ethics </vt:lpstr>
      <vt:lpstr> civic Education…..cont’d </vt:lpstr>
      <vt:lpstr> Concepts of Civic Education </vt:lpstr>
      <vt:lpstr>PowerPoint Presentation</vt:lpstr>
      <vt:lpstr>PowerPoint Presentation</vt:lpstr>
      <vt:lpstr>Nomenclature of Civics Education</vt:lpstr>
      <vt:lpstr> The Importance/Goal of Moral and Civic Education </vt:lpstr>
      <vt:lpstr>Competences of Good Citizen </vt:lpstr>
      <vt:lpstr> Ethics  </vt:lpstr>
      <vt:lpstr> Morality </vt:lpstr>
      <vt:lpstr> Ethics and Law </vt:lpstr>
      <vt:lpstr>Self-evaluation/ quiz </vt:lpstr>
      <vt:lpstr>Self-evaluation</vt:lpstr>
      <vt:lpstr>Chapter-Two Approaches to Ethics </vt:lpstr>
      <vt:lpstr> Consequentialism(Teleological Ethics) </vt:lpstr>
      <vt:lpstr>Utilitarianism Views</vt:lpstr>
      <vt:lpstr> Classic Utilitarianism </vt:lpstr>
      <vt:lpstr> Jeremy Bentham: Quantity over Quality </vt:lpstr>
      <vt:lpstr>Utility principle (hedonic aspect) </vt:lpstr>
      <vt:lpstr>John Stuart Mill: Quality over Quantity</vt:lpstr>
      <vt:lpstr>Act- And Rule-Utilitarianism</vt:lpstr>
      <vt:lpstr>Deontological Ethics (Non- Consequentialist)</vt:lpstr>
      <vt:lpstr>Concerning our duties towards God</vt:lpstr>
      <vt:lpstr>Concerning our duties towards others;</vt:lpstr>
      <vt:lpstr>Classification of Deontological Ethics Theory</vt:lpstr>
      <vt:lpstr>The Divine Command Theory </vt:lpstr>
      <vt:lpstr> Rights Theory </vt:lpstr>
      <vt:lpstr>Rights Theory….</vt:lpstr>
      <vt:lpstr>Kant’s Categorical Imperative</vt:lpstr>
      <vt:lpstr>Categorical Imperative</vt:lpstr>
      <vt:lpstr>Hypothetical Imperatives</vt:lpstr>
      <vt:lpstr>Kant's theory beliefs on;</vt:lpstr>
      <vt:lpstr>Self-Evaluation</vt:lpstr>
      <vt:lpstr>Self-Evaluation</vt:lpstr>
      <vt:lpstr>Self-Evaluation</vt:lpstr>
      <vt:lpstr>Self-Evaluation</vt:lpstr>
      <vt:lpstr>Self-Evaluation…cont’d</vt:lpstr>
      <vt:lpstr>Self-Evaluation…cont’d</vt:lpstr>
      <vt:lpstr>Ross’s Prima Facie Duties or Moral Guidelines</vt:lpstr>
      <vt:lpstr>Ross’s Prima Facie Duties or Moral Guidelines…. Cont’d</vt:lpstr>
      <vt:lpstr>Ross’s categories of prima facie  duties </vt:lpstr>
      <vt:lpstr>Virtue Ethics </vt:lpstr>
      <vt:lpstr>2. Meta-ethics( Non-normative Ethics)</vt:lpstr>
      <vt:lpstr>Chapter Three  Ethical Decision Making and Moral Judgments</vt:lpstr>
      <vt:lpstr>Consideration of good</vt:lpstr>
      <vt:lpstr> How Can We Make Ethical Decisions And Actions? </vt:lpstr>
      <vt:lpstr>Types of critical reasoning </vt:lpstr>
      <vt:lpstr>Moral Judgments</vt:lpstr>
      <vt:lpstr>   Framework for Moral Decision Making</vt:lpstr>
      <vt:lpstr>Framework for Moral Decision Making…cont’d</vt:lpstr>
      <vt:lpstr>Four aspects may be considered In discussing the application of morality</vt:lpstr>
      <vt:lpstr>Self-Evaluation</vt:lpstr>
      <vt:lpstr>Self-Evaluation… Cont’d</vt:lpstr>
      <vt:lpstr>Self-Evaluation… Cont’d</vt:lpstr>
      <vt:lpstr>Self-Evaluation… Cont’d</vt:lpstr>
      <vt:lpstr>Self-Evaluation… Cont’d</vt:lpstr>
      <vt:lpstr>Self-Evaluation… Cont’d</vt:lpstr>
      <vt:lpstr>Chapter Four:  State, Government and Citizenship</vt:lpstr>
      <vt:lpstr>State perspectives</vt:lpstr>
      <vt:lpstr>Functionalist perspective</vt:lpstr>
      <vt:lpstr>Organizational perspective</vt:lpstr>
      <vt:lpstr>International perspective</vt:lpstr>
      <vt:lpstr>Rival Theories of State</vt:lpstr>
      <vt:lpstr>2. The Capitalist State</vt:lpstr>
      <vt:lpstr> 3. The Leviathan State</vt:lpstr>
      <vt:lpstr> 4. The Patriarchal State</vt:lpstr>
      <vt:lpstr>The Role of the State</vt:lpstr>
      <vt:lpstr>B. Developmental States</vt:lpstr>
      <vt:lpstr>C. Social Democratic (Welfare) States </vt:lpstr>
      <vt:lpstr>D. Collectivized States</vt:lpstr>
      <vt:lpstr>Understanding Government</vt:lpstr>
      <vt:lpstr>Purposes and Functions of Government</vt:lpstr>
      <vt:lpstr>Citizenship </vt:lpstr>
      <vt:lpstr>Theorizing Citizenship</vt:lpstr>
      <vt:lpstr>2. Citizenship in Communitarian Thought</vt:lpstr>
      <vt:lpstr>3. Citizenship in Republican Thought</vt:lpstr>
      <vt:lpstr>4. Multicultural Citizenship</vt:lpstr>
      <vt:lpstr>Modes/Ways of Acquiring and Loosing Citizenship </vt:lpstr>
      <vt:lpstr> 1. Acquiring citizenship by birth </vt:lpstr>
      <vt:lpstr>B. Descent principles</vt:lpstr>
      <vt:lpstr>The Modes of Acquiring Ethiopian Citizenship in the 2003 nationality proclamation. </vt:lpstr>
      <vt:lpstr>2. Acquisition by Law (Naturalization</vt:lpstr>
      <vt:lpstr>Requirements</vt:lpstr>
      <vt:lpstr>Ways of Loosing Citizenship</vt:lpstr>
      <vt:lpstr>Tips </vt:lpstr>
      <vt:lpstr>Cont’d</vt:lpstr>
      <vt:lpstr>Cont’d</vt:lpstr>
      <vt:lpstr>Chapter Five:  Constitution, Democracy and Human Rights</vt:lpstr>
      <vt:lpstr>Peculiar Features of Constitution</vt:lpstr>
      <vt:lpstr>Major Purposes and Functions of Constitution</vt:lpstr>
      <vt:lpstr>Classification of Constitutions</vt:lpstr>
      <vt:lpstr>PowerPoint Presentation</vt:lpstr>
      <vt:lpstr>Constitutionalism </vt:lpstr>
      <vt:lpstr>The Constitutional Experience of Ethiopia</vt:lpstr>
      <vt:lpstr> The 1931 First Written Constitution </vt:lpstr>
      <vt:lpstr> The 1955 Revised Constitution </vt:lpstr>
      <vt:lpstr>1987 Constitution</vt:lpstr>
      <vt:lpstr>The FDRE 1995 Constitution</vt:lpstr>
      <vt:lpstr>Democracy and Democratization</vt:lpstr>
      <vt:lpstr>Ways of exercising Democracy </vt:lpstr>
      <vt:lpstr> Principles of Democracy</vt:lpstr>
      <vt:lpstr>Core Values of Democracy</vt:lpstr>
      <vt:lpstr>Actors of Democratization </vt:lpstr>
      <vt:lpstr>Democratization</vt:lpstr>
      <vt:lpstr>Human Rights</vt:lpstr>
      <vt:lpstr>Basic features of human rights </vt:lpstr>
      <vt:lpstr> Human Rights Instruments </vt:lpstr>
      <vt:lpstr> Classification of Human Rights  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ismail - [2010]</dc:creator>
  <cp:lastModifiedBy>ismail - [2010]</cp:lastModifiedBy>
  <cp:revision>383</cp:revision>
  <dcterms:created xsi:type="dcterms:W3CDTF">2020-07-15T08:56:42Z</dcterms:created>
  <dcterms:modified xsi:type="dcterms:W3CDTF">2026-07-31T18:20:51Z</dcterms:modified>
</cp:coreProperties>
</file>