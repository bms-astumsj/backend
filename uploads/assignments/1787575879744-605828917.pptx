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not just handing you a document — I'm handing you your final project. This is the Bootcamp Management System: the capstone that closes out everything you've learned this summer. It's a real MERN stack application, with real users — admins, mentors, and students — and you have three weeks to design, build, and deploy it. Treat this like a real client brief, because that's exactly what it is. Let's walk through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pain, because that's what justifies the project. Walk through each row conversationally — don't just read it. Ask the room: has anyone here ever lost points because a mentor forgot to record attendance from a spreadsheet? That's the story. Every one of these five problems is something a centralized system fixes automatically. That's the pitch: one system, every role, one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are the checklist behind everything in the spec. When students ask 'do I really need to build X,' point back to one of these six. Emphasize objective two and three especially — automatic attendance percentages and topic-level progress are the features mentors will actually use every single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permission model that shapes your entire backend. Say it plainly: a student should never be able to hit a mentor's API endpoint, even by guessing the URL. RBAC has to be enforced twice — once in the React routes so people don't even see the wrong UI, and again in the Express middleware so nobody can fake their way in through the API directly. That second layer is the one teams forget, and it's the one graders will test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architecture in one picture: React talks to Express over Axios and REST, Express talks to MongoDB through Mongoose. Nothing exotic — this is the same shape as most production apps you'll work on professionally. Passwords are hashed with bcrypt, sessions are handled with JWT, and both frontend and backend get deployed for free on Vercel and Render. No paid third-party services required — you don't need Cloudinary or anything like it for the core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Attendance sounds simple, but the percentage formula is the part teams get wrong. It's present sessions divided by total applicable sessions — not total sessions in the whole bootcamp. That word 'applicable' matters: if a student joined a batch late, or a session doesn't apply to them, don't punish their percentage for it. Make sure your data model can express that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is what turns this from an attendance tool into an actual teaching tool. The topic list on screen is just an example — HTML/CSS through Git — your team can adjust it to match your actual curriculum. The key design decision is the shape: one progress entry per student, per topic, per week. That's what lets a mentor dashboard surface 'who is falling behind' automatically instead of someone eyeballing a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full lifecycle, not a form. Create, submit, grade — and it has to support a loop back to submit when a mentor requests a resubmission. File attachments are explicitly not required for the core system — a GitHub URL and a live demo link are enough. If your team wants file uploads, that's a bonus feature, not a foundation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scoped. You do not need a separate real-time notification microservice with sockets — that's over-engineering for a three-week timeline. In-app notifications can just be announcement records the student dashboard queries and displays. Save the fancy real-time stuff for a bonus feature if your team has time left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Dashboards are the payoff slide — this is the screen each user actually opens every day, so it needs to feel effortless. Notice the pattern: every dashboard is just a read-optimized view over the same collections we already defined. You are not creating new data here, you're summarizing it. Design your API endpoints with that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collections is the required minimum, not a ceiling. If your team adds a Resources or Reports collection for a bonus feature, that's expected and fine. The relationships to get right: Attendance and Progress both point back to a student and a batch; Submissions points to both an Assignment and a Student. Sketch that ER diagram before anyone writes a Mongoose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timeline is not a suggestion, it's a survival strategy. Teams that are still building core features in week 3 run out of time for testing and deployment, and that's where most points get lost. Say this clearly: if you don't have a deployed, working MVP by the end of week 2, stop adding features and go fix what's broken. Week 3 bonus features mean nothing if the core system doesn't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usually gets the room's energy up, so let it. But land the caveat hard: optional means optional, and it comes after, not instead of, the required foundation. I'd rather see a team submit a rock-solid core system with zero bonus features than a system with a leaderboard and broken authentication. Grading rewards a stable foundation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checklist I will personally be grading against, so treat this slide like an answer key. Read through it slowly. Notice 'unauthorized users cannot access restricted data' and 'works responsively' aren't glamorous — they're not going to wow anyone in a demo, but they're on this list, and they will be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energy, not a summary slide. This is genuinely a great capstone: it touches auth, RBAC, CRUD, dashboards, and deployment — everything a junior developer job would actually ask about in an interview. Remind them the spec explicitly says it's not complete by design — Section 20 exists because the mentors want to see their own ideas, not just a checklist filled in. Open the floor for questions now, and remind them where the full SRS document lives so they can reference it while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image" Target="../media/image-11-1.png"/><Relationship Id="rId6" Type="http://schemas.openxmlformats.org/officeDocument/2006/relationships/image" Target="../media/image-11-1.png"/><Relationship Id="rId7" Type="http://schemas.openxmlformats.org/officeDocument/2006/relationships/image" Target="../media/image-11-1.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image" Target="../media/image-14-1.png"/><Relationship Id="rId5" Type="http://schemas.openxmlformats.org/officeDocument/2006/relationships/image" Target="../media/image-14-1.png"/><Relationship Id="rId6" Type="http://schemas.openxmlformats.org/officeDocument/2006/relationships/image" Target="../media/image-14-1.png"/><Relationship Id="rId7" Type="http://schemas.openxmlformats.org/officeDocument/2006/relationships/image" Target="../media/image-14-1.png"/><Relationship Id="rId8" Type="http://schemas.openxmlformats.org/officeDocument/2006/relationships/image" Target="../media/image-14-1.png"/><Relationship Id="rId9" Type="http://schemas.openxmlformats.org/officeDocument/2006/relationships/image" Target="../media/image-14-1.png"/><Relationship Id="rId10" Type="http://schemas.openxmlformats.org/officeDocument/2006/relationships/image" Target="../media/image-14-1.png"/><Relationship Id="rId11" Type="http://schemas.openxmlformats.org/officeDocument/2006/relationships/image" Target="../media/image-14-1.png"/><Relationship Id="rId12" Type="http://schemas.openxmlformats.org/officeDocument/2006/relationships/image" Target="../media/image-14-1.png"/><Relationship Id="rId13" Type="http://schemas.openxmlformats.org/officeDocument/2006/relationships/image" Target="../media/image-14-1.png"/><Relationship Id="rId14" Type="http://schemas.openxmlformats.org/officeDocument/2006/relationships/image" Target="../media/image-14-1.png"/><Relationship Id="rId15" Type="http://schemas.openxmlformats.org/officeDocument/2006/relationships/image" Target="../media/image-14-1.png"/><Relationship Id="rId16" Type="http://schemas.openxmlformats.org/officeDocument/2006/relationships/image" Target="../media/image-14-1.png"/><Relationship Id="rId17" Type="http://schemas.openxmlformats.org/officeDocument/2006/relationships/slideLayout" Target="../slideLayouts/slideLayout1.xml"/><Relationship Id="rId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22960" y="1417320"/>
            <a:ext cx="10515600" cy="36576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ASTU MSJ SUMMER BOOTCAMP  ·  FINAL CAPSTONE PROJECT</a:t>
            </a:r>
            <a:endParaRPr lang="en-US" sz="1300" dirty="0"/>
          </a:p>
        </p:txBody>
      </p:sp>
      <p:sp>
        <p:nvSpPr>
          <p:cNvPr id="3" name="Text 1"/>
          <p:cNvSpPr/>
          <p:nvPr/>
        </p:nvSpPr>
        <p:spPr>
          <a:xfrm>
            <a:off x="777240" y="1874520"/>
            <a:ext cx="9875520" cy="2194560"/>
          </a:xfrm>
          <a:prstGeom prst="rect">
            <a:avLst/>
          </a:prstGeom>
          <a:noFill/>
          <a:ln/>
        </p:spPr>
        <p:txBody>
          <a:bodyPr wrap="square" lIns="0" tIns="0" rIns="0" bIns="0" rtlCol="0" anchor="ctr"/>
          <a:lstStyle/>
          <a:p>
            <a:pPr indent="0" marL="0">
              <a:lnSpc>
                <a:spcPct val="102000"/>
              </a:lnSpc>
              <a:buNone/>
            </a:pPr>
            <a:r>
              <a:rPr lang="en-US" sz="5400" b="1" dirty="0">
                <a:solidFill>
                  <a:srgbClr val="FFFFFF"/>
                </a:solidFill>
                <a:latin typeface="Cambria" pitchFamily="34" charset="0"/>
                <a:ea typeface="Cambria" pitchFamily="34" charset="-122"/>
                <a:cs typeface="Cambria" pitchFamily="34" charset="-120"/>
              </a:rPr>
              <a:t>Bootcamp Management</a:t>
            </a:r>
            <a:endParaRPr lang="en-US" sz="5400" dirty="0"/>
          </a:p>
          <a:p>
            <a:pPr indent="0" marL="0">
              <a:lnSpc>
                <a:spcPct val="102000"/>
              </a:lnSpc>
              <a:buNone/>
            </a:pPr>
            <a:r>
              <a:rPr lang="en-US" sz="5400" b="1" dirty="0">
                <a:solidFill>
                  <a:srgbClr val="FFFFFF"/>
                </a:solidFill>
                <a:latin typeface="Cambria" pitchFamily="34" charset="0"/>
                <a:ea typeface="Cambria" pitchFamily="34" charset="-122"/>
                <a:cs typeface="Cambria" pitchFamily="34" charset="-120"/>
              </a:rPr>
              <a:t>System</a:t>
            </a:r>
            <a:endParaRPr lang="en-US" sz="5400" dirty="0"/>
          </a:p>
        </p:txBody>
      </p:sp>
      <p:sp>
        <p:nvSpPr>
          <p:cNvPr id="4" name="Text 2"/>
          <p:cNvSpPr/>
          <p:nvPr/>
        </p:nvSpPr>
        <p:spPr>
          <a:xfrm>
            <a:off x="822960" y="3977640"/>
            <a:ext cx="8961120" cy="548640"/>
          </a:xfrm>
          <a:prstGeom prst="rect">
            <a:avLst/>
          </a:prstGeom>
          <a:noFill/>
          <a:ln/>
        </p:spPr>
        <p:txBody>
          <a:bodyPr wrap="square" lIns="0" tIns="0" rIns="0" bIns="0" rtlCol="0" anchor="ctr"/>
          <a:lstStyle/>
          <a:p>
            <a:pPr indent="0" marL="0">
              <a:buNone/>
            </a:pPr>
            <a:r>
              <a:rPr lang="en-US" sz="1600" i="1" dirty="0">
                <a:solidFill>
                  <a:srgbClr val="AEC0DE"/>
                </a:solidFill>
                <a:latin typeface="Calibri" pitchFamily="34" charset="0"/>
                <a:ea typeface="Calibri" pitchFamily="34" charset="-122"/>
                <a:cs typeface="Calibri" pitchFamily="34" charset="-120"/>
              </a:rPr>
              <a:t>Three weeks. Three roles. One real system that could serve every future cohort.</a:t>
            </a:r>
            <a:endParaRPr lang="en-US" sz="1600" dirty="0"/>
          </a:p>
        </p:txBody>
      </p:sp>
      <p:sp>
        <p:nvSpPr>
          <p:cNvPr id="5" name="Shape 3"/>
          <p:cNvSpPr/>
          <p:nvPr/>
        </p:nvSpPr>
        <p:spPr>
          <a:xfrm>
            <a:off x="822960" y="5074920"/>
            <a:ext cx="566928" cy="566928"/>
          </a:xfrm>
          <a:prstGeom prst="ellipse">
            <a:avLst/>
          </a:prstGeom>
          <a:solidFill>
            <a:srgbClr val="16233D"/>
          </a:solidFill>
          <a:ln/>
        </p:spPr>
      </p:sp>
      <p:pic>
        <p:nvPicPr>
          <p:cNvPr id="6" name="Image 0" descr="/home/claude/bms-deck/icons/react.png">    </p:cNvPr>
          <p:cNvPicPr>
            <a:picLocks noChangeAspect="1"/>
          </p:cNvPicPr>
          <p:nvPr/>
        </p:nvPicPr>
        <p:blipFill>
          <a:blip r:embed="rId1"/>
          <a:stretch>
            <a:fillRect/>
          </a:stretch>
        </p:blipFill>
        <p:spPr>
          <a:xfrm>
            <a:off x="947684" y="5199644"/>
            <a:ext cx="317480" cy="317480"/>
          </a:xfrm>
          <a:prstGeom prst="rect">
            <a:avLst/>
          </a:prstGeom>
        </p:spPr>
      </p:pic>
      <p:sp>
        <p:nvSpPr>
          <p:cNvPr id="7" name="Text 4"/>
          <p:cNvSpPr/>
          <p:nvPr/>
        </p:nvSpPr>
        <p:spPr>
          <a:xfrm>
            <a:off x="502920" y="5687568"/>
            <a:ext cx="1207008" cy="320040"/>
          </a:xfrm>
          <a:prstGeom prst="rect">
            <a:avLst/>
          </a:prstGeom>
          <a:noFill/>
          <a:ln/>
        </p:spPr>
        <p:txBody>
          <a:bodyPr wrap="square" lIns="0" tIns="0" rIns="0" bIns="0" rtlCol="0" anchor="ctr"/>
          <a:lstStyle/>
          <a:p>
            <a:pPr algn="ctr" indent="0" marL="0">
              <a:buNone/>
            </a:pPr>
            <a:r>
              <a:rPr lang="en-US" sz="1050" dirty="0">
                <a:solidFill>
                  <a:srgbClr val="9FB2D6"/>
                </a:solidFill>
                <a:latin typeface="Calibri" pitchFamily="34" charset="0"/>
                <a:ea typeface="Calibri" pitchFamily="34" charset="-122"/>
                <a:cs typeface="Calibri" pitchFamily="34" charset="-120"/>
              </a:rPr>
              <a:t>React</a:t>
            </a:r>
            <a:endParaRPr lang="en-US" sz="1050" dirty="0"/>
          </a:p>
        </p:txBody>
      </p:sp>
      <p:sp>
        <p:nvSpPr>
          <p:cNvPr id="8" name="Shape 5"/>
          <p:cNvSpPr/>
          <p:nvPr/>
        </p:nvSpPr>
        <p:spPr>
          <a:xfrm>
            <a:off x="2240280" y="5074920"/>
            <a:ext cx="566928" cy="566928"/>
          </a:xfrm>
          <a:prstGeom prst="ellipse">
            <a:avLst/>
          </a:prstGeom>
          <a:solidFill>
            <a:srgbClr val="16233D"/>
          </a:solidFill>
          <a:ln/>
        </p:spPr>
      </p:sp>
      <p:pic>
        <p:nvPicPr>
          <p:cNvPr id="9" name="Image 1" descr="/home/claude/bms-deck/icons/node.png">    </p:cNvPr>
          <p:cNvPicPr>
            <a:picLocks noChangeAspect="1"/>
          </p:cNvPicPr>
          <p:nvPr/>
        </p:nvPicPr>
        <p:blipFill>
          <a:blip r:embed="rId2"/>
          <a:stretch>
            <a:fillRect/>
          </a:stretch>
        </p:blipFill>
        <p:spPr>
          <a:xfrm>
            <a:off x="2365004" y="5199644"/>
            <a:ext cx="317480" cy="317480"/>
          </a:xfrm>
          <a:prstGeom prst="rect">
            <a:avLst/>
          </a:prstGeom>
        </p:spPr>
      </p:pic>
      <p:sp>
        <p:nvSpPr>
          <p:cNvPr id="10" name="Text 6"/>
          <p:cNvSpPr/>
          <p:nvPr/>
        </p:nvSpPr>
        <p:spPr>
          <a:xfrm>
            <a:off x="1920240" y="5687568"/>
            <a:ext cx="1207008" cy="320040"/>
          </a:xfrm>
          <a:prstGeom prst="rect">
            <a:avLst/>
          </a:prstGeom>
          <a:noFill/>
          <a:ln/>
        </p:spPr>
        <p:txBody>
          <a:bodyPr wrap="square" lIns="0" tIns="0" rIns="0" bIns="0" rtlCol="0" anchor="ctr"/>
          <a:lstStyle/>
          <a:p>
            <a:pPr algn="ctr" indent="0" marL="0">
              <a:buNone/>
            </a:pPr>
            <a:r>
              <a:rPr lang="en-US" sz="1050" dirty="0">
                <a:solidFill>
                  <a:srgbClr val="9FB2D6"/>
                </a:solidFill>
                <a:latin typeface="Calibri" pitchFamily="34" charset="0"/>
                <a:ea typeface="Calibri" pitchFamily="34" charset="-122"/>
                <a:cs typeface="Calibri" pitchFamily="34" charset="-120"/>
              </a:rPr>
              <a:t>Node / Express</a:t>
            </a:r>
            <a:endParaRPr lang="en-US" sz="1050" dirty="0"/>
          </a:p>
        </p:txBody>
      </p:sp>
      <p:sp>
        <p:nvSpPr>
          <p:cNvPr id="11" name="Shape 7"/>
          <p:cNvSpPr/>
          <p:nvPr/>
        </p:nvSpPr>
        <p:spPr>
          <a:xfrm>
            <a:off x="3657600" y="5074920"/>
            <a:ext cx="566928" cy="566928"/>
          </a:xfrm>
          <a:prstGeom prst="ellipse">
            <a:avLst/>
          </a:prstGeom>
          <a:solidFill>
            <a:srgbClr val="16233D"/>
          </a:solidFill>
          <a:ln/>
        </p:spPr>
      </p:sp>
      <p:pic>
        <p:nvPicPr>
          <p:cNvPr id="12" name="Image 2" descr="/home/claude/bms-deck/icons/database.png">    </p:cNvPr>
          <p:cNvPicPr>
            <a:picLocks noChangeAspect="1"/>
          </p:cNvPicPr>
          <p:nvPr/>
        </p:nvPicPr>
        <p:blipFill>
          <a:blip r:embed="rId3"/>
          <a:stretch>
            <a:fillRect/>
          </a:stretch>
        </p:blipFill>
        <p:spPr>
          <a:xfrm>
            <a:off x="3782324" y="5199644"/>
            <a:ext cx="317480" cy="317480"/>
          </a:xfrm>
          <a:prstGeom prst="rect">
            <a:avLst/>
          </a:prstGeom>
        </p:spPr>
      </p:pic>
      <p:sp>
        <p:nvSpPr>
          <p:cNvPr id="13" name="Text 8"/>
          <p:cNvSpPr/>
          <p:nvPr/>
        </p:nvSpPr>
        <p:spPr>
          <a:xfrm>
            <a:off x="3337560" y="5687568"/>
            <a:ext cx="1207008" cy="320040"/>
          </a:xfrm>
          <a:prstGeom prst="rect">
            <a:avLst/>
          </a:prstGeom>
          <a:noFill/>
          <a:ln/>
        </p:spPr>
        <p:txBody>
          <a:bodyPr wrap="square" lIns="0" tIns="0" rIns="0" bIns="0" rtlCol="0" anchor="ctr"/>
          <a:lstStyle/>
          <a:p>
            <a:pPr algn="ctr" indent="0" marL="0">
              <a:buNone/>
            </a:pPr>
            <a:r>
              <a:rPr lang="en-US" sz="1050" dirty="0">
                <a:solidFill>
                  <a:srgbClr val="9FB2D6"/>
                </a:solidFill>
                <a:latin typeface="Calibri" pitchFamily="34" charset="0"/>
                <a:ea typeface="Calibri" pitchFamily="34" charset="-122"/>
                <a:cs typeface="Calibri" pitchFamily="34" charset="-120"/>
              </a:rPr>
              <a:t>MongoDB</a:t>
            </a:r>
            <a:endParaRPr lang="en-US" sz="1050" dirty="0"/>
          </a:p>
        </p:txBody>
      </p:sp>
      <p:sp>
        <p:nvSpPr>
          <p:cNvPr id="14" name="Shape 9"/>
          <p:cNvSpPr/>
          <p:nvPr/>
        </p:nvSpPr>
        <p:spPr>
          <a:xfrm>
            <a:off x="5074920" y="5074920"/>
            <a:ext cx="566928" cy="566928"/>
          </a:xfrm>
          <a:prstGeom prst="ellipse">
            <a:avLst/>
          </a:prstGeom>
          <a:solidFill>
            <a:srgbClr val="16233D"/>
          </a:solidFill>
          <a:ln/>
        </p:spPr>
      </p:sp>
      <p:pic>
        <p:nvPicPr>
          <p:cNvPr id="15" name="Image 3" descr="/home/claude/bms-deck/icons/lock.png">    </p:cNvPr>
          <p:cNvPicPr>
            <a:picLocks noChangeAspect="1"/>
          </p:cNvPicPr>
          <p:nvPr/>
        </p:nvPicPr>
        <p:blipFill>
          <a:blip r:embed="rId4"/>
          <a:stretch>
            <a:fillRect/>
          </a:stretch>
        </p:blipFill>
        <p:spPr>
          <a:xfrm>
            <a:off x="5199644" y="5199644"/>
            <a:ext cx="317480" cy="317480"/>
          </a:xfrm>
          <a:prstGeom prst="rect">
            <a:avLst/>
          </a:prstGeom>
        </p:spPr>
      </p:pic>
      <p:sp>
        <p:nvSpPr>
          <p:cNvPr id="16" name="Text 10"/>
          <p:cNvSpPr/>
          <p:nvPr/>
        </p:nvSpPr>
        <p:spPr>
          <a:xfrm>
            <a:off x="4754880" y="5687568"/>
            <a:ext cx="1207008" cy="320040"/>
          </a:xfrm>
          <a:prstGeom prst="rect">
            <a:avLst/>
          </a:prstGeom>
          <a:noFill/>
          <a:ln/>
        </p:spPr>
        <p:txBody>
          <a:bodyPr wrap="square" lIns="0" tIns="0" rIns="0" bIns="0" rtlCol="0" anchor="ctr"/>
          <a:lstStyle/>
          <a:p>
            <a:pPr algn="ctr" indent="0" marL="0">
              <a:buNone/>
            </a:pPr>
            <a:r>
              <a:rPr lang="en-US" sz="1050" dirty="0">
                <a:solidFill>
                  <a:srgbClr val="9FB2D6"/>
                </a:solidFill>
                <a:latin typeface="Calibri" pitchFamily="34" charset="0"/>
                <a:ea typeface="Calibri" pitchFamily="34" charset="-122"/>
                <a:cs typeface="Calibri" pitchFamily="34" charset="-120"/>
              </a:rPr>
              <a:t>JWT + bcrypt</a:t>
            </a:r>
            <a:endParaRPr lang="en-US" sz="1050" dirty="0"/>
          </a:p>
        </p:txBody>
      </p:sp>
      <p:sp>
        <p:nvSpPr>
          <p:cNvPr id="17" name="Text 11"/>
          <p:cNvSpPr/>
          <p:nvPr/>
        </p:nvSpPr>
        <p:spPr>
          <a:xfrm>
            <a:off x="8348472" y="6217920"/>
            <a:ext cx="3566160" cy="320040"/>
          </a:xfrm>
          <a:prstGeom prst="rect">
            <a:avLst/>
          </a:prstGeom>
          <a:noFill/>
          <a:ln/>
        </p:spPr>
        <p:txBody>
          <a:bodyPr wrap="square" lIns="0" tIns="0" rIns="0" bIns="0" rtlCol="0" anchor="ctr"/>
          <a:lstStyle/>
          <a:p>
            <a:pPr algn="r" indent="0" marL="0">
              <a:buNone/>
            </a:pPr>
            <a:r>
              <a:rPr lang="en-US" sz="1100" dirty="0">
                <a:solidFill>
                  <a:srgbClr val="5B6E93"/>
                </a:solidFill>
                <a:latin typeface="Calibri" pitchFamily="34" charset="0"/>
                <a:ea typeface="Calibri" pitchFamily="34" charset="-122"/>
                <a:cs typeface="Calibri" pitchFamily="34" charset="-120"/>
              </a:rPr>
              <a:t>Presented by Tech With Hos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0891B2"/>
                </a:solidFill>
                <a:latin typeface="Calibri" pitchFamily="34" charset="0"/>
                <a:ea typeface="Calibri" pitchFamily="34" charset="-122"/>
                <a:cs typeface="Calibri" pitchFamily="34" charset="-120"/>
              </a:rPr>
              <a:t>WHY THIS PROJECT EXISTS</a:t>
            </a:r>
            <a:endParaRPr lang="en-US" sz="1200" dirty="0"/>
          </a:p>
        </p:txBody>
      </p:sp>
      <p:sp>
        <p:nvSpPr>
          <p:cNvPr id="3" name="Text 1"/>
          <p:cNvSpPr/>
          <p:nvPr/>
        </p:nvSpPr>
        <p:spPr>
          <a:xfrm>
            <a:off x="822960" y="685800"/>
            <a:ext cx="7772400" cy="822960"/>
          </a:xfrm>
          <a:prstGeom prst="rect">
            <a:avLst/>
          </a:prstGeom>
          <a:noFill/>
          <a:ln/>
        </p:spPr>
        <p:txBody>
          <a:bodyPr wrap="square" lIns="0" tIns="0" rIns="0" bIns="0" rtlCol="0" anchor="t"/>
          <a:lstStyle/>
          <a:p>
            <a:pPr algn="l" indent="0" marL="0">
              <a:buNone/>
            </a:pPr>
            <a:r>
              <a:rPr lang="en-US" sz="3400" b="1" dirty="0">
                <a:solidFill>
                  <a:srgbClr val="0B1220"/>
                </a:solidFill>
                <a:latin typeface="Cambria" pitchFamily="34" charset="0"/>
                <a:ea typeface="Cambria" pitchFamily="34" charset="-122"/>
                <a:cs typeface="Cambria" pitchFamily="34" charset="-120"/>
              </a:rPr>
              <a:t>Right Now, Everything Is Manual</a:t>
            </a:r>
            <a:endParaRPr lang="en-US" sz="3400" dirty="0"/>
          </a:p>
        </p:txBody>
      </p:sp>
      <p:sp>
        <p:nvSpPr>
          <p:cNvPr id="4" name="Text 2"/>
          <p:cNvSpPr/>
          <p:nvPr/>
        </p:nvSpPr>
        <p:spPr>
          <a:xfrm>
            <a:off x="822960" y="1417320"/>
            <a:ext cx="7863840" cy="45720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ASTU MSJ currently runs bootcamp operations by hand — and it shows. Here's what that actually costs us:</a:t>
            </a:r>
            <a:endParaRPr lang="en-US" sz="1400" dirty="0"/>
          </a:p>
        </p:txBody>
      </p:sp>
      <p:sp>
        <p:nvSpPr>
          <p:cNvPr id="5" name="Shape 3"/>
          <p:cNvSpPr/>
          <p:nvPr/>
        </p:nvSpPr>
        <p:spPr>
          <a:xfrm>
            <a:off x="822960" y="2148840"/>
            <a:ext cx="10515600" cy="749808"/>
          </a:xfrm>
          <a:prstGeom prst="roundRect">
            <a:avLst>
              <a:gd name="adj" fmla="val 9756"/>
            </a:avLst>
          </a:prstGeom>
          <a:solidFill>
            <a:srgbClr val="F8FAFC"/>
          </a:solidFill>
          <a:ln/>
        </p:spPr>
      </p:sp>
      <p:sp>
        <p:nvSpPr>
          <p:cNvPr id="6" name="Shape 4"/>
          <p:cNvSpPr/>
          <p:nvPr/>
        </p:nvSpPr>
        <p:spPr>
          <a:xfrm>
            <a:off x="1051560" y="2340864"/>
            <a:ext cx="365760" cy="365760"/>
          </a:xfrm>
          <a:prstGeom prst="ellipse">
            <a:avLst/>
          </a:prstGeom>
          <a:solidFill>
            <a:srgbClr val="0B1220"/>
          </a:solidFill>
          <a:ln/>
        </p:spPr>
      </p:sp>
      <p:sp>
        <p:nvSpPr>
          <p:cNvPr id="7" name="Text 5"/>
          <p:cNvSpPr/>
          <p:nvPr/>
        </p:nvSpPr>
        <p:spPr>
          <a:xfrm>
            <a:off x="1051560" y="23408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600200" y="2231136"/>
            <a:ext cx="4434840" cy="58521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Attendance on paper or spreadsheets</a:t>
            </a:r>
            <a:endParaRPr lang="en-US" sz="1350" dirty="0"/>
          </a:p>
        </p:txBody>
      </p:sp>
      <p:sp>
        <p:nvSpPr>
          <p:cNvPr id="9" name="Text 7"/>
          <p:cNvSpPr/>
          <p:nvPr/>
        </p:nvSpPr>
        <p:spPr>
          <a:xfrm>
            <a:off x="6172200" y="2231136"/>
            <a:ext cx="4983480" cy="585216"/>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Time-consuming, error-prone, hard to calculate percentages</a:t>
            </a:r>
            <a:endParaRPr lang="en-US" sz="1250" dirty="0"/>
          </a:p>
        </p:txBody>
      </p:sp>
      <p:sp>
        <p:nvSpPr>
          <p:cNvPr id="10" name="Shape 8"/>
          <p:cNvSpPr/>
          <p:nvPr/>
        </p:nvSpPr>
        <p:spPr>
          <a:xfrm>
            <a:off x="822960" y="3017520"/>
            <a:ext cx="10515600" cy="749808"/>
          </a:xfrm>
          <a:prstGeom prst="roundRect">
            <a:avLst>
              <a:gd name="adj" fmla="val 9756"/>
            </a:avLst>
          </a:prstGeom>
          <a:solidFill>
            <a:srgbClr val="F8FAFC"/>
          </a:solidFill>
          <a:ln/>
        </p:spPr>
      </p:sp>
      <p:sp>
        <p:nvSpPr>
          <p:cNvPr id="11" name="Shape 9"/>
          <p:cNvSpPr/>
          <p:nvPr/>
        </p:nvSpPr>
        <p:spPr>
          <a:xfrm>
            <a:off x="1051560" y="3209544"/>
            <a:ext cx="365760" cy="365760"/>
          </a:xfrm>
          <a:prstGeom prst="ellipse">
            <a:avLst/>
          </a:prstGeom>
          <a:solidFill>
            <a:srgbClr val="0B1220"/>
          </a:solidFill>
          <a:ln/>
        </p:spPr>
      </p:sp>
      <p:sp>
        <p:nvSpPr>
          <p:cNvPr id="12" name="Text 10"/>
          <p:cNvSpPr/>
          <p:nvPr/>
        </p:nvSpPr>
        <p:spPr>
          <a:xfrm>
            <a:off x="1051560" y="32095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600200" y="3099816"/>
            <a:ext cx="4434840" cy="58521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No central place for weekly progress</a:t>
            </a:r>
            <a:endParaRPr lang="en-US" sz="1350" dirty="0"/>
          </a:p>
        </p:txBody>
      </p:sp>
      <p:sp>
        <p:nvSpPr>
          <p:cNvPr id="14" name="Text 12"/>
          <p:cNvSpPr/>
          <p:nvPr/>
        </p:nvSpPr>
        <p:spPr>
          <a:xfrm>
            <a:off x="6172200" y="3099816"/>
            <a:ext cx="4983480" cy="585216"/>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Mentors lose track of who is falling behind</a:t>
            </a:r>
            <a:endParaRPr lang="en-US" sz="1250" dirty="0"/>
          </a:p>
        </p:txBody>
      </p:sp>
      <p:sp>
        <p:nvSpPr>
          <p:cNvPr id="15" name="Shape 13"/>
          <p:cNvSpPr/>
          <p:nvPr/>
        </p:nvSpPr>
        <p:spPr>
          <a:xfrm>
            <a:off x="822960" y="3886200"/>
            <a:ext cx="10515600" cy="749808"/>
          </a:xfrm>
          <a:prstGeom prst="roundRect">
            <a:avLst>
              <a:gd name="adj" fmla="val 9756"/>
            </a:avLst>
          </a:prstGeom>
          <a:solidFill>
            <a:srgbClr val="F8FAFC"/>
          </a:solidFill>
          <a:ln/>
        </p:spPr>
      </p:sp>
      <p:sp>
        <p:nvSpPr>
          <p:cNvPr id="16" name="Shape 14"/>
          <p:cNvSpPr/>
          <p:nvPr/>
        </p:nvSpPr>
        <p:spPr>
          <a:xfrm>
            <a:off x="1051560" y="4078224"/>
            <a:ext cx="365760" cy="365760"/>
          </a:xfrm>
          <a:prstGeom prst="ellipse">
            <a:avLst/>
          </a:prstGeom>
          <a:solidFill>
            <a:srgbClr val="0B1220"/>
          </a:solidFill>
          <a:ln/>
        </p:spPr>
      </p:sp>
      <p:sp>
        <p:nvSpPr>
          <p:cNvPr id="17" name="Text 15"/>
          <p:cNvSpPr/>
          <p:nvPr/>
        </p:nvSpPr>
        <p:spPr>
          <a:xfrm>
            <a:off x="1051560" y="40782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600200" y="3968496"/>
            <a:ext cx="4434840" cy="58521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Assignments submitted via chat or forms</a:t>
            </a:r>
            <a:endParaRPr lang="en-US" sz="1350" dirty="0"/>
          </a:p>
        </p:txBody>
      </p:sp>
      <p:sp>
        <p:nvSpPr>
          <p:cNvPr id="19" name="Text 17"/>
          <p:cNvSpPr/>
          <p:nvPr/>
        </p:nvSpPr>
        <p:spPr>
          <a:xfrm>
            <a:off x="6172200" y="3968496"/>
            <a:ext cx="4983480" cy="585216"/>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Feedback is delayed and disorganized</a:t>
            </a:r>
            <a:endParaRPr lang="en-US" sz="1250" dirty="0"/>
          </a:p>
        </p:txBody>
      </p:sp>
      <p:sp>
        <p:nvSpPr>
          <p:cNvPr id="20" name="Shape 18"/>
          <p:cNvSpPr/>
          <p:nvPr/>
        </p:nvSpPr>
        <p:spPr>
          <a:xfrm>
            <a:off x="822960" y="4754880"/>
            <a:ext cx="10515600" cy="749808"/>
          </a:xfrm>
          <a:prstGeom prst="roundRect">
            <a:avLst>
              <a:gd name="adj" fmla="val 9756"/>
            </a:avLst>
          </a:prstGeom>
          <a:solidFill>
            <a:srgbClr val="F8FAFC"/>
          </a:solidFill>
          <a:ln/>
        </p:spPr>
      </p:sp>
      <p:sp>
        <p:nvSpPr>
          <p:cNvPr id="21" name="Shape 19"/>
          <p:cNvSpPr/>
          <p:nvPr/>
        </p:nvSpPr>
        <p:spPr>
          <a:xfrm>
            <a:off x="1051560" y="4946904"/>
            <a:ext cx="365760" cy="365760"/>
          </a:xfrm>
          <a:prstGeom prst="ellipse">
            <a:avLst/>
          </a:prstGeom>
          <a:solidFill>
            <a:srgbClr val="0B1220"/>
          </a:solidFill>
          <a:ln/>
        </p:spPr>
      </p:sp>
      <p:sp>
        <p:nvSpPr>
          <p:cNvPr id="22" name="Text 20"/>
          <p:cNvSpPr/>
          <p:nvPr/>
        </p:nvSpPr>
        <p:spPr>
          <a:xfrm>
            <a:off x="1051560" y="494690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600200" y="4837176"/>
            <a:ext cx="4434840" cy="58521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Announcements sent across many channels</a:t>
            </a:r>
            <a:endParaRPr lang="en-US" sz="1350" dirty="0"/>
          </a:p>
        </p:txBody>
      </p:sp>
      <p:sp>
        <p:nvSpPr>
          <p:cNvPr id="24" name="Text 22"/>
          <p:cNvSpPr/>
          <p:nvPr/>
        </p:nvSpPr>
        <p:spPr>
          <a:xfrm>
            <a:off x="6172200" y="4837176"/>
            <a:ext cx="4983480" cy="585216"/>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Students miss important updates</a:t>
            </a:r>
            <a:endParaRPr lang="en-US" sz="1250" dirty="0"/>
          </a:p>
        </p:txBody>
      </p:sp>
      <p:sp>
        <p:nvSpPr>
          <p:cNvPr id="25" name="Shape 23"/>
          <p:cNvSpPr/>
          <p:nvPr/>
        </p:nvSpPr>
        <p:spPr>
          <a:xfrm>
            <a:off x="822960" y="5623560"/>
            <a:ext cx="10515600" cy="749808"/>
          </a:xfrm>
          <a:prstGeom prst="roundRect">
            <a:avLst>
              <a:gd name="adj" fmla="val 9756"/>
            </a:avLst>
          </a:prstGeom>
          <a:solidFill>
            <a:srgbClr val="F8FAFC"/>
          </a:solidFill>
          <a:ln/>
        </p:spPr>
      </p:sp>
      <p:sp>
        <p:nvSpPr>
          <p:cNvPr id="26" name="Shape 24"/>
          <p:cNvSpPr/>
          <p:nvPr/>
        </p:nvSpPr>
        <p:spPr>
          <a:xfrm>
            <a:off x="1051560" y="5815584"/>
            <a:ext cx="365760" cy="365760"/>
          </a:xfrm>
          <a:prstGeom prst="ellipse">
            <a:avLst/>
          </a:prstGeom>
          <a:solidFill>
            <a:srgbClr val="0B1220"/>
          </a:solidFill>
          <a:ln/>
        </p:spPr>
      </p:sp>
      <p:sp>
        <p:nvSpPr>
          <p:cNvPr id="27" name="Text 25"/>
          <p:cNvSpPr/>
          <p:nvPr/>
        </p:nvSpPr>
        <p:spPr>
          <a:xfrm>
            <a:off x="1051560" y="58155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1600200" y="5705856"/>
            <a:ext cx="4434840" cy="585216"/>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No single dashboard for students</a:t>
            </a:r>
            <a:endParaRPr lang="en-US" sz="1350" dirty="0"/>
          </a:p>
        </p:txBody>
      </p:sp>
      <p:sp>
        <p:nvSpPr>
          <p:cNvPr id="29" name="Text 27"/>
          <p:cNvSpPr/>
          <p:nvPr/>
        </p:nvSpPr>
        <p:spPr>
          <a:xfrm>
            <a:off x="6172200" y="5705856"/>
            <a:ext cx="4983480" cy="585216"/>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No way to see their overall standing at a glance</a:t>
            </a:r>
            <a:endParaRPr lang="en-US" sz="1250" dirty="0"/>
          </a:p>
        </p:txBody>
      </p:sp>
      <p:sp>
        <p:nvSpPr>
          <p:cNvPr id="30" name="Text 28"/>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 / 15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22D3EE"/>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822960" y="685800"/>
            <a:ext cx="7772400" cy="82296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What You're Building</a:t>
            </a:r>
            <a:endParaRPr lang="en-US" sz="3400" dirty="0"/>
          </a:p>
        </p:txBody>
      </p:sp>
      <p:sp>
        <p:nvSpPr>
          <p:cNvPr id="4" name="Text 2"/>
          <p:cNvSpPr/>
          <p:nvPr/>
        </p:nvSpPr>
        <p:spPr>
          <a:xfrm>
            <a:off x="822960" y="1417320"/>
            <a:ext cx="8686800" cy="457200"/>
          </a:xfrm>
          <a:prstGeom prst="rect">
            <a:avLst/>
          </a:prstGeom>
          <a:noFill/>
          <a:ln/>
        </p:spPr>
        <p:txBody>
          <a:bodyPr wrap="square" lIns="0" tIns="0" rIns="0" bIns="0" rtlCol="0" anchor="ctr"/>
          <a:lstStyle/>
          <a:p>
            <a:pPr indent="0" marL="0">
              <a:buNone/>
            </a:pPr>
            <a:r>
              <a:rPr lang="en-US" sz="1400" dirty="0">
                <a:solidFill>
                  <a:srgbClr val="AEC0DE"/>
                </a:solidFill>
                <a:latin typeface="Calibri" pitchFamily="34" charset="0"/>
                <a:ea typeface="Calibri" pitchFamily="34" charset="-122"/>
                <a:cs typeface="Calibri" pitchFamily="34" charset="-120"/>
              </a:rPr>
              <a:t>Six goals define success. Every feature you build should trace back to one of these.</a:t>
            </a:r>
            <a:endParaRPr lang="en-US" sz="1400" dirty="0"/>
          </a:p>
        </p:txBody>
      </p:sp>
      <p:sp>
        <p:nvSpPr>
          <p:cNvPr id="5" name="Shape 3"/>
          <p:cNvSpPr/>
          <p:nvPr/>
        </p:nvSpPr>
        <p:spPr>
          <a:xfrm>
            <a:off x="822960" y="2148840"/>
            <a:ext cx="3429000" cy="1874520"/>
          </a:xfrm>
          <a:prstGeom prst="roundRect">
            <a:avLst>
              <a:gd name="adj" fmla="val 4878"/>
            </a:avLst>
          </a:prstGeom>
          <a:solidFill>
            <a:srgbClr val="16233D"/>
          </a:solidFill>
          <a:ln/>
        </p:spPr>
      </p:sp>
      <p:sp>
        <p:nvSpPr>
          <p:cNvPr id="6" name="Shape 4"/>
          <p:cNvSpPr/>
          <p:nvPr/>
        </p:nvSpPr>
        <p:spPr>
          <a:xfrm>
            <a:off x="1078992" y="2404872"/>
            <a:ext cx="548640" cy="548640"/>
          </a:xfrm>
          <a:prstGeom prst="ellipse">
            <a:avLst/>
          </a:prstGeom>
          <a:solidFill>
            <a:srgbClr val="22D3EE"/>
          </a:solidFill>
          <a:ln/>
        </p:spPr>
      </p:sp>
      <p:pic>
        <p:nvPicPr>
          <p:cNvPr id="7" name="Image 0" descr="/home/claude/bms-deck/icons/users.png">    </p:cNvPr>
          <p:cNvPicPr>
            <a:picLocks noChangeAspect="1"/>
          </p:cNvPicPr>
          <p:nvPr/>
        </p:nvPicPr>
        <p:blipFill>
          <a:blip r:embed="rId1"/>
          <a:stretch>
            <a:fillRect/>
          </a:stretch>
        </p:blipFill>
        <p:spPr>
          <a:xfrm>
            <a:off x="1210666" y="2536546"/>
            <a:ext cx="285293" cy="285293"/>
          </a:xfrm>
          <a:prstGeom prst="rect">
            <a:avLst/>
          </a:prstGeom>
        </p:spPr>
      </p:pic>
      <p:sp>
        <p:nvSpPr>
          <p:cNvPr id="8" name="Text 5"/>
          <p:cNvSpPr/>
          <p:nvPr/>
        </p:nvSpPr>
        <p:spPr>
          <a:xfrm>
            <a:off x="1078992" y="3081528"/>
            <a:ext cx="2916936"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Centralize everything</a:t>
            </a:r>
            <a:endParaRPr lang="en-US" sz="1450" dirty="0"/>
          </a:p>
        </p:txBody>
      </p:sp>
      <p:sp>
        <p:nvSpPr>
          <p:cNvPr id="9" name="Text 6"/>
          <p:cNvSpPr/>
          <p:nvPr/>
        </p:nvSpPr>
        <p:spPr>
          <a:xfrm>
            <a:off x="1078992" y="3447288"/>
            <a:ext cx="2916936" cy="502920"/>
          </a:xfrm>
          <a:prstGeom prst="rect">
            <a:avLst/>
          </a:prstGeom>
          <a:noFill/>
          <a:ln/>
        </p:spPr>
        <p:txBody>
          <a:bodyPr wrap="square" lIns="0" tIns="0" rIns="0" bIns="0" rtlCol="0" anchor="ctr"/>
          <a:lstStyle/>
          <a:p>
            <a:pPr indent="0" marL="0">
              <a:buNone/>
            </a:pPr>
            <a:r>
              <a:rPr lang="en-US" sz="1150" dirty="0">
                <a:solidFill>
                  <a:srgbClr val="9FB2D6"/>
                </a:solidFill>
                <a:latin typeface="Calibri" pitchFamily="34" charset="0"/>
                <a:ea typeface="Calibri" pitchFamily="34" charset="-122"/>
                <a:cs typeface="Calibri" pitchFamily="34" charset="-120"/>
              </a:rPr>
              <a:t>One system for admins, mentors, and students</a:t>
            </a:r>
            <a:endParaRPr lang="en-US" sz="1150" dirty="0"/>
          </a:p>
        </p:txBody>
      </p:sp>
      <p:sp>
        <p:nvSpPr>
          <p:cNvPr id="10" name="Shape 7"/>
          <p:cNvSpPr/>
          <p:nvPr/>
        </p:nvSpPr>
        <p:spPr>
          <a:xfrm>
            <a:off x="4507992" y="2148840"/>
            <a:ext cx="3429000" cy="1874520"/>
          </a:xfrm>
          <a:prstGeom prst="roundRect">
            <a:avLst>
              <a:gd name="adj" fmla="val 4878"/>
            </a:avLst>
          </a:prstGeom>
          <a:solidFill>
            <a:srgbClr val="16233D"/>
          </a:solidFill>
          <a:ln/>
        </p:spPr>
      </p:sp>
      <p:sp>
        <p:nvSpPr>
          <p:cNvPr id="11" name="Shape 8"/>
          <p:cNvSpPr/>
          <p:nvPr/>
        </p:nvSpPr>
        <p:spPr>
          <a:xfrm>
            <a:off x="4764024" y="2404872"/>
            <a:ext cx="548640" cy="548640"/>
          </a:xfrm>
          <a:prstGeom prst="ellipse">
            <a:avLst/>
          </a:prstGeom>
          <a:solidFill>
            <a:srgbClr val="22D3EE"/>
          </a:solidFill>
          <a:ln/>
        </p:spPr>
      </p:sp>
      <p:pic>
        <p:nvPicPr>
          <p:cNvPr id="12" name="Image 1" descr="/home/claude/bms-deck/icons/attendance.png">    </p:cNvPr>
          <p:cNvPicPr>
            <a:picLocks noChangeAspect="1"/>
          </p:cNvPicPr>
          <p:nvPr/>
        </p:nvPicPr>
        <p:blipFill>
          <a:blip r:embed="rId2"/>
          <a:stretch>
            <a:fillRect/>
          </a:stretch>
        </p:blipFill>
        <p:spPr>
          <a:xfrm>
            <a:off x="4895698" y="2536546"/>
            <a:ext cx="285293" cy="285293"/>
          </a:xfrm>
          <a:prstGeom prst="rect">
            <a:avLst/>
          </a:prstGeom>
        </p:spPr>
      </p:pic>
      <p:sp>
        <p:nvSpPr>
          <p:cNvPr id="13" name="Text 9"/>
          <p:cNvSpPr/>
          <p:nvPr/>
        </p:nvSpPr>
        <p:spPr>
          <a:xfrm>
            <a:off x="4764024" y="3081528"/>
            <a:ext cx="2916936"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Automate attendance</a:t>
            </a:r>
            <a:endParaRPr lang="en-US" sz="1450" dirty="0"/>
          </a:p>
        </p:txBody>
      </p:sp>
      <p:sp>
        <p:nvSpPr>
          <p:cNvPr id="14" name="Text 10"/>
          <p:cNvSpPr/>
          <p:nvPr/>
        </p:nvSpPr>
        <p:spPr>
          <a:xfrm>
            <a:off x="4764024" y="3447288"/>
            <a:ext cx="2916936" cy="502920"/>
          </a:xfrm>
          <a:prstGeom prst="rect">
            <a:avLst/>
          </a:prstGeom>
          <a:noFill/>
          <a:ln/>
        </p:spPr>
        <p:txBody>
          <a:bodyPr wrap="square" lIns="0" tIns="0" rIns="0" bIns="0" rtlCol="0" anchor="ctr"/>
          <a:lstStyle/>
          <a:p>
            <a:pPr indent="0" marL="0">
              <a:buNone/>
            </a:pPr>
            <a:r>
              <a:rPr lang="en-US" sz="1150" dirty="0">
                <a:solidFill>
                  <a:srgbClr val="9FB2D6"/>
                </a:solidFill>
                <a:latin typeface="Calibri" pitchFamily="34" charset="0"/>
                <a:ea typeface="Calibri" pitchFamily="34" charset="-122"/>
                <a:cs typeface="Calibri" pitchFamily="34" charset="-120"/>
              </a:rPr>
              <a:t>Percentages calculated automatically, not by hand</a:t>
            </a:r>
            <a:endParaRPr lang="en-US" sz="1150" dirty="0"/>
          </a:p>
        </p:txBody>
      </p:sp>
      <p:sp>
        <p:nvSpPr>
          <p:cNvPr id="15" name="Shape 11"/>
          <p:cNvSpPr/>
          <p:nvPr/>
        </p:nvSpPr>
        <p:spPr>
          <a:xfrm>
            <a:off x="8193024" y="2148840"/>
            <a:ext cx="3429000" cy="1874520"/>
          </a:xfrm>
          <a:prstGeom prst="roundRect">
            <a:avLst>
              <a:gd name="adj" fmla="val 4878"/>
            </a:avLst>
          </a:prstGeom>
          <a:solidFill>
            <a:srgbClr val="16233D"/>
          </a:solidFill>
          <a:ln/>
        </p:spPr>
      </p:sp>
      <p:sp>
        <p:nvSpPr>
          <p:cNvPr id="16" name="Shape 12"/>
          <p:cNvSpPr/>
          <p:nvPr/>
        </p:nvSpPr>
        <p:spPr>
          <a:xfrm>
            <a:off x="8449056" y="2404872"/>
            <a:ext cx="548640" cy="548640"/>
          </a:xfrm>
          <a:prstGeom prst="ellipse">
            <a:avLst/>
          </a:prstGeom>
          <a:solidFill>
            <a:srgbClr val="22D3EE"/>
          </a:solidFill>
          <a:ln/>
        </p:spPr>
      </p:sp>
      <p:pic>
        <p:nvPicPr>
          <p:cNvPr id="17" name="Image 2" descr="/home/claude/bms-deck/icons/progress.png">    </p:cNvPr>
          <p:cNvPicPr>
            <a:picLocks noChangeAspect="1"/>
          </p:cNvPicPr>
          <p:nvPr/>
        </p:nvPicPr>
        <p:blipFill>
          <a:blip r:embed="rId3"/>
          <a:stretch>
            <a:fillRect/>
          </a:stretch>
        </p:blipFill>
        <p:spPr>
          <a:xfrm>
            <a:off x="8580730" y="2536546"/>
            <a:ext cx="285293" cy="285293"/>
          </a:xfrm>
          <a:prstGeom prst="rect">
            <a:avLst/>
          </a:prstGeom>
        </p:spPr>
      </p:pic>
      <p:sp>
        <p:nvSpPr>
          <p:cNvPr id="18" name="Text 13"/>
          <p:cNvSpPr/>
          <p:nvPr/>
        </p:nvSpPr>
        <p:spPr>
          <a:xfrm>
            <a:off x="8449056" y="3081528"/>
            <a:ext cx="2916936"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Track real progress</a:t>
            </a:r>
            <a:endParaRPr lang="en-US" sz="1450" dirty="0"/>
          </a:p>
        </p:txBody>
      </p:sp>
      <p:sp>
        <p:nvSpPr>
          <p:cNvPr id="19" name="Text 14"/>
          <p:cNvSpPr/>
          <p:nvPr/>
        </p:nvSpPr>
        <p:spPr>
          <a:xfrm>
            <a:off x="8449056" y="3447288"/>
            <a:ext cx="2916936" cy="502920"/>
          </a:xfrm>
          <a:prstGeom prst="rect">
            <a:avLst/>
          </a:prstGeom>
          <a:noFill/>
          <a:ln/>
        </p:spPr>
        <p:txBody>
          <a:bodyPr wrap="square" lIns="0" tIns="0" rIns="0" bIns="0" rtlCol="0" anchor="ctr"/>
          <a:lstStyle/>
          <a:p>
            <a:pPr indent="0" marL="0">
              <a:buNone/>
            </a:pPr>
            <a:r>
              <a:rPr lang="en-US" sz="1150" dirty="0">
                <a:solidFill>
                  <a:srgbClr val="9FB2D6"/>
                </a:solidFill>
                <a:latin typeface="Calibri" pitchFamily="34" charset="0"/>
                <a:ea typeface="Calibri" pitchFamily="34" charset="-122"/>
                <a:cs typeface="Calibri" pitchFamily="34" charset="-120"/>
              </a:rPr>
              <a:t>Monitor students topic by topic, week by week</a:t>
            </a:r>
            <a:endParaRPr lang="en-US" sz="1150" dirty="0"/>
          </a:p>
        </p:txBody>
      </p:sp>
      <p:sp>
        <p:nvSpPr>
          <p:cNvPr id="20" name="Shape 15"/>
          <p:cNvSpPr/>
          <p:nvPr/>
        </p:nvSpPr>
        <p:spPr>
          <a:xfrm>
            <a:off x="822960" y="4297680"/>
            <a:ext cx="3429000" cy="1874520"/>
          </a:xfrm>
          <a:prstGeom prst="roundRect">
            <a:avLst>
              <a:gd name="adj" fmla="val 4878"/>
            </a:avLst>
          </a:prstGeom>
          <a:solidFill>
            <a:srgbClr val="16233D"/>
          </a:solidFill>
          <a:ln/>
        </p:spPr>
      </p:sp>
      <p:sp>
        <p:nvSpPr>
          <p:cNvPr id="21" name="Shape 16"/>
          <p:cNvSpPr/>
          <p:nvPr/>
        </p:nvSpPr>
        <p:spPr>
          <a:xfrm>
            <a:off x="1078992" y="4553712"/>
            <a:ext cx="548640" cy="548640"/>
          </a:xfrm>
          <a:prstGeom prst="ellipse">
            <a:avLst/>
          </a:prstGeom>
          <a:solidFill>
            <a:srgbClr val="22D3EE"/>
          </a:solidFill>
          <a:ln/>
        </p:spPr>
      </p:sp>
      <p:pic>
        <p:nvPicPr>
          <p:cNvPr id="22" name="Image 3" descr="/home/claude/bms-deck/icons/assignment.png">    </p:cNvPr>
          <p:cNvPicPr>
            <a:picLocks noChangeAspect="1"/>
          </p:cNvPicPr>
          <p:nvPr/>
        </p:nvPicPr>
        <p:blipFill>
          <a:blip r:embed="rId4"/>
          <a:stretch>
            <a:fillRect/>
          </a:stretch>
        </p:blipFill>
        <p:spPr>
          <a:xfrm>
            <a:off x="1210666" y="4685386"/>
            <a:ext cx="285293" cy="285293"/>
          </a:xfrm>
          <a:prstGeom prst="rect">
            <a:avLst/>
          </a:prstGeom>
        </p:spPr>
      </p:pic>
      <p:sp>
        <p:nvSpPr>
          <p:cNvPr id="23" name="Text 17"/>
          <p:cNvSpPr/>
          <p:nvPr/>
        </p:nvSpPr>
        <p:spPr>
          <a:xfrm>
            <a:off x="1078992" y="5230368"/>
            <a:ext cx="2916936"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Manage the full loop</a:t>
            </a:r>
            <a:endParaRPr lang="en-US" sz="1450" dirty="0"/>
          </a:p>
        </p:txBody>
      </p:sp>
      <p:sp>
        <p:nvSpPr>
          <p:cNvPr id="24" name="Text 18"/>
          <p:cNvSpPr/>
          <p:nvPr/>
        </p:nvSpPr>
        <p:spPr>
          <a:xfrm>
            <a:off x="1078992" y="5596128"/>
            <a:ext cx="2916936" cy="502920"/>
          </a:xfrm>
          <a:prstGeom prst="rect">
            <a:avLst/>
          </a:prstGeom>
          <a:noFill/>
          <a:ln/>
        </p:spPr>
        <p:txBody>
          <a:bodyPr wrap="square" lIns="0" tIns="0" rIns="0" bIns="0" rtlCol="0" anchor="ctr"/>
          <a:lstStyle/>
          <a:p>
            <a:pPr indent="0" marL="0">
              <a:buNone/>
            </a:pPr>
            <a:r>
              <a:rPr lang="en-US" sz="1150" dirty="0">
                <a:solidFill>
                  <a:srgbClr val="9FB2D6"/>
                </a:solidFill>
                <a:latin typeface="Calibri" pitchFamily="34" charset="0"/>
                <a:ea typeface="Calibri" pitchFamily="34" charset="-122"/>
                <a:cs typeface="Calibri" pitchFamily="34" charset="-120"/>
              </a:rPr>
              <a:t>Assignments, submissions, grading, feedback</a:t>
            </a:r>
            <a:endParaRPr lang="en-US" sz="1150" dirty="0"/>
          </a:p>
        </p:txBody>
      </p:sp>
      <p:sp>
        <p:nvSpPr>
          <p:cNvPr id="25" name="Shape 19"/>
          <p:cNvSpPr/>
          <p:nvPr/>
        </p:nvSpPr>
        <p:spPr>
          <a:xfrm>
            <a:off x="4507992" y="4297680"/>
            <a:ext cx="3429000" cy="1874520"/>
          </a:xfrm>
          <a:prstGeom prst="roundRect">
            <a:avLst>
              <a:gd name="adj" fmla="val 4878"/>
            </a:avLst>
          </a:prstGeom>
          <a:solidFill>
            <a:srgbClr val="16233D"/>
          </a:solidFill>
          <a:ln/>
        </p:spPr>
      </p:sp>
      <p:sp>
        <p:nvSpPr>
          <p:cNvPr id="26" name="Shape 20"/>
          <p:cNvSpPr/>
          <p:nvPr/>
        </p:nvSpPr>
        <p:spPr>
          <a:xfrm>
            <a:off x="4764024" y="4553712"/>
            <a:ext cx="548640" cy="548640"/>
          </a:xfrm>
          <a:prstGeom prst="ellipse">
            <a:avLst/>
          </a:prstGeom>
          <a:solidFill>
            <a:srgbClr val="22D3EE"/>
          </a:solidFill>
          <a:ln/>
        </p:spPr>
      </p:sp>
      <p:pic>
        <p:nvPicPr>
          <p:cNvPr id="27" name="Image 4" descr="/home/claude/bms-deck/icons/bell.png">    </p:cNvPr>
          <p:cNvPicPr>
            <a:picLocks noChangeAspect="1"/>
          </p:cNvPicPr>
          <p:nvPr/>
        </p:nvPicPr>
        <p:blipFill>
          <a:blip r:embed="rId5"/>
          <a:stretch>
            <a:fillRect/>
          </a:stretch>
        </p:blipFill>
        <p:spPr>
          <a:xfrm>
            <a:off x="4895698" y="4685386"/>
            <a:ext cx="285293" cy="285293"/>
          </a:xfrm>
          <a:prstGeom prst="rect">
            <a:avLst/>
          </a:prstGeom>
        </p:spPr>
      </p:pic>
      <p:sp>
        <p:nvSpPr>
          <p:cNvPr id="28" name="Text 21"/>
          <p:cNvSpPr/>
          <p:nvPr/>
        </p:nvSpPr>
        <p:spPr>
          <a:xfrm>
            <a:off x="4764024" y="5230368"/>
            <a:ext cx="2916936"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One source of truth</a:t>
            </a:r>
            <a:endParaRPr lang="en-US" sz="1450" dirty="0"/>
          </a:p>
        </p:txBody>
      </p:sp>
      <p:sp>
        <p:nvSpPr>
          <p:cNvPr id="29" name="Text 22"/>
          <p:cNvSpPr/>
          <p:nvPr/>
        </p:nvSpPr>
        <p:spPr>
          <a:xfrm>
            <a:off x="4764024" y="5596128"/>
            <a:ext cx="2916936" cy="502920"/>
          </a:xfrm>
          <a:prstGeom prst="rect">
            <a:avLst/>
          </a:prstGeom>
          <a:noFill/>
          <a:ln/>
        </p:spPr>
        <p:txBody>
          <a:bodyPr wrap="square" lIns="0" tIns="0" rIns="0" bIns="0" rtlCol="0" anchor="ctr"/>
          <a:lstStyle/>
          <a:p>
            <a:pPr indent="0" marL="0">
              <a:buNone/>
            </a:pPr>
            <a:r>
              <a:rPr lang="en-US" sz="1150" dirty="0">
                <a:solidFill>
                  <a:srgbClr val="9FB2D6"/>
                </a:solidFill>
                <a:latin typeface="Calibri" pitchFamily="34" charset="0"/>
                <a:ea typeface="Calibri" pitchFamily="34" charset="-122"/>
                <a:cs typeface="Calibri" pitchFamily="34" charset="-120"/>
              </a:rPr>
              <a:t>Announcements and notifications, centralized</a:t>
            </a:r>
            <a:endParaRPr lang="en-US" sz="1150" dirty="0"/>
          </a:p>
        </p:txBody>
      </p:sp>
      <p:sp>
        <p:nvSpPr>
          <p:cNvPr id="30" name="Shape 23"/>
          <p:cNvSpPr/>
          <p:nvPr/>
        </p:nvSpPr>
        <p:spPr>
          <a:xfrm>
            <a:off x="8193024" y="4297680"/>
            <a:ext cx="3429000" cy="1874520"/>
          </a:xfrm>
          <a:prstGeom prst="roundRect">
            <a:avLst>
              <a:gd name="adj" fmla="val 4878"/>
            </a:avLst>
          </a:prstGeom>
          <a:solidFill>
            <a:srgbClr val="16233D"/>
          </a:solidFill>
          <a:ln/>
        </p:spPr>
      </p:sp>
      <p:sp>
        <p:nvSpPr>
          <p:cNvPr id="31" name="Shape 24"/>
          <p:cNvSpPr/>
          <p:nvPr/>
        </p:nvSpPr>
        <p:spPr>
          <a:xfrm>
            <a:off x="8449056" y="4553712"/>
            <a:ext cx="548640" cy="548640"/>
          </a:xfrm>
          <a:prstGeom prst="ellipse">
            <a:avLst/>
          </a:prstGeom>
          <a:solidFill>
            <a:srgbClr val="22D3EE"/>
          </a:solidFill>
          <a:ln/>
        </p:spPr>
      </p:sp>
      <p:pic>
        <p:nvPicPr>
          <p:cNvPr id="32" name="Image 5" descr="/home/claude/bms-deck/icons/dashboard.png">    </p:cNvPr>
          <p:cNvPicPr>
            <a:picLocks noChangeAspect="1"/>
          </p:cNvPicPr>
          <p:nvPr/>
        </p:nvPicPr>
        <p:blipFill>
          <a:blip r:embed="rId6"/>
          <a:stretch>
            <a:fillRect/>
          </a:stretch>
        </p:blipFill>
        <p:spPr>
          <a:xfrm>
            <a:off x="8580730" y="4685386"/>
            <a:ext cx="285293" cy="285293"/>
          </a:xfrm>
          <a:prstGeom prst="rect">
            <a:avLst/>
          </a:prstGeom>
        </p:spPr>
      </p:pic>
      <p:sp>
        <p:nvSpPr>
          <p:cNvPr id="33" name="Text 25"/>
          <p:cNvSpPr/>
          <p:nvPr/>
        </p:nvSpPr>
        <p:spPr>
          <a:xfrm>
            <a:off x="8449056" y="5230368"/>
            <a:ext cx="2916936"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Give every role a view</a:t>
            </a:r>
            <a:endParaRPr lang="en-US" sz="1450" dirty="0"/>
          </a:p>
        </p:txBody>
      </p:sp>
      <p:sp>
        <p:nvSpPr>
          <p:cNvPr id="34" name="Text 26"/>
          <p:cNvSpPr/>
          <p:nvPr/>
        </p:nvSpPr>
        <p:spPr>
          <a:xfrm>
            <a:off x="8449056" y="5596128"/>
            <a:ext cx="2916936" cy="502920"/>
          </a:xfrm>
          <a:prstGeom prst="rect">
            <a:avLst/>
          </a:prstGeom>
          <a:noFill/>
          <a:ln/>
        </p:spPr>
        <p:txBody>
          <a:bodyPr wrap="square" lIns="0" tIns="0" rIns="0" bIns="0" rtlCol="0" anchor="ctr"/>
          <a:lstStyle/>
          <a:p>
            <a:pPr indent="0" marL="0">
              <a:buNone/>
            </a:pPr>
            <a:r>
              <a:rPr lang="en-US" sz="1150" dirty="0">
                <a:solidFill>
                  <a:srgbClr val="9FB2D6"/>
                </a:solidFill>
                <a:latin typeface="Calibri" pitchFamily="34" charset="0"/>
                <a:ea typeface="Calibri" pitchFamily="34" charset="-122"/>
                <a:cs typeface="Calibri" pitchFamily="34" charset="-120"/>
              </a:rPr>
              <a:t>Role-specific dashboards, tailored to the job</a:t>
            </a:r>
            <a:endParaRPr lang="en-US" sz="1150" dirty="0"/>
          </a:p>
        </p:txBody>
      </p:sp>
      <p:sp>
        <p:nvSpPr>
          <p:cNvPr id="35" name="Text 27"/>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 / 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0891B2"/>
                </a:solidFill>
                <a:latin typeface="Calibri" pitchFamily="34" charset="0"/>
                <a:ea typeface="Calibri" pitchFamily="34" charset="-122"/>
                <a:cs typeface="Calibri" pitchFamily="34" charset="-120"/>
              </a:rPr>
              <a:t>ACCESS &amp; PERMISSIONS</a:t>
            </a:r>
            <a:endParaRPr lang="en-US" sz="1200" dirty="0"/>
          </a:p>
        </p:txBody>
      </p:sp>
      <p:sp>
        <p:nvSpPr>
          <p:cNvPr id="3" name="Text 1"/>
          <p:cNvSpPr/>
          <p:nvPr/>
        </p:nvSpPr>
        <p:spPr>
          <a:xfrm>
            <a:off x="822960" y="685800"/>
            <a:ext cx="7772400" cy="822960"/>
          </a:xfrm>
          <a:prstGeom prst="rect">
            <a:avLst/>
          </a:prstGeom>
          <a:noFill/>
          <a:ln/>
        </p:spPr>
        <p:txBody>
          <a:bodyPr wrap="square" lIns="0" tIns="0" rIns="0" bIns="0" rtlCol="0" anchor="t"/>
          <a:lstStyle/>
          <a:p>
            <a:pPr algn="l" indent="0" marL="0">
              <a:buNone/>
            </a:pPr>
            <a:r>
              <a:rPr lang="en-US" sz="3400" b="1" dirty="0">
                <a:solidFill>
                  <a:srgbClr val="0B1220"/>
                </a:solidFill>
                <a:latin typeface="Cambria" pitchFamily="34" charset="0"/>
                <a:ea typeface="Cambria" pitchFamily="34" charset="-122"/>
                <a:cs typeface="Cambria" pitchFamily="34" charset="-120"/>
              </a:rPr>
              <a:t>Three Roles, One System</a:t>
            </a:r>
            <a:endParaRPr lang="en-US" sz="3400" dirty="0"/>
          </a:p>
        </p:txBody>
      </p:sp>
      <p:sp>
        <p:nvSpPr>
          <p:cNvPr id="4" name="Text 2"/>
          <p:cNvSpPr/>
          <p:nvPr/>
        </p:nvSpPr>
        <p:spPr>
          <a:xfrm>
            <a:off x="822960" y="1417320"/>
            <a:ext cx="9601200" cy="45720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Access is enforced through Role-Based Access Control (RBAC) — on both the frontend routes and the backend APIs.</a:t>
            </a:r>
            <a:endParaRPr lang="en-US" sz="1400" dirty="0"/>
          </a:p>
        </p:txBody>
      </p:sp>
      <p:sp>
        <p:nvSpPr>
          <p:cNvPr id="5" name="Shape 3"/>
          <p:cNvSpPr/>
          <p:nvPr/>
        </p:nvSpPr>
        <p:spPr>
          <a:xfrm>
            <a:off x="822960" y="2148840"/>
            <a:ext cx="3429000" cy="3794760"/>
          </a:xfrm>
          <a:prstGeom prst="roundRect">
            <a:avLst>
              <a:gd name="adj" fmla="val 2667"/>
            </a:avLst>
          </a:prstGeom>
          <a:solidFill>
            <a:srgbClr val="F8FAFC"/>
          </a:solidFill>
          <a:ln w="12700">
            <a:solidFill>
              <a:srgbClr val="E2E8F0"/>
            </a:solidFill>
            <a:prstDash val="solid"/>
          </a:ln>
        </p:spPr>
      </p:sp>
      <p:sp>
        <p:nvSpPr>
          <p:cNvPr id="6" name="Shape 4"/>
          <p:cNvSpPr/>
          <p:nvPr/>
        </p:nvSpPr>
        <p:spPr>
          <a:xfrm>
            <a:off x="1115568" y="2441448"/>
            <a:ext cx="658368" cy="658368"/>
          </a:xfrm>
          <a:prstGeom prst="ellipse">
            <a:avLst/>
          </a:prstGeom>
          <a:solidFill>
            <a:srgbClr val="0B1220"/>
          </a:solidFill>
          <a:ln/>
        </p:spPr>
      </p:sp>
      <p:pic>
        <p:nvPicPr>
          <p:cNvPr id="7" name="Image 0" descr="/home/claude/bms-deck/icons/shield.png">    </p:cNvPr>
          <p:cNvPicPr>
            <a:picLocks noChangeAspect="1"/>
          </p:cNvPicPr>
          <p:nvPr/>
        </p:nvPicPr>
        <p:blipFill>
          <a:blip r:embed="rId1"/>
          <a:stretch>
            <a:fillRect/>
          </a:stretch>
        </p:blipFill>
        <p:spPr>
          <a:xfrm>
            <a:off x="1273576" y="2599456"/>
            <a:ext cx="342351" cy="342351"/>
          </a:xfrm>
          <a:prstGeom prst="rect">
            <a:avLst/>
          </a:prstGeom>
        </p:spPr>
      </p:pic>
      <p:sp>
        <p:nvSpPr>
          <p:cNvPr id="8" name="Text 5"/>
          <p:cNvSpPr/>
          <p:nvPr/>
        </p:nvSpPr>
        <p:spPr>
          <a:xfrm>
            <a:off x="1115568" y="3246120"/>
            <a:ext cx="2843784" cy="457200"/>
          </a:xfrm>
          <a:prstGeom prst="rect">
            <a:avLst/>
          </a:prstGeom>
          <a:noFill/>
          <a:ln/>
        </p:spPr>
        <p:txBody>
          <a:bodyPr wrap="square" lIns="0" tIns="0" rIns="0" bIns="0" rtlCol="0" anchor="ctr"/>
          <a:lstStyle/>
          <a:p>
            <a:pPr indent="0" marL="0">
              <a:buNone/>
            </a:pPr>
            <a:r>
              <a:rPr lang="en-US" sz="2200" b="1" dirty="0">
                <a:solidFill>
                  <a:srgbClr val="0B1220"/>
                </a:solidFill>
                <a:latin typeface="Cambria" pitchFamily="34" charset="0"/>
                <a:ea typeface="Cambria" pitchFamily="34" charset="-122"/>
                <a:cs typeface="Cambria" pitchFamily="34" charset="-120"/>
              </a:rPr>
              <a:t>Admin</a:t>
            </a:r>
            <a:endParaRPr lang="en-US" sz="2200" dirty="0"/>
          </a:p>
        </p:txBody>
      </p:sp>
      <p:sp>
        <p:nvSpPr>
          <p:cNvPr id="9" name="Text 6"/>
          <p:cNvSpPr/>
          <p:nvPr/>
        </p:nvSpPr>
        <p:spPr>
          <a:xfrm>
            <a:off x="1115568" y="3685032"/>
            <a:ext cx="2843784" cy="365760"/>
          </a:xfrm>
          <a:prstGeom prst="rect">
            <a:avLst/>
          </a:prstGeom>
          <a:noFill/>
          <a:ln/>
        </p:spPr>
        <p:txBody>
          <a:bodyPr wrap="square" lIns="0" tIns="0" rIns="0" bIns="0" rtlCol="0" anchor="ctr"/>
          <a:lstStyle/>
          <a:p>
            <a:pPr indent="0" marL="0">
              <a:buNone/>
            </a:pPr>
            <a:r>
              <a:rPr lang="en-US" sz="1200" i="1" dirty="0">
                <a:solidFill>
                  <a:srgbClr val="0891B2"/>
                </a:solidFill>
                <a:latin typeface="Calibri" pitchFamily="34" charset="0"/>
                <a:ea typeface="Calibri" pitchFamily="34" charset="-122"/>
                <a:cs typeface="Calibri" pitchFamily="34" charset="-120"/>
              </a:rPr>
              <a:t>Manages the overall bootcamp</a:t>
            </a:r>
            <a:endParaRPr lang="en-US" sz="1200" dirty="0"/>
          </a:p>
        </p:txBody>
      </p:sp>
      <p:sp>
        <p:nvSpPr>
          <p:cNvPr id="10" name="Text 7"/>
          <p:cNvSpPr/>
          <p:nvPr/>
        </p:nvSpPr>
        <p:spPr>
          <a:xfrm>
            <a:off x="1115568" y="4178808"/>
            <a:ext cx="2843784" cy="160020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Full control over users, mentors, batches</a:t>
            </a:r>
            <a:endParaRPr lang="en-US" sz="1250" dirty="0"/>
          </a:p>
          <a:p>
            <a:pPr marL="177800" indent="-1778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Creates &amp; manages announcements</a:t>
            </a:r>
            <a:endParaRPr lang="en-US" sz="1250" dirty="0"/>
          </a:p>
          <a:p>
            <a:pPr marL="177800" indent="-1778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Views bootcamp-wide statistics</a:t>
            </a:r>
            <a:endParaRPr lang="en-US" sz="1250" dirty="0"/>
          </a:p>
        </p:txBody>
      </p:sp>
      <p:sp>
        <p:nvSpPr>
          <p:cNvPr id="11" name="Shape 8"/>
          <p:cNvSpPr/>
          <p:nvPr/>
        </p:nvSpPr>
        <p:spPr>
          <a:xfrm>
            <a:off x="4507992" y="2148840"/>
            <a:ext cx="3429000" cy="3794760"/>
          </a:xfrm>
          <a:prstGeom prst="roundRect">
            <a:avLst>
              <a:gd name="adj" fmla="val 2667"/>
            </a:avLst>
          </a:prstGeom>
          <a:solidFill>
            <a:srgbClr val="F8FAFC"/>
          </a:solidFill>
          <a:ln w="12700">
            <a:solidFill>
              <a:srgbClr val="E2E8F0"/>
            </a:solidFill>
            <a:prstDash val="solid"/>
          </a:ln>
        </p:spPr>
      </p:sp>
      <p:sp>
        <p:nvSpPr>
          <p:cNvPr id="12" name="Shape 9"/>
          <p:cNvSpPr/>
          <p:nvPr/>
        </p:nvSpPr>
        <p:spPr>
          <a:xfrm>
            <a:off x="4800600" y="2441448"/>
            <a:ext cx="658368" cy="658368"/>
          </a:xfrm>
          <a:prstGeom prst="ellipse">
            <a:avLst/>
          </a:prstGeom>
          <a:solidFill>
            <a:srgbClr val="0B1220"/>
          </a:solidFill>
          <a:ln/>
        </p:spPr>
      </p:sp>
      <p:pic>
        <p:nvPicPr>
          <p:cNvPr id="13" name="Image 1" descr="/home/claude/bms-deck/icons/mentor.png">    </p:cNvPr>
          <p:cNvPicPr>
            <a:picLocks noChangeAspect="1"/>
          </p:cNvPicPr>
          <p:nvPr/>
        </p:nvPicPr>
        <p:blipFill>
          <a:blip r:embed="rId2"/>
          <a:stretch>
            <a:fillRect/>
          </a:stretch>
        </p:blipFill>
        <p:spPr>
          <a:xfrm>
            <a:off x="4958608" y="2599456"/>
            <a:ext cx="342351" cy="342351"/>
          </a:xfrm>
          <a:prstGeom prst="rect">
            <a:avLst/>
          </a:prstGeom>
        </p:spPr>
      </p:pic>
      <p:sp>
        <p:nvSpPr>
          <p:cNvPr id="14" name="Text 10"/>
          <p:cNvSpPr/>
          <p:nvPr/>
        </p:nvSpPr>
        <p:spPr>
          <a:xfrm>
            <a:off x="4800600" y="3246120"/>
            <a:ext cx="2843784" cy="457200"/>
          </a:xfrm>
          <a:prstGeom prst="rect">
            <a:avLst/>
          </a:prstGeom>
          <a:noFill/>
          <a:ln/>
        </p:spPr>
        <p:txBody>
          <a:bodyPr wrap="square" lIns="0" tIns="0" rIns="0" bIns="0" rtlCol="0" anchor="ctr"/>
          <a:lstStyle/>
          <a:p>
            <a:pPr indent="0" marL="0">
              <a:buNone/>
            </a:pPr>
            <a:r>
              <a:rPr lang="en-US" sz="2200" b="1" dirty="0">
                <a:solidFill>
                  <a:srgbClr val="0B1220"/>
                </a:solidFill>
                <a:latin typeface="Cambria" pitchFamily="34" charset="0"/>
                <a:ea typeface="Cambria" pitchFamily="34" charset="-122"/>
                <a:cs typeface="Cambria" pitchFamily="34" charset="-120"/>
              </a:rPr>
              <a:t>Mentor</a:t>
            </a:r>
            <a:endParaRPr lang="en-US" sz="2200" dirty="0"/>
          </a:p>
        </p:txBody>
      </p:sp>
      <p:sp>
        <p:nvSpPr>
          <p:cNvPr id="15" name="Text 11"/>
          <p:cNvSpPr/>
          <p:nvPr/>
        </p:nvSpPr>
        <p:spPr>
          <a:xfrm>
            <a:off x="4800600" y="3685032"/>
            <a:ext cx="2843784" cy="365760"/>
          </a:xfrm>
          <a:prstGeom prst="rect">
            <a:avLst/>
          </a:prstGeom>
          <a:noFill/>
          <a:ln/>
        </p:spPr>
        <p:txBody>
          <a:bodyPr wrap="square" lIns="0" tIns="0" rIns="0" bIns="0" rtlCol="0" anchor="ctr"/>
          <a:lstStyle/>
          <a:p>
            <a:pPr indent="0" marL="0">
              <a:buNone/>
            </a:pPr>
            <a:r>
              <a:rPr lang="en-US" sz="1200" i="1" dirty="0">
                <a:solidFill>
                  <a:srgbClr val="0891B2"/>
                </a:solidFill>
                <a:latin typeface="Calibri" pitchFamily="34" charset="0"/>
                <a:ea typeface="Calibri" pitchFamily="34" charset="-122"/>
                <a:cs typeface="Calibri" pitchFamily="34" charset="-120"/>
              </a:rPr>
              <a:t>Manages assigned students</a:t>
            </a:r>
            <a:endParaRPr lang="en-US" sz="1200" dirty="0"/>
          </a:p>
        </p:txBody>
      </p:sp>
      <p:sp>
        <p:nvSpPr>
          <p:cNvPr id="16" name="Text 12"/>
          <p:cNvSpPr/>
          <p:nvPr/>
        </p:nvSpPr>
        <p:spPr>
          <a:xfrm>
            <a:off x="4800600" y="4178808"/>
            <a:ext cx="2843784" cy="160020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Attendance &amp; progress tracking</a:t>
            </a:r>
            <a:endParaRPr lang="en-US" sz="1250" dirty="0"/>
          </a:p>
          <a:p>
            <a:pPr marL="177800" indent="-1778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Reviews &amp; grades assignments</a:t>
            </a:r>
            <a:endParaRPr lang="en-US" sz="1250" dirty="0"/>
          </a:p>
          <a:p>
            <a:pPr marL="177800" indent="-1778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Posts announcements to their batch</a:t>
            </a:r>
            <a:endParaRPr lang="en-US" sz="1250" dirty="0"/>
          </a:p>
        </p:txBody>
      </p:sp>
      <p:sp>
        <p:nvSpPr>
          <p:cNvPr id="17" name="Shape 13"/>
          <p:cNvSpPr/>
          <p:nvPr/>
        </p:nvSpPr>
        <p:spPr>
          <a:xfrm>
            <a:off x="8193024" y="2148840"/>
            <a:ext cx="3429000" cy="3794760"/>
          </a:xfrm>
          <a:prstGeom prst="roundRect">
            <a:avLst>
              <a:gd name="adj" fmla="val 2667"/>
            </a:avLst>
          </a:prstGeom>
          <a:solidFill>
            <a:srgbClr val="F8FAFC"/>
          </a:solidFill>
          <a:ln w="12700">
            <a:solidFill>
              <a:srgbClr val="E2E8F0"/>
            </a:solidFill>
            <a:prstDash val="solid"/>
          </a:ln>
        </p:spPr>
      </p:sp>
      <p:sp>
        <p:nvSpPr>
          <p:cNvPr id="18" name="Shape 14"/>
          <p:cNvSpPr/>
          <p:nvPr/>
        </p:nvSpPr>
        <p:spPr>
          <a:xfrm>
            <a:off x="8485632" y="2441448"/>
            <a:ext cx="658368" cy="658368"/>
          </a:xfrm>
          <a:prstGeom prst="ellipse">
            <a:avLst/>
          </a:prstGeom>
          <a:solidFill>
            <a:srgbClr val="0B1220"/>
          </a:solidFill>
          <a:ln/>
        </p:spPr>
      </p:sp>
      <p:pic>
        <p:nvPicPr>
          <p:cNvPr id="19" name="Image 2" descr="/home/claude/bms-deck/icons/student.png">    </p:cNvPr>
          <p:cNvPicPr>
            <a:picLocks noChangeAspect="1"/>
          </p:cNvPicPr>
          <p:nvPr/>
        </p:nvPicPr>
        <p:blipFill>
          <a:blip r:embed="rId3"/>
          <a:stretch>
            <a:fillRect/>
          </a:stretch>
        </p:blipFill>
        <p:spPr>
          <a:xfrm>
            <a:off x="8643640" y="2599456"/>
            <a:ext cx="342351" cy="342351"/>
          </a:xfrm>
          <a:prstGeom prst="rect">
            <a:avLst/>
          </a:prstGeom>
        </p:spPr>
      </p:pic>
      <p:sp>
        <p:nvSpPr>
          <p:cNvPr id="20" name="Text 15"/>
          <p:cNvSpPr/>
          <p:nvPr/>
        </p:nvSpPr>
        <p:spPr>
          <a:xfrm>
            <a:off x="8485632" y="3246120"/>
            <a:ext cx="2843784" cy="457200"/>
          </a:xfrm>
          <a:prstGeom prst="rect">
            <a:avLst/>
          </a:prstGeom>
          <a:noFill/>
          <a:ln/>
        </p:spPr>
        <p:txBody>
          <a:bodyPr wrap="square" lIns="0" tIns="0" rIns="0" bIns="0" rtlCol="0" anchor="ctr"/>
          <a:lstStyle/>
          <a:p>
            <a:pPr indent="0" marL="0">
              <a:buNone/>
            </a:pPr>
            <a:r>
              <a:rPr lang="en-US" sz="2200" b="1" dirty="0">
                <a:solidFill>
                  <a:srgbClr val="0B1220"/>
                </a:solidFill>
                <a:latin typeface="Cambria" pitchFamily="34" charset="0"/>
                <a:ea typeface="Cambria" pitchFamily="34" charset="-122"/>
                <a:cs typeface="Cambria" pitchFamily="34" charset="-120"/>
              </a:rPr>
              <a:t>Student</a:t>
            </a:r>
            <a:endParaRPr lang="en-US" sz="2200" dirty="0"/>
          </a:p>
        </p:txBody>
      </p:sp>
      <p:sp>
        <p:nvSpPr>
          <p:cNvPr id="21" name="Text 16"/>
          <p:cNvSpPr/>
          <p:nvPr/>
        </p:nvSpPr>
        <p:spPr>
          <a:xfrm>
            <a:off x="8485632" y="3685032"/>
            <a:ext cx="2843784" cy="365760"/>
          </a:xfrm>
          <a:prstGeom prst="rect">
            <a:avLst/>
          </a:prstGeom>
          <a:noFill/>
          <a:ln/>
        </p:spPr>
        <p:txBody>
          <a:bodyPr wrap="square" lIns="0" tIns="0" rIns="0" bIns="0" rtlCol="0" anchor="ctr"/>
          <a:lstStyle/>
          <a:p>
            <a:pPr indent="0" marL="0">
              <a:buNone/>
            </a:pPr>
            <a:r>
              <a:rPr lang="en-US" sz="1200" i="1" dirty="0">
                <a:solidFill>
                  <a:srgbClr val="0891B2"/>
                </a:solidFill>
                <a:latin typeface="Calibri" pitchFamily="34" charset="0"/>
                <a:ea typeface="Calibri" pitchFamily="34" charset="-122"/>
                <a:cs typeface="Calibri" pitchFamily="34" charset="-120"/>
              </a:rPr>
              <a:t>Bootcamp participant</a:t>
            </a:r>
            <a:endParaRPr lang="en-US" sz="1200" dirty="0"/>
          </a:p>
        </p:txBody>
      </p:sp>
      <p:sp>
        <p:nvSpPr>
          <p:cNvPr id="22" name="Text 17"/>
          <p:cNvSpPr/>
          <p:nvPr/>
        </p:nvSpPr>
        <p:spPr>
          <a:xfrm>
            <a:off x="8485632" y="4178808"/>
            <a:ext cx="2843784" cy="160020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Views own attendance &amp; progress</a:t>
            </a:r>
            <a:endParaRPr lang="en-US" sz="1250" dirty="0"/>
          </a:p>
          <a:p>
            <a:pPr marL="177800" indent="-1778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Submits assignments</a:t>
            </a:r>
            <a:endParaRPr lang="en-US" sz="1250" dirty="0"/>
          </a:p>
          <a:p>
            <a:pPr marL="177800" indent="-1778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Sees grades, feedback, announcements</a:t>
            </a:r>
            <a:endParaRPr lang="en-US" sz="1250" dirty="0"/>
          </a:p>
        </p:txBody>
      </p:sp>
      <p:sp>
        <p:nvSpPr>
          <p:cNvPr id="23" name="Text 18"/>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 / 15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22D3EE"/>
                </a:solidFill>
                <a:latin typeface="Calibri" pitchFamily="34" charset="0"/>
                <a:ea typeface="Calibri" pitchFamily="34" charset="-122"/>
                <a:cs typeface="Calibri" pitchFamily="34" charset="-120"/>
              </a:rPr>
              <a:t>UNDER THE HOOD</a:t>
            </a:r>
            <a:endParaRPr lang="en-US" sz="1200" dirty="0"/>
          </a:p>
        </p:txBody>
      </p:sp>
      <p:sp>
        <p:nvSpPr>
          <p:cNvPr id="3" name="Text 1"/>
          <p:cNvSpPr/>
          <p:nvPr/>
        </p:nvSpPr>
        <p:spPr>
          <a:xfrm>
            <a:off x="822960" y="685800"/>
            <a:ext cx="8229600" cy="82296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Your Toolkit: The MERN Stack</a:t>
            </a:r>
            <a:endParaRPr lang="en-US" sz="3400" dirty="0"/>
          </a:p>
        </p:txBody>
      </p:sp>
      <p:sp>
        <p:nvSpPr>
          <p:cNvPr id="4" name="Shape 2"/>
          <p:cNvSpPr/>
          <p:nvPr/>
        </p:nvSpPr>
        <p:spPr>
          <a:xfrm>
            <a:off x="1417320" y="2148840"/>
            <a:ext cx="3200400" cy="2286000"/>
          </a:xfrm>
          <a:prstGeom prst="roundRect">
            <a:avLst>
              <a:gd name="adj" fmla="val 4800"/>
            </a:avLst>
          </a:prstGeom>
          <a:solidFill>
            <a:srgbClr val="16233D"/>
          </a:solidFill>
          <a:ln/>
        </p:spPr>
      </p:sp>
      <p:sp>
        <p:nvSpPr>
          <p:cNvPr id="5" name="Shape 3"/>
          <p:cNvSpPr/>
          <p:nvPr/>
        </p:nvSpPr>
        <p:spPr>
          <a:xfrm>
            <a:off x="2633472" y="2441448"/>
            <a:ext cx="768096" cy="768096"/>
          </a:xfrm>
          <a:prstGeom prst="ellipse">
            <a:avLst/>
          </a:prstGeom>
          <a:solidFill>
            <a:srgbClr val="22D3EE"/>
          </a:solidFill>
          <a:ln/>
        </p:spPr>
      </p:sp>
      <p:pic>
        <p:nvPicPr>
          <p:cNvPr id="6" name="Image 0" descr="/home/claude/bms-deck/icons/react.png">    </p:cNvPr>
          <p:cNvPicPr>
            <a:picLocks noChangeAspect="1"/>
          </p:cNvPicPr>
          <p:nvPr/>
        </p:nvPicPr>
        <p:blipFill>
          <a:blip r:embed="rId1"/>
          <a:stretch>
            <a:fillRect/>
          </a:stretch>
        </p:blipFill>
        <p:spPr>
          <a:xfrm>
            <a:off x="2802453" y="2610429"/>
            <a:ext cx="430134" cy="430134"/>
          </a:xfrm>
          <a:prstGeom prst="rect">
            <a:avLst/>
          </a:prstGeom>
        </p:spPr>
      </p:pic>
      <p:sp>
        <p:nvSpPr>
          <p:cNvPr id="7" name="Text 4"/>
          <p:cNvSpPr/>
          <p:nvPr/>
        </p:nvSpPr>
        <p:spPr>
          <a:xfrm>
            <a:off x="1554480" y="3383280"/>
            <a:ext cx="29260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React.js</a:t>
            </a:r>
            <a:endParaRPr lang="en-US" sz="1600" dirty="0"/>
          </a:p>
        </p:txBody>
      </p:sp>
      <p:sp>
        <p:nvSpPr>
          <p:cNvPr id="8" name="Text 5"/>
          <p:cNvSpPr/>
          <p:nvPr/>
        </p:nvSpPr>
        <p:spPr>
          <a:xfrm>
            <a:off x="1554480" y="3776472"/>
            <a:ext cx="2926080" cy="548640"/>
          </a:xfrm>
          <a:prstGeom prst="rect">
            <a:avLst/>
          </a:prstGeom>
          <a:noFill/>
          <a:ln/>
        </p:spPr>
        <p:txBody>
          <a:bodyPr wrap="square" lIns="0" tIns="0" rIns="0" bIns="0" rtlCol="0" anchor="ctr"/>
          <a:lstStyle/>
          <a:p>
            <a:pPr algn="ctr" indent="0" marL="0">
              <a:buNone/>
            </a:pPr>
            <a:r>
              <a:rPr lang="en-US" sz="1050" dirty="0">
                <a:solidFill>
                  <a:srgbClr val="9FB2D6"/>
                </a:solidFill>
                <a:latin typeface="Calibri" pitchFamily="34" charset="0"/>
                <a:ea typeface="Calibri" pitchFamily="34" charset="-122"/>
                <a:cs typeface="Calibri" pitchFamily="34" charset="-120"/>
              </a:rPr>
              <a:t>React Router · Tailwind CSS · Axios</a:t>
            </a:r>
            <a:endParaRPr lang="en-US" sz="1050" dirty="0"/>
          </a:p>
        </p:txBody>
      </p:sp>
      <p:sp>
        <p:nvSpPr>
          <p:cNvPr id="9" name="Text 6"/>
          <p:cNvSpPr/>
          <p:nvPr/>
        </p:nvSpPr>
        <p:spPr>
          <a:xfrm>
            <a:off x="4690872" y="2926080"/>
            <a:ext cx="457200" cy="548640"/>
          </a:xfrm>
          <a:prstGeom prst="rect">
            <a:avLst/>
          </a:prstGeom>
          <a:noFill/>
          <a:ln/>
        </p:spPr>
        <p:txBody>
          <a:bodyPr wrap="square" lIns="0" tIns="0" rIns="0" bIns="0" rtlCol="0" anchor="ctr"/>
          <a:lstStyle/>
          <a:p>
            <a:pPr algn="ctr" indent="0" marL="0">
              <a:buNone/>
            </a:pPr>
            <a:r>
              <a:rPr lang="en-US" sz="2600" b="1" dirty="0">
                <a:solidFill>
                  <a:srgbClr val="22D3EE"/>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5212080" y="2148840"/>
            <a:ext cx="3200400" cy="2286000"/>
          </a:xfrm>
          <a:prstGeom prst="roundRect">
            <a:avLst>
              <a:gd name="adj" fmla="val 4800"/>
            </a:avLst>
          </a:prstGeom>
          <a:solidFill>
            <a:srgbClr val="16233D"/>
          </a:solidFill>
          <a:ln/>
        </p:spPr>
      </p:sp>
      <p:sp>
        <p:nvSpPr>
          <p:cNvPr id="11" name="Shape 8"/>
          <p:cNvSpPr/>
          <p:nvPr/>
        </p:nvSpPr>
        <p:spPr>
          <a:xfrm>
            <a:off x="6428232" y="2441448"/>
            <a:ext cx="768096" cy="768096"/>
          </a:xfrm>
          <a:prstGeom prst="ellipse">
            <a:avLst/>
          </a:prstGeom>
          <a:solidFill>
            <a:srgbClr val="22D3EE"/>
          </a:solidFill>
          <a:ln/>
        </p:spPr>
      </p:sp>
      <p:pic>
        <p:nvPicPr>
          <p:cNvPr id="12" name="Image 1" descr="/home/claude/bms-deck/icons/node.png">    </p:cNvPr>
          <p:cNvPicPr>
            <a:picLocks noChangeAspect="1"/>
          </p:cNvPicPr>
          <p:nvPr/>
        </p:nvPicPr>
        <p:blipFill>
          <a:blip r:embed="rId2"/>
          <a:stretch>
            <a:fillRect/>
          </a:stretch>
        </p:blipFill>
        <p:spPr>
          <a:xfrm>
            <a:off x="6597213" y="2610429"/>
            <a:ext cx="430134" cy="430134"/>
          </a:xfrm>
          <a:prstGeom prst="rect">
            <a:avLst/>
          </a:prstGeom>
        </p:spPr>
      </p:pic>
      <p:sp>
        <p:nvSpPr>
          <p:cNvPr id="13" name="Text 9"/>
          <p:cNvSpPr/>
          <p:nvPr/>
        </p:nvSpPr>
        <p:spPr>
          <a:xfrm>
            <a:off x="5349240" y="3383280"/>
            <a:ext cx="29260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Node + Express</a:t>
            </a:r>
            <a:endParaRPr lang="en-US" sz="1600" dirty="0"/>
          </a:p>
        </p:txBody>
      </p:sp>
      <p:sp>
        <p:nvSpPr>
          <p:cNvPr id="14" name="Text 10"/>
          <p:cNvSpPr/>
          <p:nvPr/>
        </p:nvSpPr>
        <p:spPr>
          <a:xfrm>
            <a:off x="5349240" y="3776472"/>
            <a:ext cx="2926080" cy="548640"/>
          </a:xfrm>
          <a:prstGeom prst="rect">
            <a:avLst/>
          </a:prstGeom>
          <a:noFill/>
          <a:ln/>
        </p:spPr>
        <p:txBody>
          <a:bodyPr wrap="square" lIns="0" tIns="0" rIns="0" bIns="0" rtlCol="0" anchor="ctr"/>
          <a:lstStyle/>
          <a:p>
            <a:pPr algn="ctr" indent="0" marL="0">
              <a:buNone/>
            </a:pPr>
            <a:r>
              <a:rPr lang="en-US" sz="1050" dirty="0">
                <a:solidFill>
                  <a:srgbClr val="9FB2D6"/>
                </a:solidFill>
                <a:latin typeface="Calibri" pitchFamily="34" charset="0"/>
                <a:ea typeface="Calibri" pitchFamily="34" charset="-122"/>
                <a:cs typeface="Calibri" pitchFamily="34" charset="-120"/>
              </a:rPr>
              <a:t>REST API · Middleware · Validation</a:t>
            </a:r>
            <a:endParaRPr lang="en-US" sz="1050" dirty="0"/>
          </a:p>
        </p:txBody>
      </p:sp>
      <p:sp>
        <p:nvSpPr>
          <p:cNvPr id="15" name="Text 11"/>
          <p:cNvSpPr/>
          <p:nvPr/>
        </p:nvSpPr>
        <p:spPr>
          <a:xfrm>
            <a:off x="8485632" y="2926080"/>
            <a:ext cx="457200" cy="548640"/>
          </a:xfrm>
          <a:prstGeom prst="rect">
            <a:avLst/>
          </a:prstGeom>
          <a:noFill/>
          <a:ln/>
        </p:spPr>
        <p:txBody>
          <a:bodyPr wrap="square" lIns="0" tIns="0" rIns="0" bIns="0" rtlCol="0" anchor="ctr"/>
          <a:lstStyle/>
          <a:p>
            <a:pPr algn="ctr" indent="0" marL="0">
              <a:buNone/>
            </a:pPr>
            <a:r>
              <a:rPr lang="en-US" sz="2600" b="1" dirty="0">
                <a:solidFill>
                  <a:srgbClr val="22D3EE"/>
                </a:solidFill>
                <a:latin typeface="Calibri" pitchFamily="34" charset="0"/>
                <a:ea typeface="Calibri" pitchFamily="34" charset="-122"/>
                <a:cs typeface="Calibri" pitchFamily="34" charset="-120"/>
              </a:rPr>
              <a:t>→</a:t>
            </a:r>
            <a:endParaRPr lang="en-US" sz="2600" dirty="0"/>
          </a:p>
        </p:txBody>
      </p:sp>
      <p:sp>
        <p:nvSpPr>
          <p:cNvPr id="16" name="Shape 12"/>
          <p:cNvSpPr/>
          <p:nvPr/>
        </p:nvSpPr>
        <p:spPr>
          <a:xfrm>
            <a:off x="9006840" y="2148840"/>
            <a:ext cx="3200400" cy="2286000"/>
          </a:xfrm>
          <a:prstGeom prst="roundRect">
            <a:avLst>
              <a:gd name="adj" fmla="val 4800"/>
            </a:avLst>
          </a:prstGeom>
          <a:solidFill>
            <a:srgbClr val="16233D"/>
          </a:solidFill>
          <a:ln/>
        </p:spPr>
      </p:sp>
      <p:sp>
        <p:nvSpPr>
          <p:cNvPr id="17" name="Shape 13"/>
          <p:cNvSpPr/>
          <p:nvPr/>
        </p:nvSpPr>
        <p:spPr>
          <a:xfrm>
            <a:off x="10222992" y="2441448"/>
            <a:ext cx="768096" cy="768096"/>
          </a:xfrm>
          <a:prstGeom prst="ellipse">
            <a:avLst/>
          </a:prstGeom>
          <a:solidFill>
            <a:srgbClr val="22D3EE"/>
          </a:solidFill>
          <a:ln/>
        </p:spPr>
      </p:sp>
      <p:pic>
        <p:nvPicPr>
          <p:cNvPr id="18" name="Image 2" descr="/home/claude/bms-deck/icons/database.png">    </p:cNvPr>
          <p:cNvPicPr>
            <a:picLocks noChangeAspect="1"/>
          </p:cNvPicPr>
          <p:nvPr/>
        </p:nvPicPr>
        <p:blipFill>
          <a:blip r:embed="rId3"/>
          <a:stretch>
            <a:fillRect/>
          </a:stretch>
        </p:blipFill>
        <p:spPr>
          <a:xfrm>
            <a:off x="10391973" y="2610429"/>
            <a:ext cx="430134" cy="430134"/>
          </a:xfrm>
          <a:prstGeom prst="rect">
            <a:avLst/>
          </a:prstGeom>
        </p:spPr>
      </p:pic>
      <p:sp>
        <p:nvSpPr>
          <p:cNvPr id="19" name="Text 14"/>
          <p:cNvSpPr/>
          <p:nvPr/>
        </p:nvSpPr>
        <p:spPr>
          <a:xfrm>
            <a:off x="9144000" y="3383280"/>
            <a:ext cx="29260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MongoDB</a:t>
            </a:r>
            <a:endParaRPr lang="en-US" sz="1600" dirty="0"/>
          </a:p>
        </p:txBody>
      </p:sp>
      <p:sp>
        <p:nvSpPr>
          <p:cNvPr id="20" name="Text 15"/>
          <p:cNvSpPr/>
          <p:nvPr/>
        </p:nvSpPr>
        <p:spPr>
          <a:xfrm>
            <a:off x="9144000" y="3776472"/>
            <a:ext cx="2926080" cy="548640"/>
          </a:xfrm>
          <a:prstGeom prst="rect">
            <a:avLst/>
          </a:prstGeom>
          <a:noFill/>
          <a:ln/>
        </p:spPr>
        <p:txBody>
          <a:bodyPr wrap="square" lIns="0" tIns="0" rIns="0" bIns="0" rtlCol="0" anchor="ctr"/>
          <a:lstStyle/>
          <a:p>
            <a:pPr algn="ctr" indent="0" marL="0">
              <a:buNone/>
            </a:pPr>
            <a:r>
              <a:rPr lang="en-US" sz="1050" dirty="0">
                <a:solidFill>
                  <a:srgbClr val="9FB2D6"/>
                </a:solidFill>
                <a:latin typeface="Calibri" pitchFamily="34" charset="0"/>
                <a:ea typeface="Calibri" pitchFamily="34" charset="-122"/>
                <a:cs typeface="Calibri" pitchFamily="34" charset="-120"/>
              </a:rPr>
              <a:t>Mongoose ODM · 7 core collections</a:t>
            </a:r>
            <a:endParaRPr lang="en-US" sz="1050" dirty="0"/>
          </a:p>
        </p:txBody>
      </p:sp>
      <p:sp>
        <p:nvSpPr>
          <p:cNvPr id="21" name="Shape 16"/>
          <p:cNvSpPr/>
          <p:nvPr/>
        </p:nvSpPr>
        <p:spPr>
          <a:xfrm>
            <a:off x="1417320" y="4800600"/>
            <a:ext cx="9326880" cy="868680"/>
          </a:xfrm>
          <a:prstGeom prst="roundRect">
            <a:avLst>
              <a:gd name="adj" fmla="val 8421"/>
            </a:avLst>
          </a:prstGeom>
          <a:solidFill>
            <a:srgbClr val="10203A"/>
          </a:solidFill>
          <a:ln w="12700">
            <a:solidFill>
              <a:srgbClr val="22314F"/>
            </a:solidFill>
            <a:prstDash val="solid"/>
          </a:ln>
        </p:spPr>
      </p:sp>
      <p:sp>
        <p:nvSpPr>
          <p:cNvPr id="22" name="Text 17"/>
          <p:cNvSpPr/>
          <p:nvPr/>
        </p:nvSpPr>
        <p:spPr>
          <a:xfrm>
            <a:off x="1417320" y="4800600"/>
            <a:ext cx="9326880" cy="868680"/>
          </a:xfrm>
          <a:prstGeom prst="rect">
            <a:avLst/>
          </a:prstGeom>
          <a:noFill/>
          <a:ln/>
        </p:spPr>
        <p:txBody>
          <a:bodyPr wrap="square" lIns="0" tIns="0" rIns="0" bIns="0" rtlCol="0" anchor="ctr"/>
          <a:lstStyle/>
          <a:p>
            <a:pPr algn="ctr" indent="0" marL="0">
              <a:buNone/>
            </a:pPr>
            <a:r>
              <a:rPr lang="en-US" sz="1400" dirty="0">
                <a:solidFill>
                  <a:srgbClr val="AEC0DE"/>
                </a:solidFill>
                <a:latin typeface="Calibri" pitchFamily="34" charset="0"/>
                <a:ea typeface="Calibri" pitchFamily="34" charset="-122"/>
                <a:cs typeface="Calibri" pitchFamily="34" charset="-120"/>
              </a:rPr>
              <a:t>Secured with </a:t>
            </a:r>
            <a:pPr algn="ctr" indent="0" marL="0">
              <a:buNone/>
            </a:pPr>
            <a:r>
              <a:rPr lang="en-US" sz="1400" b="1" dirty="0">
                <a:solidFill>
                  <a:srgbClr val="22D3EE"/>
                </a:solidFill>
                <a:latin typeface="Calibri" pitchFamily="34" charset="0"/>
                <a:ea typeface="Calibri" pitchFamily="34" charset="-122"/>
                <a:cs typeface="Calibri" pitchFamily="34" charset="-120"/>
              </a:rPr>
              <a:t>JWT + bcrypt</a:t>
            </a:r>
            <a:pPr algn="ctr" indent="0" marL="0">
              <a:buNone/>
            </a:pPr>
            <a:r>
              <a:rPr lang="en-US" sz="1400" dirty="0">
                <a:solidFill>
                  <a:srgbClr val="AEC0DE"/>
                </a:solidFill>
                <a:latin typeface="Calibri" pitchFamily="34" charset="0"/>
                <a:ea typeface="Calibri" pitchFamily="34" charset="-122"/>
                <a:cs typeface="Calibri" pitchFamily="34" charset="-120"/>
              </a:rPr>
              <a:t>   ·   Deployed on </a:t>
            </a:r>
            <a:pPr algn="ctr" indent="0" marL="0">
              <a:buNone/>
            </a:pPr>
            <a:r>
              <a:rPr lang="en-US" sz="1400" b="1" dirty="0">
                <a:solidFill>
                  <a:srgbClr val="22D3EE"/>
                </a:solidFill>
                <a:latin typeface="Calibri" pitchFamily="34" charset="0"/>
                <a:ea typeface="Calibri" pitchFamily="34" charset="-122"/>
                <a:cs typeface="Calibri" pitchFamily="34" charset="-120"/>
              </a:rPr>
              <a:t>Vercel</a:t>
            </a:r>
            <a:pPr algn="ctr" indent="0" marL="0">
              <a:buNone/>
            </a:pPr>
            <a:r>
              <a:rPr lang="en-US" sz="1400" dirty="0">
                <a:solidFill>
                  <a:srgbClr val="AEC0DE"/>
                </a:solidFill>
                <a:latin typeface="Calibri" pitchFamily="34" charset="0"/>
                <a:ea typeface="Calibri" pitchFamily="34" charset="-122"/>
                <a:cs typeface="Calibri" pitchFamily="34" charset="-120"/>
              </a:rPr>
              <a:t> (frontend) + </a:t>
            </a:r>
            <a:pPr algn="ctr" indent="0" marL="0">
              <a:buNone/>
            </a:pPr>
            <a:r>
              <a:rPr lang="en-US" sz="1400" b="1" dirty="0">
                <a:solidFill>
                  <a:srgbClr val="22D3EE"/>
                </a:solidFill>
                <a:latin typeface="Calibri" pitchFamily="34" charset="0"/>
                <a:ea typeface="Calibri" pitchFamily="34" charset="-122"/>
                <a:cs typeface="Calibri" pitchFamily="34" charset="-120"/>
              </a:rPr>
              <a:t>Render</a:t>
            </a:r>
            <a:pPr algn="ctr" indent="0" marL="0">
              <a:buNone/>
            </a:pPr>
            <a:r>
              <a:rPr lang="en-US" sz="1400" dirty="0">
                <a:solidFill>
                  <a:srgbClr val="AEC0DE"/>
                </a:solidFill>
                <a:latin typeface="Calibri" pitchFamily="34" charset="0"/>
                <a:ea typeface="Calibri" pitchFamily="34" charset="-122"/>
                <a:cs typeface="Calibri" pitchFamily="34" charset="-120"/>
              </a:rPr>
              <a:t> (backend)</a:t>
            </a:r>
            <a:endParaRPr lang="en-US" sz="1400" dirty="0"/>
          </a:p>
        </p:txBody>
      </p:sp>
      <p:sp>
        <p:nvSpPr>
          <p:cNvPr id="23" name="Text 18"/>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 / 15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0891B2"/>
                </a:solidFill>
                <a:latin typeface="Calibri" pitchFamily="34" charset="0"/>
                <a:ea typeface="Calibri" pitchFamily="34" charset="-122"/>
                <a:cs typeface="Calibri" pitchFamily="34" charset="-120"/>
              </a:rPr>
              <a:t>FEATURE DEEP DIVE</a:t>
            </a:r>
            <a:endParaRPr lang="en-US" sz="1200" dirty="0"/>
          </a:p>
        </p:txBody>
      </p:sp>
      <p:sp>
        <p:nvSpPr>
          <p:cNvPr id="3" name="Text 1"/>
          <p:cNvSpPr/>
          <p:nvPr/>
        </p:nvSpPr>
        <p:spPr>
          <a:xfrm>
            <a:off x="822960" y="685800"/>
            <a:ext cx="7315200" cy="822960"/>
          </a:xfrm>
          <a:prstGeom prst="rect">
            <a:avLst/>
          </a:prstGeom>
          <a:noFill/>
          <a:ln/>
        </p:spPr>
        <p:txBody>
          <a:bodyPr wrap="square" lIns="0" tIns="0" rIns="0" bIns="0" rtlCol="0" anchor="t"/>
          <a:lstStyle/>
          <a:p>
            <a:pPr algn="l" indent="0" marL="0">
              <a:buNone/>
            </a:pPr>
            <a:r>
              <a:rPr lang="en-US" sz="3400" b="1" dirty="0">
                <a:solidFill>
                  <a:srgbClr val="0B1220"/>
                </a:solidFill>
                <a:latin typeface="Cambria" pitchFamily="34" charset="0"/>
                <a:ea typeface="Cambria" pitchFamily="34" charset="-122"/>
                <a:cs typeface="Cambria" pitchFamily="34" charset="-120"/>
              </a:rPr>
              <a:t>Attendance</a:t>
            </a:r>
            <a:endParaRPr lang="en-US" sz="3400" dirty="0"/>
          </a:p>
        </p:txBody>
      </p:sp>
      <p:sp>
        <p:nvSpPr>
          <p:cNvPr id="4" name="Shape 2"/>
          <p:cNvSpPr/>
          <p:nvPr/>
        </p:nvSpPr>
        <p:spPr>
          <a:xfrm>
            <a:off x="9966960" y="594360"/>
            <a:ext cx="822960" cy="822960"/>
          </a:xfrm>
          <a:prstGeom prst="ellipse">
            <a:avLst/>
          </a:prstGeom>
          <a:solidFill>
            <a:srgbClr val="0B1220"/>
          </a:solidFill>
          <a:ln/>
        </p:spPr>
      </p:sp>
      <p:pic>
        <p:nvPicPr>
          <p:cNvPr id="5" name="Image 0" descr="/home/claude/bms-deck/icons/attendance.png">    </p:cNvPr>
          <p:cNvPicPr>
            <a:picLocks noChangeAspect="1"/>
          </p:cNvPicPr>
          <p:nvPr/>
        </p:nvPicPr>
        <p:blipFill>
          <a:blip r:embed="rId1"/>
          <a:stretch>
            <a:fillRect/>
          </a:stretch>
        </p:blipFill>
        <p:spPr>
          <a:xfrm>
            <a:off x="10164470" y="791870"/>
            <a:ext cx="427939" cy="427939"/>
          </a:xfrm>
          <a:prstGeom prst="rect">
            <a:avLst/>
          </a:prstGeom>
        </p:spPr>
      </p:pic>
      <p:sp>
        <p:nvSpPr>
          <p:cNvPr id="6" name="Text 3"/>
          <p:cNvSpPr/>
          <p:nvPr/>
        </p:nvSpPr>
        <p:spPr>
          <a:xfrm>
            <a:off x="822960" y="1600200"/>
            <a:ext cx="4572000"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Statuses</a:t>
            </a:r>
            <a:endParaRPr lang="en-US" sz="1400" dirty="0"/>
          </a:p>
        </p:txBody>
      </p:sp>
      <p:sp>
        <p:nvSpPr>
          <p:cNvPr id="7" name="Shape 4"/>
          <p:cNvSpPr/>
          <p:nvPr/>
        </p:nvSpPr>
        <p:spPr>
          <a:xfrm>
            <a:off x="822960" y="2057400"/>
            <a:ext cx="1271016" cy="457200"/>
          </a:xfrm>
          <a:prstGeom prst="roundRect">
            <a:avLst>
              <a:gd name="adj" fmla="val 50000"/>
            </a:avLst>
          </a:prstGeom>
          <a:solidFill>
            <a:srgbClr val="FFFFFF"/>
          </a:solidFill>
          <a:ln w="19050">
            <a:solidFill>
              <a:srgbClr val="0891B2"/>
            </a:solidFill>
            <a:prstDash val="solid"/>
          </a:ln>
        </p:spPr>
      </p:sp>
      <p:sp>
        <p:nvSpPr>
          <p:cNvPr id="8" name="Text 5"/>
          <p:cNvSpPr/>
          <p:nvPr/>
        </p:nvSpPr>
        <p:spPr>
          <a:xfrm>
            <a:off x="822960" y="2057400"/>
            <a:ext cx="1271016" cy="457200"/>
          </a:xfrm>
          <a:prstGeom prst="rect">
            <a:avLst/>
          </a:prstGeom>
          <a:noFill/>
          <a:ln/>
        </p:spPr>
        <p:txBody>
          <a:bodyPr wrap="square" lIns="0" tIns="0" rIns="0" bIns="0" rtlCol="0" anchor="ctr"/>
          <a:lstStyle/>
          <a:p>
            <a:pPr algn="ctr" indent="0" marL="0">
              <a:buNone/>
            </a:pPr>
            <a:r>
              <a:rPr lang="en-US" sz="1250" b="1" dirty="0">
                <a:solidFill>
                  <a:srgbClr val="0891B2"/>
                </a:solidFill>
                <a:latin typeface="Calibri" pitchFamily="34" charset="0"/>
                <a:ea typeface="Calibri" pitchFamily="34" charset="-122"/>
                <a:cs typeface="Calibri" pitchFamily="34" charset="-120"/>
              </a:rPr>
              <a:t>Present</a:t>
            </a:r>
            <a:endParaRPr lang="en-US" sz="1250" dirty="0"/>
          </a:p>
        </p:txBody>
      </p:sp>
      <p:sp>
        <p:nvSpPr>
          <p:cNvPr id="9" name="Shape 6"/>
          <p:cNvSpPr/>
          <p:nvPr/>
        </p:nvSpPr>
        <p:spPr>
          <a:xfrm>
            <a:off x="2322576" y="2057400"/>
            <a:ext cx="1161288" cy="457200"/>
          </a:xfrm>
          <a:prstGeom prst="roundRect">
            <a:avLst>
              <a:gd name="adj" fmla="val 50000"/>
            </a:avLst>
          </a:prstGeom>
          <a:solidFill>
            <a:srgbClr val="FFFFFF"/>
          </a:solidFill>
          <a:ln w="19050">
            <a:solidFill>
              <a:srgbClr val="DC2626"/>
            </a:solidFill>
            <a:prstDash val="solid"/>
          </a:ln>
        </p:spPr>
      </p:sp>
      <p:sp>
        <p:nvSpPr>
          <p:cNvPr id="10" name="Text 7"/>
          <p:cNvSpPr/>
          <p:nvPr/>
        </p:nvSpPr>
        <p:spPr>
          <a:xfrm>
            <a:off x="2322576" y="2057400"/>
            <a:ext cx="1161288" cy="457200"/>
          </a:xfrm>
          <a:prstGeom prst="rect">
            <a:avLst/>
          </a:prstGeom>
          <a:noFill/>
          <a:ln/>
        </p:spPr>
        <p:txBody>
          <a:bodyPr wrap="square" lIns="0" tIns="0" rIns="0" bIns="0" rtlCol="0" anchor="ctr"/>
          <a:lstStyle/>
          <a:p>
            <a:pPr algn="ctr" indent="0" marL="0">
              <a:buNone/>
            </a:pPr>
            <a:r>
              <a:rPr lang="en-US" sz="1250" b="1" dirty="0">
                <a:solidFill>
                  <a:srgbClr val="DC2626"/>
                </a:solidFill>
                <a:latin typeface="Calibri" pitchFamily="34" charset="0"/>
                <a:ea typeface="Calibri" pitchFamily="34" charset="-122"/>
                <a:cs typeface="Calibri" pitchFamily="34" charset="-120"/>
              </a:rPr>
              <a:t>Absent</a:t>
            </a:r>
            <a:endParaRPr lang="en-US" sz="1250" dirty="0"/>
          </a:p>
        </p:txBody>
      </p:sp>
      <p:sp>
        <p:nvSpPr>
          <p:cNvPr id="11" name="Shape 8"/>
          <p:cNvSpPr/>
          <p:nvPr/>
        </p:nvSpPr>
        <p:spPr>
          <a:xfrm>
            <a:off x="3712464" y="2057400"/>
            <a:ext cx="941832" cy="457200"/>
          </a:xfrm>
          <a:prstGeom prst="roundRect">
            <a:avLst>
              <a:gd name="adj" fmla="val 50000"/>
            </a:avLst>
          </a:prstGeom>
          <a:solidFill>
            <a:srgbClr val="FFFFFF"/>
          </a:solidFill>
          <a:ln w="19050">
            <a:solidFill>
              <a:srgbClr val="D97706"/>
            </a:solidFill>
            <a:prstDash val="solid"/>
          </a:ln>
        </p:spPr>
      </p:sp>
      <p:sp>
        <p:nvSpPr>
          <p:cNvPr id="12" name="Text 9"/>
          <p:cNvSpPr/>
          <p:nvPr/>
        </p:nvSpPr>
        <p:spPr>
          <a:xfrm>
            <a:off x="3712464" y="2057400"/>
            <a:ext cx="941832" cy="457200"/>
          </a:xfrm>
          <a:prstGeom prst="rect">
            <a:avLst/>
          </a:prstGeom>
          <a:noFill/>
          <a:ln/>
        </p:spPr>
        <p:txBody>
          <a:bodyPr wrap="square" lIns="0" tIns="0" rIns="0" bIns="0" rtlCol="0" anchor="ctr"/>
          <a:lstStyle/>
          <a:p>
            <a:pPr algn="ctr" indent="0" marL="0">
              <a:buNone/>
            </a:pPr>
            <a:r>
              <a:rPr lang="en-US" sz="1250" b="1" dirty="0">
                <a:solidFill>
                  <a:srgbClr val="D97706"/>
                </a:solidFill>
                <a:latin typeface="Calibri" pitchFamily="34" charset="0"/>
                <a:ea typeface="Calibri" pitchFamily="34" charset="-122"/>
                <a:cs typeface="Calibri" pitchFamily="34" charset="-120"/>
              </a:rPr>
              <a:t>Late</a:t>
            </a:r>
            <a:endParaRPr lang="en-US" sz="1250" dirty="0"/>
          </a:p>
        </p:txBody>
      </p:sp>
      <p:sp>
        <p:nvSpPr>
          <p:cNvPr id="13" name="Shape 10"/>
          <p:cNvSpPr/>
          <p:nvPr/>
        </p:nvSpPr>
        <p:spPr>
          <a:xfrm>
            <a:off x="4882896" y="2057400"/>
            <a:ext cx="1271016" cy="457200"/>
          </a:xfrm>
          <a:prstGeom prst="roundRect">
            <a:avLst>
              <a:gd name="adj" fmla="val 50000"/>
            </a:avLst>
          </a:prstGeom>
          <a:solidFill>
            <a:srgbClr val="FFFFFF"/>
          </a:solidFill>
          <a:ln w="19050">
            <a:solidFill>
              <a:srgbClr val="6B7280"/>
            </a:solidFill>
            <a:prstDash val="solid"/>
          </a:ln>
        </p:spPr>
      </p:sp>
      <p:sp>
        <p:nvSpPr>
          <p:cNvPr id="14" name="Text 11"/>
          <p:cNvSpPr/>
          <p:nvPr/>
        </p:nvSpPr>
        <p:spPr>
          <a:xfrm>
            <a:off x="4882896" y="2057400"/>
            <a:ext cx="1271016" cy="457200"/>
          </a:xfrm>
          <a:prstGeom prst="rect">
            <a:avLst/>
          </a:prstGeom>
          <a:noFill/>
          <a:ln/>
        </p:spPr>
        <p:txBody>
          <a:bodyPr wrap="square" lIns="0" tIns="0" rIns="0" bIns="0" rtlCol="0" anchor="ctr"/>
          <a:lstStyle/>
          <a:p>
            <a:pPr algn="ctr" indent="0" marL="0">
              <a:buNone/>
            </a:pPr>
            <a:r>
              <a:rPr lang="en-US" sz="1250" b="1" dirty="0">
                <a:solidFill>
                  <a:srgbClr val="6B7280"/>
                </a:solidFill>
                <a:latin typeface="Calibri" pitchFamily="34" charset="0"/>
                <a:ea typeface="Calibri" pitchFamily="34" charset="-122"/>
                <a:cs typeface="Calibri" pitchFamily="34" charset="-120"/>
              </a:rPr>
              <a:t>Excused</a:t>
            </a:r>
            <a:endParaRPr lang="en-US" sz="1250" dirty="0"/>
          </a:p>
        </p:txBody>
      </p:sp>
      <p:sp>
        <p:nvSpPr>
          <p:cNvPr id="15" name="Text 12"/>
          <p:cNvSpPr/>
          <p:nvPr/>
        </p:nvSpPr>
        <p:spPr>
          <a:xfrm>
            <a:off x="822960" y="2788920"/>
            <a:ext cx="5852160" cy="82296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Mentors mark and update attendance for their assigned students. Students can only view their own history and percentage.</a:t>
            </a:r>
            <a:endParaRPr lang="en-US" sz="1350" dirty="0"/>
          </a:p>
        </p:txBody>
      </p:sp>
      <p:sp>
        <p:nvSpPr>
          <p:cNvPr id="16" name="Shape 13"/>
          <p:cNvSpPr/>
          <p:nvPr/>
        </p:nvSpPr>
        <p:spPr>
          <a:xfrm>
            <a:off x="822960" y="3794760"/>
            <a:ext cx="9966960" cy="1691640"/>
          </a:xfrm>
          <a:prstGeom prst="roundRect">
            <a:avLst>
              <a:gd name="adj" fmla="val 5405"/>
            </a:avLst>
          </a:prstGeom>
          <a:solidFill>
            <a:srgbClr val="0B1220"/>
          </a:solidFill>
          <a:ln/>
        </p:spPr>
      </p:sp>
      <p:sp>
        <p:nvSpPr>
          <p:cNvPr id="17" name="Text 14"/>
          <p:cNvSpPr/>
          <p:nvPr/>
        </p:nvSpPr>
        <p:spPr>
          <a:xfrm>
            <a:off x="1188720" y="4041648"/>
            <a:ext cx="5486400" cy="320040"/>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AUTOMATICALLY CALCULATED</a:t>
            </a:r>
            <a:endParaRPr lang="en-US" sz="1100" dirty="0"/>
          </a:p>
        </p:txBody>
      </p:sp>
      <p:sp>
        <p:nvSpPr>
          <p:cNvPr id="18" name="Text 15"/>
          <p:cNvSpPr/>
          <p:nvPr/>
        </p:nvSpPr>
        <p:spPr>
          <a:xfrm>
            <a:off x="1188720" y="4434840"/>
            <a:ext cx="9144000" cy="8229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Present Sessions</a:t>
            </a:r>
            <a:pPr indent="0" marL="0">
              <a:buNone/>
            </a:pPr>
            <a:r>
              <a:rPr lang="en-US" sz="2600" dirty="0">
                <a:solidFill>
                  <a:srgbClr val="9FB2D6"/>
                </a:solidFill>
                <a:latin typeface="Cambria" pitchFamily="34" charset="0"/>
                <a:ea typeface="Cambria" pitchFamily="34" charset="-122"/>
                <a:cs typeface="Cambria" pitchFamily="34" charset="-120"/>
              </a:rPr>
              <a:t>  ÷  </a:t>
            </a:r>
            <a:pPr indent="0" marL="0">
              <a:buNone/>
            </a:pPr>
            <a:r>
              <a:rPr lang="en-US" sz="2600" b="1" dirty="0">
                <a:solidFill>
                  <a:srgbClr val="FFFFFF"/>
                </a:solidFill>
                <a:latin typeface="Cambria" pitchFamily="34" charset="0"/>
                <a:ea typeface="Cambria" pitchFamily="34" charset="-122"/>
                <a:cs typeface="Cambria" pitchFamily="34" charset="-120"/>
              </a:rPr>
              <a:t>Total Applicable Sessions</a:t>
            </a:r>
            <a:pPr indent="0" marL="0">
              <a:buNone/>
            </a:pPr>
            <a:r>
              <a:rPr lang="en-US" sz="2600" dirty="0">
                <a:solidFill>
                  <a:srgbClr val="9FB2D6"/>
                </a:solidFill>
                <a:latin typeface="Cambria" pitchFamily="34" charset="0"/>
                <a:ea typeface="Cambria" pitchFamily="34" charset="-122"/>
                <a:cs typeface="Cambria" pitchFamily="34" charset="-120"/>
              </a:rPr>
              <a:t>  ×  100</a:t>
            </a:r>
            <a:endParaRPr lang="en-US" sz="2600" dirty="0"/>
          </a:p>
        </p:txBody>
      </p:sp>
      <p:sp>
        <p:nvSpPr>
          <p:cNvPr id="19" name="Text 16"/>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 / 15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0891B2"/>
                </a:solidFill>
                <a:latin typeface="Calibri" pitchFamily="34" charset="0"/>
                <a:ea typeface="Calibri" pitchFamily="34" charset="-122"/>
                <a:cs typeface="Calibri" pitchFamily="34" charset="-120"/>
              </a:rPr>
              <a:t>FEATURE DEEP DIVE</a:t>
            </a:r>
            <a:endParaRPr lang="en-US" sz="1200" dirty="0"/>
          </a:p>
        </p:txBody>
      </p:sp>
      <p:sp>
        <p:nvSpPr>
          <p:cNvPr id="3" name="Text 1"/>
          <p:cNvSpPr/>
          <p:nvPr/>
        </p:nvSpPr>
        <p:spPr>
          <a:xfrm>
            <a:off x="822960" y="685800"/>
            <a:ext cx="7315200" cy="822960"/>
          </a:xfrm>
          <a:prstGeom prst="rect">
            <a:avLst/>
          </a:prstGeom>
          <a:noFill/>
          <a:ln/>
        </p:spPr>
        <p:txBody>
          <a:bodyPr wrap="square" lIns="0" tIns="0" rIns="0" bIns="0" rtlCol="0" anchor="t"/>
          <a:lstStyle/>
          <a:p>
            <a:pPr algn="l" indent="0" marL="0">
              <a:buNone/>
            </a:pPr>
            <a:r>
              <a:rPr lang="en-US" sz="3400" b="1" dirty="0">
                <a:solidFill>
                  <a:srgbClr val="0B1220"/>
                </a:solidFill>
                <a:latin typeface="Cambria" pitchFamily="34" charset="0"/>
                <a:ea typeface="Cambria" pitchFamily="34" charset="-122"/>
                <a:cs typeface="Cambria" pitchFamily="34" charset="-120"/>
              </a:rPr>
              <a:t>Progress Tracking</a:t>
            </a:r>
            <a:endParaRPr lang="en-US" sz="3400" dirty="0"/>
          </a:p>
        </p:txBody>
      </p:sp>
      <p:sp>
        <p:nvSpPr>
          <p:cNvPr id="4" name="Shape 2"/>
          <p:cNvSpPr/>
          <p:nvPr/>
        </p:nvSpPr>
        <p:spPr>
          <a:xfrm>
            <a:off x="9966960" y="594360"/>
            <a:ext cx="822960" cy="822960"/>
          </a:xfrm>
          <a:prstGeom prst="ellipse">
            <a:avLst/>
          </a:prstGeom>
          <a:solidFill>
            <a:srgbClr val="0B1220"/>
          </a:solidFill>
          <a:ln/>
        </p:spPr>
      </p:sp>
      <p:pic>
        <p:nvPicPr>
          <p:cNvPr id="5" name="Image 0" descr="/home/claude/bms-deck/icons/progress.png">    </p:cNvPr>
          <p:cNvPicPr>
            <a:picLocks noChangeAspect="1"/>
          </p:cNvPicPr>
          <p:nvPr/>
        </p:nvPicPr>
        <p:blipFill>
          <a:blip r:embed="rId1"/>
          <a:stretch>
            <a:fillRect/>
          </a:stretch>
        </p:blipFill>
        <p:spPr>
          <a:xfrm>
            <a:off x="10164470" y="791870"/>
            <a:ext cx="427939" cy="427939"/>
          </a:xfrm>
          <a:prstGeom prst="rect">
            <a:avLst/>
          </a:prstGeom>
        </p:spPr>
      </p:pic>
      <p:sp>
        <p:nvSpPr>
          <p:cNvPr id="6" name="Text 3"/>
          <p:cNvSpPr/>
          <p:nvPr/>
        </p:nvSpPr>
        <p:spPr>
          <a:xfrm>
            <a:off x="822960" y="1691640"/>
            <a:ext cx="7315200"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Tracked by topic / module</a:t>
            </a:r>
            <a:endParaRPr lang="en-US" sz="1400" dirty="0"/>
          </a:p>
        </p:txBody>
      </p:sp>
      <p:sp>
        <p:nvSpPr>
          <p:cNvPr id="7" name="Shape 4"/>
          <p:cNvSpPr/>
          <p:nvPr/>
        </p:nvSpPr>
        <p:spPr>
          <a:xfrm>
            <a:off x="822960" y="2148840"/>
            <a:ext cx="1645920" cy="457200"/>
          </a:xfrm>
          <a:prstGeom prst="roundRect">
            <a:avLst>
              <a:gd name="adj" fmla="val 50000"/>
            </a:avLst>
          </a:prstGeom>
          <a:solidFill>
            <a:srgbClr val="F8FAFC"/>
          </a:solidFill>
          <a:ln w="12700">
            <a:solidFill>
              <a:srgbClr val="E2E8F0"/>
            </a:solidFill>
            <a:prstDash val="solid"/>
          </a:ln>
        </p:spPr>
      </p:sp>
      <p:sp>
        <p:nvSpPr>
          <p:cNvPr id="8" name="Text 5"/>
          <p:cNvSpPr/>
          <p:nvPr/>
        </p:nvSpPr>
        <p:spPr>
          <a:xfrm>
            <a:off x="822960" y="2148840"/>
            <a:ext cx="1645920" cy="457200"/>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HTML / CSS</a:t>
            </a:r>
            <a:endParaRPr lang="en-US" sz="1250" dirty="0"/>
          </a:p>
        </p:txBody>
      </p:sp>
      <p:sp>
        <p:nvSpPr>
          <p:cNvPr id="9" name="Shape 6"/>
          <p:cNvSpPr/>
          <p:nvPr/>
        </p:nvSpPr>
        <p:spPr>
          <a:xfrm>
            <a:off x="2670048" y="2148840"/>
            <a:ext cx="1645920" cy="457200"/>
          </a:xfrm>
          <a:prstGeom prst="roundRect">
            <a:avLst>
              <a:gd name="adj" fmla="val 50000"/>
            </a:avLst>
          </a:prstGeom>
          <a:solidFill>
            <a:srgbClr val="F8FAFC"/>
          </a:solidFill>
          <a:ln w="12700">
            <a:solidFill>
              <a:srgbClr val="E2E8F0"/>
            </a:solidFill>
            <a:prstDash val="solid"/>
          </a:ln>
        </p:spPr>
      </p:sp>
      <p:sp>
        <p:nvSpPr>
          <p:cNvPr id="10" name="Text 7"/>
          <p:cNvSpPr/>
          <p:nvPr/>
        </p:nvSpPr>
        <p:spPr>
          <a:xfrm>
            <a:off x="2670048" y="2148840"/>
            <a:ext cx="1645920" cy="457200"/>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JavaScript</a:t>
            </a:r>
            <a:endParaRPr lang="en-US" sz="1250" dirty="0"/>
          </a:p>
        </p:txBody>
      </p:sp>
      <p:sp>
        <p:nvSpPr>
          <p:cNvPr id="11" name="Shape 8"/>
          <p:cNvSpPr/>
          <p:nvPr/>
        </p:nvSpPr>
        <p:spPr>
          <a:xfrm>
            <a:off x="4517136" y="2148840"/>
            <a:ext cx="1143000" cy="457200"/>
          </a:xfrm>
          <a:prstGeom prst="roundRect">
            <a:avLst>
              <a:gd name="adj" fmla="val 50000"/>
            </a:avLst>
          </a:prstGeom>
          <a:solidFill>
            <a:srgbClr val="F8FAFC"/>
          </a:solidFill>
          <a:ln w="12700">
            <a:solidFill>
              <a:srgbClr val="E2E8F0"/>
            </a:solidFill>
            <a:prstDash val="solid"/>
          </a:ln>
        </p:spPr>
      </p:sp>
      <p:sp>
        <p:nvSpPr>
          <p:cNvPr id="12" name="Text 9"/>
          <p:cNvSpPr/>
          <p:nvPr/>
        </p:nvSpPr>
        <p:spPr>
          <a:xfrm>
            <a:off x="4517136" y="2148840"/>
            <a:ext cx="1143000" cy="457200"/>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React</a:t>
            </a:r>
            <a:endParaRPr lang="en-US" sz="1250" dirty="0"/>
          </a:p>
        </p:txBody>
      </p:sp>
      <p:sp>
        <p:nvSpPr>
          <p:cNvPr id="13" name="Shape 10"/>
          <p:cNvSpPr/>
          <p:nvPr/>
        </p:nvSpPr>
        <p:spPr>
          <a:xfrm>
            <a:off x="5861304" y="2148840"/>
            <a:ext cx="1344168" cy="457200"/>
          </a:xfrm>
          <a:prstGeom prst="roundRect">
            <a:avLst>
              <a:gd name="adj" fmla="val 50000"/>
            </a:avLst>
          </a:prstGeom>
          <a:solidFill>
            <a:srgbClr val="F8FAFC"/>
          </a:solidFill>
          <a:ln w="12700">
            <a:solidFill>
              <a:srgbClr val="E2E8F0"/>
            </a:solidFill>
            <a:prstDash val="solid"/>
          </a:ln>
        </p:spPr>
      </p:sp>
      <p:sp>
        <p:nvSpPr>
          <p:cNvPr id="14" name="Text 11"/>
          <p:cNvSpPr/>
          <p:nvPr/>
        </p:nvSpPr>
        <p:spPr>
          <a:xfrm>
            <a:off x="5861304" y="2148840"/>
            <a:ext cx="1344168" cy="457200"/>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Node.js</a:t>
            </a:r>
            <a:endParaRPr lang="en-US" sz="1250" dirty="0"/>
          </a:p>
        </p:txBody>
      </p:sp>
      <p:sp>
        <p:nvSpPr>
          <p:cNvPr id="15" name="Shape 12"/>
          <p:cNvSpPr/>
          <p:nvPr/>
        </p:nvSpPr>
        <p:spPr>
          <a:xfrm>
            <a:off x="7406640" y="2148840"/>
            <a:ext cx="1645920" cy="457200"/>
          </a:xfrm>
          <a:prstGeom prst="roundRect">
            <a:avLst>
              <a:gd name="adj" fmla="val 50000"/>
            </a:avLst>
          </a:prstGeom>
          <a:solidFill>
            <a:srgbClr val="F8FAFC"/>
          </a:solidFill>
          <a:ln w="12700">
            <a:solidFill>
              <a:srgbClr val="E2E8F0"/>
            </a:solidFill>
            <a:prstDash val="solid"/>
          </a:ln>
        </p:spPr>
      </p:sp>
      <p:sp>
        <p:nvSpPr>
          <p:cNvPr id="16" name="Text 13"/>
          <p:cNvSpPr/>
          <p:nvPr/>
        </p:nvSpPr>
        <p:spPr>
          <a:xfrm>
            <a:off x="7406640" y="2148840"/>
            <a:ext cx="1645920" cy="457200"/>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Express.js</a:t>
            </a:r>
            <a:endParaRPr lang="en-US" sz="1250" dirty="0"/>
          </a:p>
        </p:txBody>
      </p:sp>
      <p:sp>
        <p:nvSpPr>
          <p:cNvPr id="17" name="Shape 14"/>
          <p:cNvSpPr/>
          <p:nvPr/>
        </p:nvSpPr>
        <p:spPr>
          <a:xfrm>
            <a:off x="9253728" y="2148840"/>
            <a:ext cx="1344168" cy="457200"/>
          </a:xfrm>
          <a:prstGeom prst="roundRect">
            <a:avLst>
              <a:gd name="adj" fmla="val 50000"/>
            </a:avLst>
          </a:prstGeom>
          <a:solidFill>
            <a:srgbClr val="F8FAFC"/>
          </a:solidFill>
          <a:ln w="12700">
            <a:solidFill>
              <a:srgbClr val="E2E8F0"/>
            </a:solidFill>
            <a:prstDash val="solid"/>
          </a:ln>
        </p:spPr>
      </p:sp>
      <p:sp>
        <p:nvSpPr>
          <p:cNvPr id="18" name="Text 15"/>
          <p:cNvSpPr/>
          <p:nvPr/>
        </p:nvSpPr>
        <p:spPr>
          <a:xfrm>
            <a:off x="9253728" y="2148840"/>
            <a:ext cx="1344168" cy="457200"/>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MongoDB</a:t>
            </a:r>
            <a:endParaRPr lang="en-US" sz="1250" dirty="0"/>
          </a:p>
        </p:txBody>
      </p:sp>
      <p:sp>
        <p:nvSpPr>
          <p:cNvPr id="19" name="Shape 16"/>
          <p:cNvSpPr/>
          <p:nvPr/>
        </p:nvSpPr>
        <p:spPr>
          <a:xfrm>
            <a:off x="822960" y="2715768"/>
            <a:ext cx="1847088" cy="457200"/>
          </a:xfrm>
          <a:prstGeom prst="roundRect">
            <a:avLst>
              <a:gd name="adj" fmla="val 50000"/>
            </a:avLst>
          </a:prstGeom>
          <a:solidFill>
            <a:srgbClr val="F8FAFC"/>
          </a:solidFill>
          <a:ln w="12700">
            <a:solidFill>
              <a:srgbClr val="E2E8F0"/>
            </a:solidFill>
            <a:prstDash val="solid"/>
          </a:ln>
        </p:spPr>
      </p:sp>
      <p:sp>
        <p:nvSpPr>
          <p:cNvPr id="20" name="Text 17"/>
          <p:cNvSpPr/>
          <p:nvPr/>
        </p:nvSpPr>
        <p:spPr>
          <a:xfrm>
            <a:off x="822960" y="2715768"/>
            <a:ext cx="1847088" cy="457200"/>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Git / GitHub</a:t>
            </a:r>
            <a:endParaRPr lang="en-US" sz="1250" dirty="0"/>
          </a:p>
        </p:txBody>
      </p:sp>
      <p:sp>
        <p:nvSpPr>
          <p:cNvPr id="21" name="Text 18"/>
          <p:cNvSpPr/>
          <p:nvPr/>
        </p:nvSpPr>
        <p:spPr>
          <a:xfrm>
            <a:off x="822960" y="3657600"/>
            <a:ext cx="7315200"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Progress statuses</a:t>
            </a:r>
            <a:endParaRPr lang="en-US" sz="1400" dirty="0"/>
          </a:p>
        </p:txBody>
      </p:sp>
      <p:sp>
        <p:nvSpPr>
          <p:cNvPr id="22" name="Shape 19"/>
          <p:cNvSpPr/>
          <p:nvPr/>
        </p:nvSpPr>
        <p:spPr>
          <a:xfrm>
            <a:off x="822960" y="4114800"/>
            <a:ext cx="2377440" cy="777240"/>
          </a:xfrm>
          <a:prstGeom prst="roundRect">
            <a:avLst>
              <a:gd name="adj" fmla="val 9412"/>
            </a:avLst>
          </a:prstGeom>
          <a:solidFill>
            <a:srgbClr val="F8FAFC"/>
          </a:solidFill>
          <a:ln w="25400">
            <a:solidFill>
              <a:srgbClr val="94A3B8"/>
            </a:solidFill>
            <a:prstDash val="solid"/>
          </a:ln>
        </p:spPr>
      </p:sp>
      <p:sp>
        <p:nvSpPr>
          <p:cNvPr id="23" name="Text 20"/>
          <p:cNvSpPr/>
          <p:nvPr/>
        </p:nvSpPr>
        <p:spPr>
          <a:xfrm>
            <a:off x="822960" y="4114800"/>
            <a:ext cx="2377440" cy="777240"/>
          </a:xfrm>
          <a:prstGeom prst="rect">
            <a:avLst/>
          </a:prstGeom>
          <a:noFill/>
          <a:ln/>
        </p:spPr>
        <p:txBody>
          <a:bodyPr wrap="square" lIns="0" tIns="0" rIns="0" bIns="0" rtlCol="0" anchor="ctr"/>
          <a:lstStyle/>
          <a:p>
            <a:pPr algn="ctr" indent="0" marL="0">
              <a:buNone/>
            </a:pPr>
            <a:r>
              <a:rPr lang="en-US" sz="1250" b="1" dirty="0">
                <a:solidFill>
                  <a:srgbClr val="94A3B8"/>
                </a:solidFill>
                <a:latin typeface="Calibri" pitchFamily="34" charset="0"/>
                <a:ea typeface="Calibri" pitchFamily="34" charset="-122"/>
                <a:cs typeface="Calibri" pitchFamily="34" charset="-120"/>
              </a:rPr>
              <a:t>Not Started</a:t>
            </a:r>
            <a:endParaRPr lang="en-US" sz="1250" dirty="0"/>
          </a:p>
        </p:txBody>
      </p:sp>
      <p:sp>
        <p:nvSpPr>
          <p:cNvPr id="24" name="Text 21"/>
          <p:cNvSpPr/>
          <p:nvPr/>
        </p:nvSpPr>
        <p:spPr>
          <a:xfrm>
            <a:off x="3182112" y="4114800"/>
            <a:ext cx="320040" cy="777240"/>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25" name="Shape 22"/>
          <p:cNvSpPr/>
          <p:nvPr/>
        </p:nvSpPr>
        <p:spPr>
          <a:xfrm>
            <a:off x="3337560" y="4114800"/>
            <a:ext cx="2377440" cy="777240"/>
          </a:xfrm>
          <a:prstGeom prst="roundRect">
            <a:avLst>
              <a:gd name="adj" fmla="val 9412"/>
            </a:avLst>
          </a:prstGeom>
          <a:solidFill>
            <a:srgbClr val="F8FAFC"/>
          </a:solidFill>
          <a:ln w="25400">
            <a:solidFill>
              <a:srgbClr val="D97706"/>
            </a:solidFill>
            <a:prstDash val="solid"/>
          </a:ln>
        </p:spPr>
      </p:sp>
      <p:sp>
        <p:nvSpPr>
          <p:cNvPr id="26" name="Text 23"/>
          <p:cNvSpPr/>
          <p:nvPr/>
        </p:nvSpPr>
        <p:spPr>
          <a:xfrm>
            <a:off x="3337560" y="4114800"/>
            <a:ext cx="2377440" cy="777240"/>
          </a:xfrm>
          <a:prstGeom prst="rect">
            <a:avLst/>
          </a:prstGeom>
          <a:noFill/>
          <a:ln/>
        </p:spPr>
        <p:txBody>
          <a:bodyPr wrap="square" lIns="0" tIns="0" rIns="0" bIns="0" rtlCol="0" anchor="ctr"/>
          <a:lstStyle/>
          <a:p>
            <a:pPr algn="ctr" indent="0" marL="0">
              <a:buNone/>
            </a:pPr>
            <a:r>
              <a:rPr lang="en-US" sz="1250" b="1" dirty="0">
                <a:solidFill>
                  <a:srgbClr val="D97706"/>
                </a:solidFill>
                <a:latin typeface="Calibri" pitchFamily="34" charset="0"/>
                <a:ea typeface="Calibri" pitchFamily="34" charset="-122"/>
                <a:cs typeface="Calibri" pitchFamily="34" charset="-120"/>
              </a:rPr>
              <a:t>In Progress</a:t>
            </a:r>
            <a:endParaRPr lang="en-US" sz="1250" dirty="0"/>
          </a:p>
        </p:txBody>
      </p:sp>
      <p:sp>
        <p:nvSpPr>
          <p:cNvPr id="27" name="Text 24"/>
          <p:cNvSpPr/>
          <p:nvPr/>
        </p:nvSpPr>
        <p:spPr>
          <a:xfrm>
            <a:off x="5696712" y="4114800"/>
            <a:ext cx="320040" cy="777240"/>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28" name="Shape 25"/>
          <p:cNvSpPr/>
          <p:nvPr/>
        </p:nvSpPr>
        <p:spPr>
          <a:xfrm>
            <a:off x="5852160" y="4114800"/>
            <a:ext cx="2377440" cy="777240"/>
          </a:xfrm>
          <a:prstGeom prst="roundRect">
            <a:avLst>
              <a:gd name="adj" fmla="val 9412"/>
            </a:avLst>
          </a:prstGeom>
          <a:solidFill>
            <a:srgbClr val="F8FAFC"/>
          </a:solidFill>
          <a:ln w="25400">
            <a:solidFill>
              <a:srgbClr val="0891B2"/>
            </a:solidFill>
            <a:prstDash val="solid"/>
          </a:ln>
        </p:spPr>
      </p:sp>
      <p:sp>
        <p:nvSpPr>
          <p:cNvPr id="29" name="Text 26"/>
          <p:cNvSpPr/>
          <p:nvPr/>
        </p:nvSpPr>
        <p:spPr>
          <a:xfrm>
            <a:off x="5852160" y="4114800"/>
            <a:ext cx="2377440" cy="777240"/>
          </a:xfrm>
          <a:prstGeom prst="rect">
            <a:avLst/>
          </a:prstGeom>
          <a:noFill/>
          <a:ln/>
        </p:spPr>
        <p:txBody>
          <a:bodyPr wrap="square" lIns="0" tIns="0" rIns="0" bIns="0" rtlCol="0" anchor="ctr"/>
          <a:lstStyle/>
          <a:p>
            <a:pPr algn="ctr" indent="0" marL="0">
              <a:buNone/>
            </a:pPr>
            <a:r>
              <a:rPr lang="en-US" sz="1250" b="1" dirty="0">
                <a:solidFill>
                  <a:srgbClr val="0891B2"/>
                </a:solidFill>
                <a:latin typeface="Calibri" pitchFamily="34" charset="0"/>
                <a:ea typeface="Calibri" pitchFamily="34" charset="-122"/>
                <a:cs typeface="Calibri" pitchFamily="34" charset="-120"/>
              </a:rPr>
              <a:t>Completed</a:t>
            </a:r>
            <a:endParaRPr lang="en-US" sz="1250" dirty="0"/>
          </a:p>
        </p:txBody>
      </p:sp>
      <p:sp>
        <p:nvSpPr>
          <p:cNvPr id="30" name="Text 27"/>
          <p:cNvSpPr/>
          <p:nvPr/>
        </p:nvSpPr>
        <p:spPr>
          <a:xfrm>
            <a:off x="8211312" y="4114800"/>
            <a:ext cx="320040" cy="777240"/>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31" name="Shape 28"/>
          <p:cNvSpPr/>
          <p:nvPr/>
        </p:nvSpPr>
        <p:spPr>
          <a:xfrm>
            <a:off x="8366760" y="4114800"/>
            <a:ext cx="2377440" cy="777240"/>
          </a:xfrm>
          <a:prstGeom prst="roundRect">
            <a:avLst>
              <a:gd name="adj" fmla="val 9412"/>
            </a:avLst>
          </a:prstGeom>
          <a:solidFill>
            <a:srgbClr val="F8FAFC"/>
          </a:solidFill>
          <a:ln w="25400">
            <a:solidFill>
              <a:srgbClr val="DC2626"/>
            </a:solidFill>
            <a:prstDash val="solid"/>
          </a:ln>
        </p:spPr>
      </p:sp>
      <p:sp>
        <p:nvSpPr>
          <p:cNvPr id="32" name="Text 29"/>
          <p:cNvSpPr/>
          <p:nvPr/>
        </p:nvSpPr>
        <p:spPr>
          <a:xfrm>
            <a:off x="8366760" y="4114800"/>
            <a:ext cx="2377440" cy="777240"/>
          </a:xfrm>
          <a:prstGeom prst="rect">
            <a:avLst/>
          </a:prstGeom>
          <a:noFill/>
          <a:ln/>
        </p:spPr>
        <p:txBody>
          <a:bodyPr wrap="square" lIns="0" tIns="0" rIns="0" bIns="0" rtlCol="0" anchor="ctr"/>
          <a:lstStyle/>
          <a:p>
            <a:pPr algn="ctr" indent="0" marL="0">
              <a:buNone/>
            </a:pPr>
            <a:r>
              <a:rPr lang="en-US" sz="1250" b="1" dirty="0">
                <a:solidFill>
                  <a:srgbClr val="DC2626"/>
                </a:solidFill>
                <a:latin typeface="Calibri" pitchFamily="34" charset="0"/>
                <a:ea typeface="Calibri" pitchFamily="34" charset="-122"/>
                <a:cs typeface="Calibri" pitchFamily="34" charset="-120"/>
              </a:rPr>
              <a:t>Needs Improvement</a:t>
            </a:r>
            <a:endParaRPr lang="en-US" sz="1250" dirty="0"/>
          </a:p>
        </p:txBody>
      </p:sp>
      <p:sp>
        <p:nvSpPr>
          <p:cNvPr id="33" name="Text 30"/>
          <p:cNvSpPr/>
          <p:nvPr/>
        </p:nvSpPr>
        <p:spPr>
          <a:xfrm>
            <a:off x="822960" y="5166360"/>
            <a:ext cx="98755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Mentors update progress and add notes; students view their own progress and flag where they're stuck.</a:t>
            </a:r>
            <a:endParaRPr lang="en-US" sz="1300" dirty="0"/>
          </a:p>
        </p:txBody>
      </p:sp>
      <p:sp>
        <p:nvSpPr>
          <p:cNvPr id="34" name="Text 31"/>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 / 15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0891B2"/>
                </a:solidFill>
                <a:latin typeface="Calibri" pitchFamily="34" charset="0"/>
                <a:ea typeface="Calibri" pitchFamily="34" charset="-122"/>
                <a:cs typeface="Calibri" pitchFamily="34" charset="-120"/>
              </a:rPr>
              <a:t>FEATURE DEEP DIVE</a:t>
            </a:r>
            <a:endParaRPr lang="en-US" sz="1200" dirty="0"/>
          </a:p>
        </p:txBody>
      </p:sp>
      <p:sp>
        <p:nvSpPr>
          <p:cNvPr id="3" name="Text 1"/>
          <p:cNvSpPr/>
          <p:nvPr/>
        </p:nvSpPr>
        <p:spPr>
          <a:xfrm>
            <a:off x="822960" y="685800"/>
            <a:ext cx="8229600" cy="822960"/>
          </a:xfrm>
          <a:prstGeom prst="rect">
            <a:avLst/>
          </a:prstGeom>
          <a:noFill/>
          <a:ln/>
        </p:spPr>
        <p:txBody>
          <a:bodyPr wrap="square" lIns="0" tIns="0" rIns="0" bIns="0" rtlCol="0" anchor="t"/>
          <a:lstStyle/>
          <a:p>
            <a:pPr algn="l" indent="0" marL="0">
              <a:buNone/>
            </a:pPr>
            <a:r>
              <a:rPr lang="en-US" sz="3400" b="1" dirty="0">
                <a:solidFill>
                  <a:srgbClr val="0B1220"/>
                </a:solidFill>
                <a:latin typeface="Cambria" pitchFamily="34" charset="0"/>
                <a:ea typeface="Cambria" pitchFamily="34" charset="-122"/>
                <a:cs typeface="Cambria" pitchFamily="34" charset="-120"/>
              </a:rPr>
              <a:t>Assignments &amp; Grading</a:t>
            </a:r>
            <a:endParaRPr lang="en-US" sz="3400" dirty="0"/>
          </a:p>
        </p:txBody>
      </p:sp>
      <p:sp>
        <p:nvSpPr>
          <p:cNvPr id="4" name="Shape 2"/>
          <p:cNvSpPr/>
          <p:nvPr/>
        </p:nvSpPr>
        <p:spPr>
          <a:xfrm>
            <a:off x="9966960" y="594360"/>
            <a:ext cx="822960" cy="822960"/>
          </a:xfrm>
          <a:prstGeom prst="ellipse">
            <a:avLst/>
          </a:prstGeom>
          <a:solidFill>
            <a:srgbClr val="0B1220"/>
          </a:solidFill>
          <a:ln/>
        </p:spPr>
      </p:sp>
      <p:pic>
        <p:nvPicPr>
          <p:cNvPr id="5" name="Image 0" descr="/home/claude/bms-deck/icons/assignment.png">    </p:cNvPr>
          <p:cNvPicPr>
            <a:picLocks noChangeAspect="1"/>
          </p:cNvPicPr>
          <p:nvPr/>
        </p:nvPicPr>
        <p:blipFill>
          <a:blip r:embed="rId1"/>
          <a:stretch>
            <a:fillRect/>
          </a:stretch>
        </p:blipFill>
        <p:spPr>
          <a:xfrm>
            <a:off x="10164470" y="791870"/>
            <a:ext cx="427939" cy="427939"/>
          </a:xfrm>
          <a:prstGeom prst="rect">
            <a:avLst/>
          </a:prstGeom>
        </p:spPr>
      </p:pic>
      <p:sp>
        <p:nvSpPr>
          <p:cNvPr id="6" name="Shape 3"/>
          <p:cNvSpPr/>
          <p:nvPr/>
        </p:nvSpPr>
        <p:spPr>
          <a:xfrm>
            <a:off x="822960" y="1965960"/>
            <a:ext cx="3291840" cy="3566160"/>
          </a:xfrm>
          <a:prstGeom prst="roundRect">
            <a:avLst>
              <a:gd name="adj" fmla="val 2778"/>
            </a:avLst>
          </a:prstGeom>
          <a:solidFill>
            <a:srgbClr val="F8FAFC"/>
          </a:solidFill>
          <a:ln w="12700">
            <a:solidFill>
              <a:srgbClr val="E2E8F0"/>
            </a:solidFill>
            <a:prstDash val="solid"/>
          </a:ln>
        </p:spPr>
      </p:sp>
      <p:sp>
        <p:nvSpPr>
          <p:cNvPr id="7" name="Shape 4"/>
          <p:cNvSpPr/>
          <p:nvPr/>
        </p:nvSpPr>
        <p:spPr>
          <a:xfrm>
            <a:off x="1097280" y="2240280"/>
            <a:ext cx="502920" cy="502920"/>
          </a:xfrm>
          <a:prstGeom prst="ellipse">
            <a:avLst/>
          </a:prstGeom>
          <a:solidFill>
            <a:srgbClr val="22D3EE"/>
          </a:solidFill>
          <a:ln/>
        </p:spPr>
      </p:sp>
      <p:sp>
        <p:nvSpPr>
          <p:cNvPr id="8" name="Text 5"/>
          <p:cNvSpPr/>
          <p:nvPr/>
        </p:nvSpPr>
        <p:spPr>
          <a:xfrm>
            <a:off x="1097280" y="2240280"/>
            <a:ext cx="502920" cy="502920"/>
          </a:xfrm>
          <a:prstGeom prst="rect">
            <a:avLst/>
          </a:prstGeom>
          <a:noFill/>
          <a:ln/>
        </p:spPr>
        <p:txBody>
          <a:bodyPr wrap="square" lIns="0" tIns="0" rIns="0" bIns="0" rtlCol="0" anchor="ctr"/>
          <a:lstStyle/>
          <a:p>
            <a:pPr algn="ctr" indent="0" marL="0">
              <a:buNone/>
            </a:pPr>
            <a:r>
              <a:rPr lang="en-US" sz="2000" b="1" dirty="0">
                <a:solidFill>
                  <a:srgbClr val="0B1220"/>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1097280" y="2926080"/>
            <a:ext cx="2743200" cy="411480"/>
          </a:xfrm>
          <a:prstGeom prst="rect">
            <a:avLst/>
          </a:prstGeom>
          <a:noFill/>
          <a:ln/>
        </p:spPr>
        <p:txBody>
          <a:bodyPr wrap="square" lIns="0" tIns="0" rIns="0" bIns="0" rtlCol="0" anchor="ctr"/>
          <a:lstStyle/>
          <a:p>
            <a:pPr indent="0" marL="0">
              <a:buNone/>
            </a:pPr>
            <a:r>
              <a:rPr lang="en-US" sz="1550" b="1" dirty="0">
                <a:solidFill>
                  <a:srgbClr val="0B1220"/>
                </a:solidFill>
                <a:latin typeface="Calibri" pitchFamily="34" charset="0"/>
                <a:ea typeface="Calibri" pitchFamily="34" charset="-122"/>
                <a:cs typeface="Calibri" pitchFamily="34" charset="-120"/>
              </a:rPr>
              <a:t>Mentor creates</a:t>
            </a:r>
            <a:endParaRPr lang="en-US" sz="1550" dirty="0"/>
          </a:p>
        </p:txBody>
      </p:sp>
      <p:sp>
        <p:nvSpPr>
          <p:cNvPr id="10" name="Text 7"/>
          <p:cNvSpPr/>
          <p:nvPr/>
        </p:nvSpPr>
        <p:spPr>
          <a:xfrm>
            <a:off x="1097280" y="3429000"/>
            <a:ext cx="2743200" cy="192024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Title, description, instructions</a:t>
            </a:r>
            <a:endParaRPr lang="en-US" sz="1250" dirty="0"/>
          </a:p>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Batch &amp; deadline</a:t>
            </a:r>
            <a:endParaRPr lang="en-US" sz="1250" dirty="0"/>
          </a:p>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Maximum score</a:t>
            </a:r>
            <a:endParaRPr lang="en-US" sz="1250" dirty="0"/>
          </a:p>
        </p:txBody>
      </p:sp>
      <p:sp>
        <p:nvSpPr>
          <p:cNvPr id="11" name="Text 8"/>
          <p:cNvSpPr/>
          <p:nvPr/>
        </p:nvSpPr>
        <p:spPr>
          <a:xfrm>
            <a:off x="4133088" y="3429000"/>
            <a:ext cx="283464" cy="548640"/>
          </a:xfrm>
          <a:prstGeom prst="rect">
            <a:avLst/>
          </a:prstGeom>
          <a:noFill/>
          <a:ln/>
        </p:spPr>
        <p:txBody>
          <a:bodyPr wrap="square" lIns="0" tIns="0" rIns="0" bIns="0" rtlCol="0" anchor="ctr"/>
          <a:lstStyle/>
          <a:p>
            <a:pPr algn="ctr" indent="0" marL="0">
              <a:buNone/>
            </a:pPr>
            <a:r>
              <a:rPr lang="en-US" sz="2000" b="1" dirty="0">
                <a:solidFill>
                  <a:srgbClr val="64748B"/>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4434840" y="1965960"/>
            <a:ext cx="3291840" cy="3566160"/>
          </a:xfrm>
          <a:prstGeom prst="roundRect">
            <a:avLst>
              <a:gd name="adj" fmla="val 2778"/>
            </a:avLst>
          </a:prstGeom>
          <a:solidFill>
            <a:srgbClr val="F8FAFC"/>
          </a:solidFill>
          <a:ln w="12700">
            <a:solidFill>
              <a:srgbClr val="E2E8F0"/>
            </a:solidFill>
            <a:prstDash val="solid"/>
          </a:ln>
        </p:spPr>
      </p:sp>
      <p:sp>
        <p:nvSpPr>
          <p:cNvPr id="13" name="Shape 10"/>
          <p:cNvSpPr/>
          <p:nvPr/>
        </p:nvSpPr>
        <p:spPr>
          <a:xfrm>
            <a:off x="4709160" y="2240280"/>
            <a:ext cx="502920" cy="502920"/>
          </a:xfrm>
          <a:prstGeom prst="ellipse">
            <a:avLst/>
          </a:prstGeom>
          <a:solidFill>
            <a:srgbClr val="22D3EE"/>
          </a:solidFill>
          <a:ln/>
        </p:spPr>
      </p:sp>
      <p:sp>
        <p:nvSpPr>
          <p:cNvPr id="14" name="Text 11"/>
          <p:cNvSpPr/>
          <p:nvPr/>
        </p:nvSpPr>
        <p:spPr>
          <a:xfrm>
            <a:off x="4709160" y="2240280"/>
            <a:ext cx="502920" cy="502920"/>
          </a:xfrm>
          <a:prstGeom prst="rect">
            <a:avLst/>
          </a:prstGeom>
          <a:noFill/>
          <a:ln/>
        </p:spPr>
        <p:txBody>
          <a:bodyPr wrap="square" lIns="0" tIns="0" rIns="0" bIns="0" rtlCol="0" anchor="ctr"/>
          <a:lstStyle/>
          <a:p>
            <a:pPr algn="ctr" indent="0" marL="0">
              <a:buNone/>
            </a:pPr>
            <a:r>
              <a:rPr lang="en-US" sz="2000" b="1" dirty="0">
                <a:solidFill>
                  <a:srgbClr val="0B1220"/>
                </a:solidFill>
                <a:latin typeface="Cambria" pitchFamily="34" charset="0"/>
                <a:ea typeface="Cambria" pitchFamily="34" charset="-122"/>
                <a:cs typeface="Cambria" pitchFamily="34" charset="-120"/>
              </a:rPr>
              <a:t>2</a:t>
            </a:r>
            <a:endParaRPr lang="en-US" sz="2000" dirty="0"/>
          </a:p>
        </p:txBody>
      </p:sp>
      <p:sp>
        <p:nvSpPr>
          <p:cNvPr id="15" name="Text 12"/>
          <p:cNvSpPr/>
          <p:nvPr/>
        </p:nvSpPr>
        <p:spPr>
          <a:xfrm>
            <a:off x="4709160" y="2926080"/>
            <a:ext cx="2743200" cy="411480"/>
          </a:xfrm>
          <a:prstGeom prst="rect">
            <a:avLst/>
          </a:prstGeom>
          <a:noFill/>
          <a:ln/>
        </p:spPr>
        <p:txBody>
          <a:bodyPr wrap="square" lIns="0" tIns="0" rIns="0" bIns="0" rtlCol="0" anchor="ctr"/>
          <a:lstStyle/>
          <a:p>
            <a:pPr indent="0" marL="0">
              <a:buNone/>
            </a:pPr>
            <a:r>
              <a:rPr lang="en-US" sz="1550" b="1" dirty="0">
                <a:solidFill>
                  <a:srgbClr val="0B1220"/>
                </a:solidFill>
                <a:latin typeface="Calibri" pitchFamily="34" charset="0"/>
                <a:ea typeface="Calibri" pitchFamily="34" charset="-122"/>
                <a:cs typeface="Calibri" pitchFamily="34" charset="-120"/>
              </a:rPr>
              <a:t>Student submits</a:t>
            </a:r>
            <a:endParaRPr lang="en-US" sz="1550" dirty="0"/>
          </a:p>
        </p:txBody>
      </p:sp>
      <p:sp>
        <p:nvSpPr>
          <p:cNvPr id="16" name="Text 13"/>
          <p:cNvSpPr/>
          <p:nvPr/>
        </p:nvSpPr>
        <p:spPr>
          <a:xfrm>
            <a:off x="4709160" y="3429000"/>
            <a:ext cx="2743200" cy="192024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GitHub repo URL</a:t>
            </a:r>
            <a:endParaRPr lang="en-US" sz="1250" dirty="0"/>
          </a:p>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Live demo URL (optional)</a:t>
            </a:r>
            <a:endParaRPr lang="en-US" sz="1250" dirty="0"/>
          </a:p>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Notes</a:t>
            </a:r>
            <a:endParaRPr lang="en-US" sz="1250" dirty="0"/>
          </a:p>
        </p:txBody>
      </p:sp>
      <p:sp>
        <p:nvSpPr>
          <p:cNvPr id="17" name="Text 14"/>
          <p:cNvSpPr/>
          <p:nvPr/>
        </p:nvSpPr>
        <p:spPr>
          <a:xfrm>
            <a:off x="7744968" y="3429000"/>
            <a:ext cx="283464" cy="548640"/>
          </a:xfrm>
          <a:prstGeom prst="rect">
            <a:avLst/>
          </a:prstGeom>
          <a:noFill/>
          <a:ln/>
        </p:spPr>
        <p:txBody>
          <a:bodyPr wrap="square" lIns="0" tIns="0" rIns="0" bIns="0" rtlCol="0" anchor="ctr"/>
          <a:lstStyle/>
          <a:p>
            <a:pPr algn="ctr" indent="0" marL="0">
              <a:buNone/>
            </a:pPr>
            <a:r>
              <a:rPr lang="en-US" sz="2000" b="1" dirty="0">
                <a:solidFill>
                  <a:srgbClr val="64748B"/>
                </a:solidFill>
                <a:latin typeface="Calibri" pitchFamily="34" charset="0"/>
                <a:ea typeface="Calibri" pitchFamily="34" charset="-122"/>
                <a:cs typeface="Calibri" pitchFamily="34" charset="-120"/>
              </a:rPr>
              <a:t>→</a:t>
            </a:r>
            <a:endParaRPr lang="en-US" sz="2000" dirty="0"/>
          </a:p>
        </p:txBody>
      </p:sp>
      <p:sp>
        <p:nvSpPr>
          <p:cNvPr id="18" name="Shape 15"/>
          <p:cNvSpPr/>
          <p:nvPr/>
        </p:nvSpPr>
        <p:spPr>
          <a:xfrm>
            <a:off x="8046720" y="1965960"/>
            <a:ext cx="3291840" cy="3566160"/>
          </a:xfrm>
          <a:prstGeom prst="roundRect">
            <a:avLst>
              <a:gd name="adj" fmla="val 2778"/>
            </a:avLst>
          </a:prstGeom>
          <a:solidFill>
            <a:srgbClr val="F8FAFC"/>
          </a:solidFill>
          <a:ln w="12700">
            <a:solidFill>
              <a:srgbClr val="E2E8F0"/>
            </a:solidFill>
            <a:prstDash val="solid"/>
          </a:ln>
        </p:spPr>
      </p:sp>
      <p:sp>
        <p:nvSpPr>
          <p:cNvPr id="19" name="Shape 16"/>
          <p:cNvSpPr/>
          <p:nvPr/>
        </p:nvSpPr>
        <p:spPr>
          <a:xfrm>
            <a:off x="8321040" y="2240280"/>
            <a:ext cx="502920" cy="502920"/>
          </a:xfrm>
          <a:prstGeom prst="ellipse">
            <a:avLst/>
          </a:prstGeom>
          <a:solidFill>
            <a:srgbClr val="22D3EE"/>
          </a:solidFill>
          <a:ln/>
        </p:spPr>
      </p:sp>
      <p:sp>
        <p:nvSpPr>
          <p:cNvPr id="20" name="Text 17"/>
          <p:cNvSpPr/>
          <p:nvPr/>
        </p:nvSpPr>
        <p:spPr>
          <a:xfrm>
            <a:off x="8321040" y="2240280"/>
            <a:ext cx="502920" cy="502920"/>
          </a:xfrm>
          <a:prstGeom prst="rect">
            <a:avLst/>
          </a:prstGeom>
          <a:noFill/>
          <a:ln/>
        </p:spPr>
        <p:txBody>
          <a:bodyPr wrap="square" lIns="0" tIns="0" rIns="0" bIns="0" rtlCol="0" anchor="ctr"/>
          <a:lstStyle/>
          <a:p>
            <a:pPr algn="ctr" indent="0" marL="0">
              <a:buNone/>
            </a:pPr>
            <a:r>
              <a:rPr lang="en-US" sz="2000" b="1" dirty="0">
                <a:solidFill>
                  <a:srgbClr val="0B1220"/>
                </a:solidFill>
                <a:latin typeface="Cambria" pitchFamily="34" charset="0"/>
                <a:ea typeface="Cambria" pitchFamily="34" charset="-122"/>
                <a:cs typeface="Cambria" pitchFamily="34" charset="-120"/>
              </a:rPr>
              <a:t>3</a:t>
            </a:r>
            <a:endParaRPr lang="en-US" sz="2000" dirty="0"/>
          </a:p>
        </p:txBody>
      </p:sp>
      <p:sp>
        <p:nvSpPr>
          <p:cNvPr id="21" name="Text 18"/>
          <p:cNvSpPr/>
          <p:nvPr/>
        </p:nvSpPr>
        <p:spPr>
          <a:xfrm>
            <a:off x="8321040" y="2926080"/>
            <a:ext cx="2743200" cy="411480"/>
          </a:xfrm>
          <a:prstGeom prst="rect">
            <a:avLst/>
          </a:prstGeom>
          <a:noFill/>
          <a:ln/>
        </p:spPr>
        <p:txBody>
          <a:bodyPr wrap="square" lIns="0" tIns="0" rIns="0" bIns="0" rtlCol="0" anchor="ctr"/>
          <a:lstStyle/>
          <a:p>
            <a:pPr indent="0" marL="0">
              <a:buNone/>
            </a:pPr>
            <a:r>
              <a:rPr lang="en-US" sz="1550" b="1" dirty="0">
                <a:solidFill>
                  <a:srgbClr val="0B1220"/>
                </a:solidFill>
                <a:latin typeface="Calibri" pitchFamily="34" charset="0"/>
                <a:ea typeface="Calibri" pitchFamily="34" charset="-122"/>
                <a:cs typeface="Calibri" pitchFamily="34" charset="-120"/>
              </a:rPr>
              <a:t>Mentor grades</a:t>
            </a:r>
            <a:endParaRPr lang="en-US" sz="1550" dirty="0"/>
          </a:p>
        </p:txBody>
      </p:sp>
      <p:sp>
        <p:nvSpPr>
          <p:cNvPr id="22" name="Text 19"/>
          <p:cNvSpPr/>
          <p:nvPr/>
        </p:nvSpPr>
        <p:spPr>
          <a:xfrm>
            <a:off x="8321040" y="3429000"/>
            <a:ext cx="2743200" cy="192024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Score &amp; written feedback</a:t>
            </a:r>
            <a:endParaRPr lang="en-US" sz="1250" dirty="0"/>
          </a:p>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Request resubmission</a:t>
            </a:r>
            <a:endParaRPr lang="en-US" sz="1250" dirty="0"/>
          </a:p>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Track submission status</a:t>
            </a:r>
            <a:endParaRPr lang="en-US" sz="1250" dirty="0"/>
          </a:p>
        </p:txBody>
      </p:sp>
      <p:sp>
        <p:nvSpPr>
          <p:cNvPr id="23" name="Text 20"/>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 / 15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0891B2"/>
                </a:solidFill>
                <a:latin typeface="Calibri" pitchFamily="34" charset="0"/>
                <a:ea typeface="Calibri" pitchFamily="34" charset="-122"/>
                <a:cs typeface="Calibri" pitchFamily="34" charset="-120"/>
              </a:rPr>
              <a:t>FEATURE DEEP DIVE</a:t>
            </a:r>
            <a:endParaRPr lang="en-US" sz="1200" dirty="0"/>
          </a:p>
        </p:txBody>
      </p:sp>
      <p:sp>
        <p:nvSpPr>
          <p:cNvPr id="3" name="Text 1"/>
          <p:cNvSpPr/>
          <p:nvPr/>
        </p:nvSpPr>
        <p:spPr>
          <a:xfrm>
            <a:off x="822960" y="685800"/>
            <a:ext cx="9144000" cy="822960"/>
          </a:xfrm>
          <a:prstGeom prst="rect">
            <a:avLst/>
          </a:prstGeom>
          <a:noFill/>
          <a:ln/>
        </p:spPr>
        <p:txBody>
          <a:bodyPr wrap="square" lIns="0" tIns="0" rIns="0" bIns="0" rtlCol="0" anchor="t"/>
          <a:lstStyle/>
          <a:p>
            <a:pPr algn="l" indent="0" marL="0">
              <a:buNone/>
            </a:pPr>
            <a:r>
              <a:rPr lang="en-US" sz="3400" b="1" dirty="0">
                <a:solidFill>
                  <a:srgbClr val="0B1220"/>
                </a:solidFill>
                <a:latin typeface="Cambria" pitchFamily="34" charset="0"/>
                <a:ea typeface="Cambria" pitchFamily="34" charset="-122"/>
                <a:cs typeface="Cambria" pitchFamily="34" charset="-120"/>
              </a:rPr>
              <a:t>Announcements &amp; Notifications</a:t>
            </a:r>
            <a:endParaRPr lang="en-US" sz="3400" dirty="0"/>
          </a:p>
        </p:txBody>
      </p:sp>
      <p:sp>
        <p:nvSpPr>
          <p:cNvPr id="4" name="Shape 2"/>
          <p:cNvSpPr/>
          <p:nvPr/>
        </p:nvSpPr>
        <p:spPr>
          <a:xfrm>
            <a:off x="9966960" y="594360"/>
            <a:ext cx="822960" cy="822960"/>
          </a:xfrm>
          <a:prstGeom prst="ellipse">
            <a:avLst/>
          </a:prstGeom>
          <a:solidFill>
            <a:srgbClr val="0B1220"/>
          </a:solidFill>
          <a:ln/>
        </p:spPr>
      </p:sp>
      <p:pic>
        <p:nvPicPr>
          <p:cNvPr id="5" name="Image 0" descr="/home/claude/bms-deck/icons/bell.png">    </p:cNvPr>
          <p:cNvPicPr>
            <a:picLocks noChangeAspect="1"/>
          </p:cNvPicPr>
          <p:nvPr/>
        </p:nvPicPr>
        <p:blipFill>
          <a:blip r:embed="rId1"/>
          <a:stretch>
            <a:fillRect/>
          </a:stretch>
        </p:blipFill>
        <p:spPr>
          <a:xfrm>
            <a:off x="10164470" y="791870"/>
            <a:ext cx="427939" cy="427939"/>
          </a:xfrm>
          <a:prstGeom prst="rect">
            <a:avLst/>
          </a:prstGeom>
        </p:spPr>
      </p:pic>
      <p:sp>
        <p:nvSpPr>
          <p:cNvPr id="6" name="Text 3"/>
          <p:cNvSpPr/>
          <p:nvPr/>
        </p:nvSpPr>
        <p:spPr>
          <a:xfrm>
            <a:off x="822960" y="1691640"/>
            <a:ext cx="4754880"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An announcement includes</a:t>
            </a:r>
            <a:endParaRPr lang="en-US" sz="1400" dirty="0"/>
          </a:p>
        </p:txBody>
      </p:sp>
      <p:sp>
        <p:nvSpPr>
          <p:cNvPr id="7" name="Text 4"/>
          <p:cNvSpPr/>
          <p:nvPr/>
        </p:nvSpPr>
        <p:spPr>
          <a:xfrm>
            <a:off x="822960" y="2103120"/>
            <a:ext cx="4754880" cy="2011680"/>
          </a:xfrm>
          <a:prstGeom prst="rect">
            <a:avLst/>
          </a:prstGeom>
          <a:noFill/>
          <a:ln/>
        </p:spPr>
        <p:txBody>
          <a:bodyPr wrap="square" lIns="0" tIns="0" rIns="0" bIns="0" rtlCol="0" anchor="ctr"/>
          <a:lstStyle/>
          <a:p>
            <a:pPr marL="177800" indent="-1778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Title</a:t>
            </a:r>
            <a:endParaRPr lang="en-US" sz="1350" dirty="0"/>
          </a:p>
          <a:p>
            <a:pPr marL="177800" indent="-1778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Content</a:t>
            </a:r>
            <a:endParaRPr lang="en-US" sz="1350" dirty="0"/>
          </a:p>
          <a:p>
            <a:pPr marL="177800" indent="-1778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Target audience</a:t>
            </a:r>
            <a:endParaRPr lang="en-US" sz="1350" dirty="0"/>
          </a:p>
          <a:p>
            <a:pPr marL="177800" indent="-1778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Batch</a:t>
            </a:r>
            <a:endParaRPr lang="en-US" sz="1350" dirty="0"/>
          </a:p>
          <a:p>
            <a:pPr marL="177800" indent="-1778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Publish date</a:t>
            </a:r>
            <a:endParaRPr lang="en-US" sz="1350" dirty="0"/>
          </a:p>
        </p:txBody>
      </p:sp>
      <p:sp>
        <p:nvSpPr>
          <p:cNvPr id="8" name="Shape 5"/>
          <p:cNvSpPr/>
          <p:nvPr/>
        </p:nvSpPr>
        <p:spPr>
          <a:xfrm>
            <a:off x="6035040" y="1691640"/>
            <a:ext cx="4754880" cy="3429000"/>
          </a:xfrm>
          <a:prstGeom prst="roundRect">
            <a:avLst>
              <a:gd name="adj" fmla="val 2667"/>
            </a:avLst>
          </a:prstGeom>
          <a:solidFill>
            <a:srgbClr val="0B1220"/>
          </a:solidFill>
          <a:ln/>
        </p:spPr>
      </p:sp>
      <p:sp>
        <p:nvSpPr>
          <p:cNvPr id="9" name="Text 6"/>
          <p:cNvSpPr/>
          <p:nvPr/>
        </p:nvSpPr>
        <p:spPr>
          <a:xfrm>
            <a:off x="6355080" y="1920240"/>
            <a:ext cx="4114800" cy="365760"/>
          </a:xfrm>
          <a:prstGeom prst="rect">
            <a:avLst/>
          </a:prstGeom>
          <a:noFill/>
          <a:ln/>
        </p:spPr>
        <p:txBody>
          <a:bodyPr wrap="square" lIns="0" tIns="0" rIns="0" bIns="0" rtlCol="0" anchor="ctr"/>
          <a:lstStyle/>
          <a:p>
            <a:pPr indent="0" marL="0">
              <a:buNone/>
            </a:pPr>
            <a:r>
              <a:rPr lang="en-US" sz="1100" b="1" spc="150" kern="0" dirty="0">
                <a:solidFill>
                  <a:srgbClr val="22D3EE"/>
                </a:solidFill>
                <a:latin typeface="Calibri" pitchFamily="34" charset="0"/>
                <a:ea typeface="Calibri" pitchFamily="34" charset="-122"/>
                <a:cs typeface="Calibri" pitchFamily="34" charset="-120"/>
              </a:rPr>
              <a:t>STUDENTS ARE NOTIFIED IN-APP FOR</a:t>
            </a:r>
            <a:endParaRPr lang="en-US" sz="1100" dirty="0"/>
          </a:p>
        </p:txBody>
      </p:sp>
      <p:sp>
        <p:nvSpPr>
          <p:cNvPr id="10" name="Text 7"/>
          <p:cNvSpPr/>
          <p:nvPr/>
        </p:nvSpPr>
        <p:spPr>
          <a:xfrm>
            <a:off x="6355080" y="2423160"/>
            <a:ext cx="4114800" cy="2468880"/>
          </a:xfrm>
          <a:prstGeom prst="rect">
            <a:avLst/>
          </a:prstGeom>
          <a:noFill/>
          <a:ln/>
        </p:spPr>
        <p:txBody>
          <a:bodyPr wrap="square" lIns="0" tIns="0" rIns="0" bIns="0" rtlCol="0" anchor="ctr"/>
          <a:lstStyle/>
          <a:p>
            <a:pPr marL="177800" indent="-177800">
              <a:spcAft>
                <a:spcPts val="1400"/>
              </a:spcAft>
              <a:buSzPct val="100000"/>
              <a:buChar char="•"/>
            </a:pPr>
            <a:r>
              <a:rPr lang="en-US" sz="1400" dirty="0">
                <a:solidFill>
                  <a:srgbClr val="FFFFFF"/>
                </a:solidFill>
                <a:latin typeface="Calibri" pitchFamily="34" charset="0"/>
                <a:ea typeface="Calibri" pitchFamily="34" charset="-122"/>
                <a:cs typeface="Calibri" pitchFamily="34" charset="-120"/>
              </a:rPr>
              <a:t>New assignments posted</a:t>
            </a:r>
            <a:endParaRPr lang="en-US" sz="1400" dirty="0"/>
          </a:p>
          <a:p>
            <a:pPr marL="177800" indent="-177800">
              <a:spcAft>
                <a:spcPts val="1400"/>
              </a:spcAft>
              <a:buSzPct val="100000"/>
              <a:buChar char="•"/>
            </a:pPr>
            <a:r>
              <a:rPr lang="en-US" sz="1400" dirty="0">
                <a:solidFill>
                  <a:srgbClr val="FFFFFF"/>
                </a:solidFill>
                <a:latin typeface="Calibri" pitchFamily="34" charset="0"/>
                <a:ea typeface="Calibri" pitchFamily="34" charset="-122"/>
                <a:cs typeface="Calibri" pitchFamily="34" charset="-120"/>
              </a:rPr>
              <a:t>Deadlines approaching</a:t>
            </a:r>
            <a:endParaRPr lang="en-US" sz="1400" dirty="0"/>
          </a:p>
          <a:p>
            <a:pPr marL="177800" indent="-177800">
              <a:spcAft>
                <a:spcPts val="1400"/>
              </a:spcAft>
              <a:buSzPct val="100000"/>
              <a:buChar char="•"/>
            </a:pPr>
            <a:r>
              <a:rPr lang="en-US" sz="1400" dirty="0">
                <a:solidFill>
                  <a:srgbClr val="FFFFFF"/>
                </a:solidFill>
                <a:latin typeface="Calibri" pitchFamily="34" charset="0"/>
                <a:ea typeface="Calibri" pitchFamily="34" charset="-122"/>
                <a:cs typeface="Calibri" pitchFamily="34" charset="-120"/>
              </a:rPr>
              <a:t>Grades &amp; feedback posted</a:t>
            </a:r>
            <a:endParaRPr lang="en-US" sz="1400" dirty="0"/>
          </a:p>
          <a:p>
            <a:pPr marL="177800" indent="-177800">
              <a:spcAft>
                <a:spcPts val="1400"/>
              </a:spcAft>
              <a:buSzPct val="100000"/>
              <a:buChar char="•"/>
            </a:pPr>
            <a:r>
              <a:rPr lang="en-US" sz="1400" dirty="0">
                <a:solidFill>
                  <a:srgbClr val="FFFFFF"/>
                </a:solidFill>
                <a:latin typeface="Calibri" pitchFamily="34" charset="0"/>
                <a:ea typeface="Calibri" pitchFamily="34" charset="-122"/>
                <a:cs typeface="Calibri" pitchFamily="34" charset="-120"/>
              </a:rPr>
              <a:t>Important announcements</a:t>
            </a:r>
            <a:endParaRPr lang="en-US" sz="1400" dirty="0"/>
          </a:p>
        </p:txBody>
      </p:sp>
      <p:sp>
        <p:nvSpPr>
          <p:cNvPr id="11" name="Text 8"/>
          <p:cNvSpPr/>
          <p:nvPr/>
        </p:nvSpPr>
        <p:spPr>
          <a:xfrm>
            <a:off x="822960" y="5349240"/>
            <a:ext cx="9875520" cy="45720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No standalone notifications module needed — deliver these as part of the announcement system.</a:t>
            </a:r>
            <a:endParaRPr lang="en-US" sz="1250" dirty="0"/>
          </a:p>
        </p:txBody>
      </p:sp>
      <p:sp>
        <p:nvSpPr>
          <p:cNvPr id="12" name="Text 9"/>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 / 15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22D3EE"/>
                </a:solidFill>
                <a:latin typeface="Calibri" pitchFamily="34" charset="0"/>
                <a:ea typeface="Calibri" pitchFamily="34" charset="-122"/>
                <a:cs typeface="Calibri" pitchFamily="34" charset="-120"/>
              </a:rPr>
              <a:t>WHERE IT ALL COMES TOGETHER</a:t>
            </a:r>
            <a:endParaRPr lang="en-US" sz="1200" dirty="0"/>
          </a:p>
        </p:txBody>
      </p:sp>
      <p:sp>
        <p:nvSpPr>
          <p:cNvPr id="3" name="Text 1"/>
          <p:cNvSpPr/>
          <p:nvPr/>
        </p:nvSpPr>
        <p:spPr>
          <a:xfrm>
            <a:off x="822960" y="685800"/>
            <a:ext cx="8686800" cy="82296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A Dashboard for Every Role</a:t>
            </a:r>
            <a:endParaRPr lang="en-US" sz="3400" dirty="0"/>
          </a:p>
        </p:txBody>
      </p:sp>
      <p:sp>
        <p:nvSpPr>
          <p:cNvPr id="4" name="Shape 2"/>
          <p:cNvSpPr/>
          <p:nvPr/>
        </p:nvSpPr>
        <p:spPr>
          <a:xfrm>
            <a:off x="822960" y="1965960"/>
            <a:ext cx="3429000" cy="3794760"/>
          </a:xfrm>
          <a:prstGeom prst="roundRect">
            <a:avLst>
              <a:gd name="adj" fmla="val 2667"/>
            </a:avLst>
          </a:prstGeom>
          <a:solidFill>
            <a:srgbClr val="16233D"/>
          </a:solidFill>
          <a:ln/>
        </p:spPr>
      </p:sp>
      <p:sp>
        <p:nvSpPr>
          <p:cNvPr id="5" name="Shape 3"/>
          <p:cNvSpPr/>
          <p:nvPr/>
        </p:nvSpPr>
        <p:spPr>
          <a:xfrm>
            <a:off x="1097280" y="2240280"/>
            <a:ext cx="548640" cy="548640"/>
          </a:xfrm>
          <a:prstGeom prst="ellipse">
            <a:avLst/>
          </a:prstGeom>
          <a:solidFill>
            <a:srgbClr val="22D3EE"/>
          </a:solidFill>
          <a:ln/>
        </p:spPr>
      </p:sp>
      <p:pic>
        <p:nvPicPr>
          <p:cNvPr id="6" name="Image 0" descr="/home/claude/bms-deck/icons/shield.png">    </p:cNvPr>
          <p:cNvPicPr>
            <a:picLocks noChangeAspect="1"/>
          </p:cNvPicPr>
          <p:nvPr/>
        </p:nvPicPr>
        <p:blipFill>
          <a:blip r:embed="rId1"/>
          <a:stretch>
            <a:fillRect/>
          </a:stretch>
        </p:blipFill>
        <p:spPr>
          <a:xfrm>
            <a:off x="1228954" y="2371954"/>
            <a:ext cx="285293" cy="285293"/>
          </a:xfrm>
          <a:prstGeom prst="rect">
            <a:avLst/>
          </a:prstGeom>
        </p:spPr>
      </p:pic>
      <p:sp>
        <p:nvSpPr>
          <p:cNvPr id="7" name="Text 4"/>
          <p:cNvSpPr/>
          <p:nvPr/>
        </p:nvSpPr>
        <p:spPr>
          <a:xfrm>
            <a:off x="1783080" y="2276856"/>
            <a:ext cx="2240280" cy="50292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Admin</a:t>
            </a:r>
            <a:endParaRPr lang="en-US" sz="1900" dirty="0"/>
          </a:p>
        </p:txBody>
      </p:sp>
      <p:sp>
        <p:nvSpPr>
          <p:cNvPr id="8" name="Text 5"/>
          <p:cNvSpPr/>
          <p:nvPr/>
        </p:nvSpPr>
        <p:spPr>
          <a:xfrm>
            <a:off x="1097280" y="3017520"/>
            <a:ext cx="2880360" cy="2560320"/>
          </a:xfrm>
          <a:prstGeom prst="rect">
            <a:avLst/>
          </a:prstGeom>
          <a:noFill/>
          <a:ln/>
        </p:spPr>
        <p:txBody>
          <a:bodyPr wrap="square" lIns="0" tIns="0" rIns="0" bIns="0" rtlCol="0" anchor="ctr"/>
          <a:lstStyle/>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Student &amp; mentor counts</a:t>
            </a:r>
            <a:endParaRPr lang="en-US" sz="1250" dirty="0"/>
          </a:p>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Batch count</a:t>
            </a:r>
            <a:endParaRPr lang="en-US" sz="1250" dirty="0"/>
          </a:p>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Attendance &amp; assignment stats</a:t>
            </a:r>
            <a:endParaRPr lang="en-US" sz="1250" dirty="0"/>
          </a:p>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Recent activity</a:t>
            </a:r>
            <a:endParaRPr lang="en-US" sz="1250" dirty="0"/>
          </a:p>
        </p:txBody>
      </p:sp>
      <p:sp>
        <p:nvSpPr>
          <p:cNvPr id="9" name="Shape 6"/>
          <p:cNvSpPr/>
          <p:nvPr/>
        </p:nvSpPr>
        <p:spPr>
          <a:xfrm>
            <a:off x="4507992" y="1965960"/>
            <a:ext cx="3429000" cy="3794760"/>
          </a:xfrm>
          <a:prstGeom prst="roundRect">
            <a:avLst>
              <a:gd name="adj" fmla="val 2667"/>
            </a:avLst>
          </a:prstGeom>
          <a:solidFill>
            <a:srgbClr val="16233D"/>
          </a:solidFill>
          <a:ln/>
        </p:spPr>
      </p:sp>
      <p:sp>
        <p:nvSpPr>
          <p:cNvPr id="10" name="Shape 7"/>
          <p:cNvSpPr/>
          <p:nvPr/>
        </p:nvSpPr>
        <p:spPr>
          <a:xfrm>
            <a:off x="4782312" y="2240280"/>
            <a:ext cx="548640" cy="548640"/>
          </a:xfrm>
          <a:prstGeom prst="ellipse">
            <a:avLst/>
          </a:prstGeom>
          <a:solidFill>
            <a:srgbClr val="22D3EE"/>
          </a:solidFill>
          <a:ln/>
        </p:spPr>
      </p:sp>
      <p:pic>
        <p:nvPicPr>
          <p:cNvPr id="11" name="Image 1" descr="/home/claude/bms-deck/icons/mentor.png">    </p:cNvPr>
          <p:cNvPicPr>
            <a:picLocks noChangeAspect="1"/>
          </p:cNvPicPr>
          <p:nvPr/>
        </p:nvPicPr>
        <p:blipFill>
          <a:blip r:embed="rId2"/>
          <a:stretch>
            <a:fillRect/>
          </a:stretch>
        </p:blipFill>
        <p:spPr>
          <a:xfrm>
            <a:off x="4913986" y="2371954"/>
            <a:ext cx="285293" cy="285293"/>
          </a:xfrm>
          <a:prstGeom prst="rect">
            <a:avLst/>
          </a:prstGeom>
        </p:spPr>
      </p:pic>
      <p:sp>
        <p:nvSpPr>
          <p:cNvPr id="12" name="Text 8"/>
          <p:cNvSpPr/>
          <p:nvPr/>
        </p:nvSpPr>
        <p:spPr>
          <a:xfrm>
            <a:off x="5468112" y="2276856"/>
            <a:ext cx="2240280" cy="50292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Mentor</a:t>
            </a:r>
            <a:endParaRPr lang="en-US" sz="1900" dirty="0"/>
          </a:p>
        </p:txBody>
      </p:sp>
      <p:sp>
        <p:nvSpPr>
          <p:cNvPr id="13" name="Text 9"/>
          <p:cNvSpPr/>
          <p:nvPr/>
        </p:nvSpPr>
        <p:spPr>
          <a:xfrm>
            <a:off x="4782312" y="3017520"/>
            <a:ext cx="2880360" cy="2560320"/>
          </a:xfrm>
          <a:prstGeom prst="rect">
            <a:avLst/>
          </a:prstGeom>
          <a:noFill/>
          <a:ln/>
        </p:spPr>
        <p:txBody>
          <a:bodyPr wrap="square" lIns="0" tIns="0" rIns="0" bIns="0" rtlCol="0" anchor="ctr"/>
          <a:lstStyle/>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Assigned students</a:t>
            </a:r>
            <a:endParaRPr lang="en-US" sz="1250" dirty="0"/>
          </a:p>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Attendance &amp; progress overview</a:t>
            </a:r>
            <a:endParaRPr lang="en-US" sz="1250" dirty="0"/>
          </a:p>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Pending assignments to grade</a:t>
            </a:r>
            <a:endParaRPr lang="en-US" sz="1250" dirty="0"/>
          </a:p>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At-risk students</a:t>
            </a:r>
            <a:endParaRPr lang="en-US" sz="1250" dirty="0"/>
          </a:p>
        </p:txBody>
      </p:sp>
      <p:sp>
        <p:nvSpPr>
          <p:cNvPr id="14" name="Shape 10"/>
          <p:cNvSpPr/>
          <p:nvPr/>
        </p:nvSpPr>
        <p:spPr>
          <a:xfrm>
            <a:off x="8193024" y="1965960"/>
            <a:ext cx="3429000" cy="3794760"/>
          </a:xfrm>
          <a:prstGeom prst="roundRect">
            <a:avLst>
              <a:gd name="adj" fmla="val 2667"/>
            </a:avLst>
          </a:prstGeom>
          <a:solidFill>
            <a:srgbClr val="16233D"/>
          </a:solidFill>
          <a:ln/>
        </p:spPr>
      </p:sp>
      <p:sp>
        <p:nvSpPr>
          <p:cNvPr id="15" name="Shape 11"/>
          <p:cNvSpPr/>
          <p:nvPr/>
        </p:nvSpPr>
        <p:spPr>
          <a:xfrm>
            <a:off x="8467344" y="2240280"/>
            <a:ext cx="548640" cy="548640"/>
          </a:xfrm>
          <a:prstGeom prst="ellipse">
            <a:avLst/>
          </a:prstGeom>
          <a:solidFill>
            <a:srgbClr val="22D3EE"/>
          </a:solidFill>
          <a:ln/>
        </p:spPr>
      </p:sp>
      <p:pic>
        <p:nvPicPr>
          <p:cNvPr id="16" name="Image 2" descr="/home/claude/bms-deck/icons/student.png">    </p:cNvPr>
          <p:cNvPicPr>
            <a:picLocks noChangeAspect="1"/>
          </p:cNvPicPr>
          <p:nvPr/>
        </p:nvPicPr>
        <p:blipFill>
          <a:blip r:embed="rId3"/>
          <a:stretch>
            <a:fillRect/>
          </a:stretch>
        </p:blipFill>
        <p:spPr>
          <a:xfrm>
            <a:off x="8599018" y="2371954"/>
            <a:ext cx="285293" cy="285293"/>
          </a:xfrm>
          <a:prstGeom prst="rect">
            <a:avLst/>
          </a:prstGeom>
        </p:spPr>
      </p:pic>
      <p:sp>
        <p:nvSpPr>
          <p:cNvPr id="17" name="Text 12"/>
          <p:cNvSpPr/>
          <p:nvPr/>
        </p:nvSpPr>
        <p:spPr>
          <a:xfrm>
            <a:off x="9153144" y="2276856"/>
            <a:ext cx="2240280" cy="50292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Student</a:t>
            </a:r>
            <a:endParaRPr lang="en-US" sz="1900" dirty="0"/>
          </a:p>
        </p:txBody>
      </p:sp>
      <p:sp>
        <p:nvSpPr>
          <p:cNvPr id="18" name="Text 13"/>
          <p:cNvSpPr/>
          <p:nvPr/>
        </p:nvSpPr>
        <p:spPr>
          <a:xfrm>
            <a:off x="8467344" y="3017520"/>
            <a:ext cx="2880360" cy="2560320"/>
          </a:xfrm>
          <a:prstGeom prst="rect">
            <a:avLst/>
          </a:prstGeom>
          <a:noFill/>
          <a:ln/>
        </p:spPr>
        <p:txBody>
          <a:bodyPr wrap="square" lIns="0" tIns="0" rIns="0" bIns="0" rtlCol="0" anchor="ctr"/>
          <a:lstStyle/>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Attendance &amp; progress</a:t>
            </a:r>
            <a:endParaRPr lang="en-US" sz="1250" dirty="0"/>
          </a:p>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Assignments &amp; grades</a:t>
            </a:r>
            <a:endParaRPr lang="en-US" sz="1250" dirty="0"/>
          </a:p>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Recent announcements</a:t>
            </a:r>
            <a:endParaRPr lang="en-US" sz="1250" dirty="0"/>
          </a:p>
          <a:p>
            <a:pPr marL="177800" indent="-177800">
              <a:spcAft>
                <a:spcPts val="1200"/>
              </a:spcAft>
              <a:buSzPct val="100000"/>
              <a:buChar char="•"/>
            </a:pPr>
            <a:r>
              <a:rPr lang="en-US" sz="1250" dirty="0">
                <a:solidFill>
                  <a:srgbClr val="C7D3E8"/>
                </a:solidFill>
                <a:latin typeface="Calibri" pitchFamily="34" charset="0"/>
                <a:ea typeface="Calibri" pitchFamily="34" charset="-122"/>
                <a:cs typeface="Calibri" pitchFamily="34" charset="-120"/>
              </a:rPr>
              <a:t>Upcoming deadlines</a:t>
            </a:r>
            <a:endParaRPr lang="en-US" sz="1250" dirty="0"/>
          </a:p>
        </p:txBody>
      </p:sp>
      <p:sp>
        <p:nvSpPr>
          <p:cNvPr id="19" name="Text 14"/>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 / 15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0891B2"/>
                </a:solidFill>
                <a:latin typeface="Calibri" pitchFamily="34" charset="0"/>
                <a:ea typeface="Calibri" pitchFamily="34" charset="-122"/>
                <a:cs typeface="Calibri" pitchFamily="34" charset="-120"/>
              </a:rPr>
              <a:t>DATA MODEL</a:t>
            </a:r>
            <a:endParaRPr lang="en-US" sz="1200" dirty="0"/>
          </a:p>
        </p:txBody>
      </p:sp>
      <p:sp>
        <p:nvSpPr>
          <p:cNvPr id="3" name="Text 1"/>
          <p:cNvSpPr/>
          <p:nvPr/>
        </p:nvSpPr>
        <p:spPr>
          <a:xfrm>
            <a:off x="822960" y="685800"/>
            <a:ext cx="8686800" cy="822960"/>
          </a:xfrm>
          <a:prstGeom prst="rect">
            <a:avLst/>
          </a:prstGeom>
          <a:noFill/>
          <a:ln/>
        </p:spPr>
        <p:txBody>
          <a:bodyPr wrap="square" lIns="0" tIns="0" rIns="0" bIns="0" rtlCol="0" anchor="t"/>
          <a:lstStyle/>
          <a:p>
            <a:pPr algn="l" indent="0" marL="0">
              <a:buNone/>
            </a:pPr>
            <a:r>
              <a:rPr lang="en-US" sz="3400" b="1" dirty="0">
                <a:solidFill>
                  <a:srgbClr val="0B1220"/>
                </a:solidFill>
                <a:latin typeface="Cambria" pitchFamily="34" charset="0"/>
                <a:ea typeface="Cambria" pitchFamily="34" charset="-122"/>
                <a:cs typeface="Cambria" pitchFamily="34" charset="-120"/>
              </a:rPr>
              <a:t>Under the Hood: 7 Collections</a:t>
            </a:r>
            <a:endParaRPr lang="en-US" sz="3400" dirty="0"/>
          </a:p>
        </p:txBody>
      </p:sp>
      <p:sp>
        <p:nvSpPr>
          <p:cNvPr id="4" name="Text 2"/>
          <p:cNvSpPr/>
          <p:nvPr/>
        </p:nvSpPr>
        <p:spPr>
          <a:xfrm>
            <a:off x="822960" y="1417320"/>
            <a:ext cx="8229600" cy="36576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MongoDB via Mongoose. Detailed schemas are your team's design decision.</a:t>
            </a:r>
            <a:endParaRPr lang="en-US" sz="1350" dirty="0"/>
          </a:p>
        </p:txBody>
      </p:sp>
      <p:sp>
        <p:nvSpPr>
          <p:cNvPr id="5" name="Shape 3"/>
          <p:cNvSpPr/>
          <p:nvPr/>
        </p:nvSpPr>
        <p:spPr>
          <a:xfrm>
            <a:off x="822960" y="2011680"/>
            <a:ext cx="3310128" cy="1234440"/>
          </a:xfrm>
          <a:prstGeom prst="roundRect">
            <a:avLst>
              <a:gd name="adj" fmla="val 5926"/>
            </a:avLst>
          </a:prstGeom>
          <a:solidFill>
            <a:srgbClr val="F8FAFC"/>
          </a:solidFill>
          <a:ln w="12700">
            <a:solidFill>
              <a:srgbClr val="E2E8F0"/>
            </a:solidFill>
            <a:prstDash val="solid"/>
          </a:ln>
        </p:spPr>
      </p:sp>
      <p:sp>
        <p:nvSpPr>
          <p:cNvPr id="6" name="Shape 4"/>
          <p:cNvSpPr/>
          <p:nvPr/>
        </p:nvSpPr>
        <p:spPr>
          <a:xfrm>
            <a:off x="1005840" y="2194560"/>
            <a:ext cx="310896" cy="310896"/>
          </a:xfrm>
          <a:prstGeom prst="ellipse">
            <a:avLst/>
          </a:prstGeom>
          <a:solidFill>
            <a:srgbClr val="0B1220"/>
          </a:solidFill>
          <a:ln/>
        </p:spPr>
      </p:sp>
      <p:pic>
        <p:nvPicPr>
          <p:cNvPr id="7" name="Image 0" descr="/home/claude/bms-deck/icons/database.png">    </p:cNvPr>
          <p:cNvPicPr>
            <a:picLocks noChangeAspect="1"/>
          </p:cNvPicPr>
          <p:nvPr/>
        </p:nvPicPr>
        <p:blipFill>
          <a:blip r:embed="rId1"/>
          <a:stretch>
            <a:fillRect/>
          </a:stretch>
        </p:blipFill>
        <p:spPr>
          <a:xfrm>
            <a:off x="1078992" y="2267712"/>
            <a:ext cx="164592" cy="164592"/>
          </a:xfrm>
          <a:prstGeom prst="rect">
            <a:avLst/>
          </a:prstGeom>
        </p:spPr>
      </p:pic>
      <p:sp>
        <p:nvSpPr>
          <p:cNvPr id="8" name="Text 5"/>
          <p:cNvSpPr/>
          <p:nvPr/>
        </p:nvSpPr>
        <p:spPr>
          <a:xfrm>
            <a:off x="1426464" y="2148840"/>
            <a:ext cx="2532888"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Users</a:t>
            </a:r>
            <a:endParaRPr lang="en-US" sz="1400" dirty="0"/>
          </a:p>
        </p:txBody>
      </p:sp>
      <p:sp>
        <p:nvSpPr>
          <p:cNvPr id="9" name="Text 6"/>
          <p:cNvSpPr/>
          <p:nvPr/>
        </p:nvSpPr>
        <p:spPr>
          <a:xfrm>
            <a:off x="1005840" y="2578608"/>
            <a:ext cx="2944368" cy="594360"/>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Students, mentors &amp; admins with roles and credentials</a:t>
            </a:r>
            <a:endParaRPr lang="en-US" sz="1080" dirty="0"/>
          </a:p>
        </p:txBody>
      </p:sp>
      <p:sp>
        <p:nvSpPr>
          <p:cNvPr id="10" name="Shape 7"/>
          <p:cNvSpPr/>
          <p:nvPr/>
        </p:nvSpPr>
        <p:spPr>
          <a:xfrm>
            <a:off x="4352544" y="2011680"/>
            <a:ext cx="3310128" cy="1234440"/>
          </a:xfrm>
          <a:prstGeom prst="roundRect">
            <a:avLst>
              <a:gd name="adj" fmla="val 5926"/>
            </a:avLst>
          </a:prstGeom>
          <a:solidFill>
            <a:srgbClr val="F8FAFC"/>
          </a:solidFill>
          <a:ln w="12700">
            <a:solidFill>
              <a:srgbClr val="E2E8F0"/>
            </a:solidFill>
            <a:prstDash val="solid"/>
          </a:ln>
        </p:spPr>
      </p:sp>
      <p:sp>
        <p:nvSpPr>
          <p:cNvPr id="11" name="Shape 8"/>
          <p:cNvSpPr/>
          <p:nvPr/>
        </p:nvSpPr>
        <p:spPr>
          <a:xfrm>
            <a:off x="4535424" y="2194560"/>
            <a:ext cx="310896" cy="310896"/>
          </a:xfrm>
          <a:prstGeom prst="ellipse">
            <a:avLst/>
          </a:prstGeom>
          <a:solidFill>
            <a:srgbClr val="0B1220"/>
          </a:solidFill>
          <a:ln/>
        </p:spPr>
      </p:sp>
      <p:pic>
        <p:nvPicPr>
          <p:cNvPr id="12" name="Image 1" descr="/home/claude/bms-deck/icons/database.png">    </p:cNvPr>
          <p:cNvPicPr>
            <a:picLocks noChangeAspect="1"/>
          </p:cNvPicPr>
          <p:nvPr/>
        </p:nvPicPr>
        <p:blipFill>
          <a:blip r:embed="rId2"/>
          <a:stretch>
            <a:fillRect/>
          </a:stretch>
        </p:blipFill>
        <p:spPr>
          <a:xfrm>
            <a:off x="4608576" y="2267712"/>
            <a:ext cx="164592" cy="164592"/>
          </a:xfrm>
          <a:prstGeom prst="rect">
            <a:avLst/>
          </a:prstGeom>
        </p:spPr>
      </p:pic>
      <p:sp>
        <p:nvSpPr>
          <p:cNvPr id="13" name="Text 9"/>
          <p:cNvSpPr/>
          <p:nvPr/>
        </p:nvSpPr>
        <p:spPr>
          <a:xfrm>
            <a:off x="4956048" y="2148840"/>
            <a:ext cx="2532888"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Batches</a:t>
            </a:r>
            <a:endParaRPr lang="en-US" sz="1400" dirty="0"/>
          </a:p>
        </p:txBody>
      </p:sp>
      <p:sp>
        <p:nvSpPr>
          <p:cNvPr id="14" name="Text 10"/>
          <p:cNvSpPr/>
          <p:nvPr/>
        </p:nvSpPr>
        <p:spPr>
          <a:xfrm>
            <a:off x="4535424" y="2578608"/>
            <a:ext cx="2944368" cy="594360"/>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Bootcamp batches / cohorts</a:t>
            </a:r>
            <a:endParaRPr lang="en-US" sz="1080" dirty="0"/>
          </a:p>
        </p:txBody>
      </p:sp>
      <p:sp>
        <p:nvSpPr>
          <p:cNvPr id="15" name="Shape 11"/>
          <p:cNvSpPr/>
          <p:nvPr/>
        </p:nvSpPr>
        <p:spPr>
          <a:xfrm>
            <a:off x="7882128" y="2011680"/>
            <a:ext cx="3310128" cy="1234440"/>
          </a:xfrm>
          <a:prstGeom prst="roundRect">
            <a:avLst>
              <a:gd name="adj" fmla="val 5926"/>
            </a:avLst>
          </a:prstGeom>
          <a:solidFill>
            <a:srgbClr val="F8FAFC"/>
          </a:solidFill>
          <a:ln w="12700">
            <a:solidFill>
              <a:srgbClr val="E2E8F0"/>
            </a:solidFill>
            <a:prstDash val="solid"/>
          </a:ln>
        </p:spPr>
      </p:sp>
      <p:sp>
        <p:nvSpPr>
          <p:cNvPr id="16" name="Shape 12"/>
          <p:cNvSpPr/>
          <p:nvPr/>
        </p:nvSpPr>
        <p:spPr>
          <a:xfrm>
            <a:off x="8065008" y="2194560"/>
            <a:ext cx="310896" cy="310896"/>
          </a:xfrm>
          <a:prstGeom prst="ellipse">
            <a:avLst/>
          </a:prstGeom>
          <a:solidFill>
            <a:srgbClr val="0B1220"/>
          </a:solidFill>
          <a:ln/>
        </p:spPr>
      </p:sp>
      <p:pic>
        <p:nvPicPr>
          <p:cNvPr id="17" name="Image 2" descr="/home/claude/bms-deck/icons/database.png">    </p:cNvPr>
          <p:cNvPicPr>
            <a:picLocks noChangeAspect="1"/>
          </p:cNvPicPr>
          <p:nvPr/>
        </p:nvPicPr>
        <p:blipFill>
          <a:blip r:embed="rId3"/>
          <a:stretch>
            <a:fillRect/>
          </a:stretch>
        </p:blipFill>
        <p:spPr>
          <a:xfrm>
            <a:off x="8138160" y="2267712"/>
            <a:ext cx="164592" cy="164592"/>
          </a:xfrm>
          <a:prstGeom prst="rect">
            <a:avLst/>
          </a:prstGeom>
        </p:spPr>
      </p:pic>
      <p:sp>
        <p:nvSpPr>
          <p:cNvPr id="18" name="Text 13"/>
          <p:cNvSpPr/>
          <p:nvPr/>
        </p:nvSpPr>
        <p:spPr>
          <a:xfrm>
            <a:off x="8485632" y="2148840"/>
            <a:ext cx="2532888"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Attendance</a:t>
            </a:r>
            <a:endParaRPr lang="en-US" sz="1400" dirty="0"/>
          </a:p>
        </p:txBody>
      </p:sp>
      <p:sp>
        <p:nvSpPr>
          <p:cNvPr id="19" name="Text 14"/>
          <p:cNvSpPr/>
          <p:nvPr/>
        </p:nvSpPr>
        <p:spPr>
          <a:xfrm>
            <a:off x="8065008" y="2578608"/>
            <a:ext cx="2944368" cy="594360"/>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Daily attendance records per student</a:t>
            </a:r>
            <a:endParaRPr lang="en-US" sz="1080" dirty="0"/>
          </a:p>
        </p:txBody>
      </p:sp>
      <p:sp>
        <p:nvSpPr>
          <p:cNvPr id="20" name="Shape 15"/>
          <p:cNvSpPr/>
          <p:nvPr/>
        </p:nvSpPr>
        <p:spPr>
          <a:xfrm>
            <a:off x="822960" y="3465576"/>
            <a:ext cx="3310128" cy="1234440"/>
          </a:xfrm>
          <a:prstGeom prst="roundRect">
            <a:avLst>
              <a:gd name="adj" fmla="val 5926"/>
            </a:avLst>
          </a:prstGeom>
          <a:solidFill>
            <a:srgbClr val="F8FAFC"/>
          </a:solidFill>
          <a:ln w="12700">
            <a:solidFill>
              <a:srgbClr val="E2E8F0"/>
            </a:solidFill>
            <a:prstDash val="solid"/>
          </a:ln>
        </p:spPr>
      </p:sp>
      <p:sp>
        <p:nvSpPr>
          <p:cNvPr id="21" name="Shape 16"/>
          <p:cNvSpPr/>
          <p:nvPr/>
        </p:nvSpPr>
        <p:spPr>
          <a:xfrm>
            <a:off x="1005840" y="3648456"/>
            <a:ext cx="310896" cy="310896"/>
          </a:xfrm>
          <a:prstGeom prst="ellipse">
            <a:avLst/>
          </a:prstGeom>
          <a:solidFill>
            <a:srgbClr val="0B1220"/>
          </a:solidFill>
          <a:ln/>
        </p:spPr>
      </p:sp>
      <p:pic>
        <p:nvPicPr>
          <p:cNvPr id="22" name="Image 3" descr="/home/claude/bms-deck/icons/database.png">    </p:cNvPr>
          <p:cNvPicPr>
            <a:picLocks noChangeAspect="1"/>
          </p:cNvPicPr>
          <p:nvPr/>
        </p:nvPicPr>
        <p:blipFill>
          <a:blip r:embed="rId4"/>
          <a:stretch>
            <a:fillRect/>
          </a:stretch>
        </p:blipFill>
        <p:spPr>
          <a:xfrm>
            <a:off x="1078992" y="3721608"/>
            <a:ext cx="164592" cy="164592"/>
          </a:xfrm>
          <a:prstGeom prst="rect">
            <a:avLst/>
          </a:prstGeom>
        </p:spPr>
      </p:pic>
      <p:sp>
        <p:nvSpPr>
          <p:cNvPr id="23" name="Text 17"/>
          <p:cNvSpPr/>
          <p:nvPr/>
        </p:nvSpPr>
        <p:spPr>
          <a:xfrm>
            <a:off x="1426464" y="3602736"/>
            <a:ext cx="2532888"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Progress</a:t>
            </a:r>
            <a:endParaRPr lang="en-US" sz="1400" dirty="0"/>
          </a:p>
        </p:txBody>
      </p:sp>
      <p:sp>
        <p:nvSpPr>
          <p:cNvPr id="24" name="Text 18"/>
          <p:cNvSpPr/>
          <p:nvPr/>
        </p:nvSpPr>
        <p:spPr>
          <a:xfrm>
            <a:off x="1005840" y="4032504"/>
            <a:ext cx="2944368" cy="594360"/>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Weekly progress entries per student per topic</a:t>
            </a:r>
            <a:endParaRPr lang="en-US" sz="1080" dirty="0"/>
          </a:p>
        </p:txBody>
      </p:sp>
      <p:sp>
        <p:nvSpPr>
          <p:cNvPr id="25" name="Shape 19"/>
          <p:cNvSpPr/>
          <p:nvPr/>
        </p:nvSpPr>
        <p:spPr>
          <a:xfrm>
            <a:off x="4352544" y="3465576"/>
            <a:ext cx="3310128" cy="1234440"/>
          </a:xfrm>
          <a:prstGeom prst="roundRect">
            <a:avLst>
              <a:gd name="adj" fmla="val 5926"/>
            </a:avLst>
          </a:prstGeom>
          <a:solidFill>
            <a:srgbClr val="F8FAFC"/>
          </a:solidFill>
          <a:ln w="12700">
            <a:solidFill>
              <a:srgbClr val="E2E8F0"/>
            </a:solidFill>
            <a:prstDash val="solid"/>
          </a:ln>
        </p:spPr>
      </p:sp>
      <p:sp>
        <p:nvSpPr>
          <p:cNvPr id="26" name="Shape 20"/>
          <p:cNvSpPr/>
          <p:nvPr/>
        </p:nvSpPr>
        <p:spPr>
          <a:xfrm>
            <a:off x="4535424" y="3648456"/>
            <a:ext cx="310896" cy="310896"/>
          </a:xfrm>
          <a:prstGeom prst="ellipse">
            <a:avLst/>
          </a:prstGeom>
          <a:solidFill>
            <a:srgbClr val="0B1220"/>
          </a:solidFill>
          <a:ln/>
        </p:spPr>
      </p:sp>
      <p:pic>
        <p:nvPicPr>
          <p:cNvPr id="27" name="Image 4" descr="/home/claude/bms-deck/icons/database.png">    </p:cNvPr>
          <p:cNvPicPr>
            <a:picLocks noChangeAspect="1"/>
          </p:cNvPicPr>
          <p:nvPr/>
        </p:nvPicPr>
        <p:blipFill>
          <a:blip r:embed="rId5"/>
          <a:stretch>
            <a:fillRect/>
          </a:stretch>
        </p:blipFill>
        <p:spPr>
          <a:xfrm>
            <a:off x="4608576" y="3721608"/>
            <a:ext cx="164592" cy="164592"/>
          </a:xfrm>
          <a:prstGeom prst="rect">
            <a:avLst/>
          </a:prstGeom>
        </p:spPr>
      </p:pic>
      <p:sp>
        <p:nvSpPr>
          <p:cNvPr id="28" name="Text 21"/>
          <p:cNvSpPr/>
          <p:nvPr/>
        </p:nvSpPr>
        <p:spPr>
          <a:xfrm>
            <a:off x="4956048" y="3602736"/>
            <a:ext cx="2532888"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Assignments</a:t>
            </a:r>
            <a:endParaRPr lang="en-US" sz="1400" dirty="0"/>
          </a:p>
        </p:txBody>
      </p:sp>
      <p:sp>
        <p:nvSpPr>
          <p:cNvPr id="29" name="Text 22"/>
          <p:cNvSpPr/>
          <p:nvPr/>
        </p:nvSpPr>
        <p:spPr>
          <a:xfrm>
            <a:off x="4535424" y="4032504"/>
            <a:ext cx="2944368" cy="594360"/>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Assignment definitions created by mentors</a:t>
            </a:r>
            <a:endParaRPr lang="en-US" sz="1080" dirty="0"/>
          </a:p>
        </p:txBody>
      </p:sp>
      <p:sp>
        <p:nvSpPr>
          <p:cNvPr id="30" name="Shape 23"/>
          <p:cNvSpPr/>
          <p:nvPr/>
        </p:nvSpPr>
        <p:spPr>
          <a:xfrm>
            <a:off x="7882128" y="3465576"/>
            <a:ext cx="3310128" cy="1234440"/>
          </a:xfrm>
          <a:prstGeom prst="roundRect">
            <a:avLst>
              <a:gd name="adj" fmla="val 5926"/>
            </a:avLst>
          </a:prstGeom>
          <a:solidFill>
            <a:srgbClr val="F8FAFC"/>
          </a:solidFill>
          <a:ln w="12700">
            <a:solidFill>
              <a:srgbClr val="E2E8F0"/>
            </a:solidFill>
            <a:prstDash val="solid"/>
          </a:ln>
        </p:spPr>
      </p:sp>
      <p:sp>
        <p:nvSpPr>
          <p:cNvPr id="31" name="Shape 24"/>
          <p:cNvSpPr/>
          <p:nvPr/>
        </p:nvSpPr>
        <p:spPr>
          <a:xfrm>
            <a:off x="8065008" y="3648456"/>
            <a:ext cx="310896" cy="310896"/>
          </a:xfrm>
          <a:prstGeom prst="ellipse">
            <a:avLst/>
          </a:prstGeom>
          <a:solidFill>
            <a:srgbClr val="0B1220"/>
          </a:solidFill>
          <a:ln/>
        </p:spPr>
      </p:sp>
      <p:pic>
        <p:nvPicPr>
          <p:cNvPr id="32" name="Image 5" descr="/home/claude/bms-deck/icons/database.png">    </p:cNvPr>
          <p:cNvPicPr>
            <a:picLocks noChangeAspect="1"/>
          </p:cNvPicPr>
          <p:nvPr/>
        </p:nvPicPr>
        <p:blipFill>
          <a:blip r:embed="rId6"/>
          <a:stretch>
            <a:fillRect/>
          </a:stretch>
        </p:blipFill>
        <p:spPr>
          <a:xfrm>
            <a:off x="8138160" y="3721608"/>
            <a:ext cx="164592" cy="164592"/>
          </a:xfrm>
          <a:prstGeom prst="rect">
            <a:avLst/>
          </a:prstGeom>
        </p:spPr>
      </p:pic>
      <p:sp>
        <p:nvSpPr>
          <p:cNvPr id="33" name="Text 25"/>
          <p:cNvSpPr/>
          <p:nvPr/>
        </p:nvSpPr>
        <p:spPr>
          <a:xfrm>
            <a:off x="8485632" y="3602736"/>
            <a:ext cx="2532888"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Submissions</a:t>
            </a:r>
            <a:endParaRPr lang="en-US" sz="1400" dirty="0"/>
          </a:p>
        </p:txBody>
      </p:sp>
      <p:sp>
        <p:nvSpPr>
          <p:cNvPr id="34" name="Text 26"/>
          <p:cNvSpPr/>
          <p:nvPr/>
        </p:nvSpPr>
        <p:spPr>
          <a:xfrm>
            <a:off x="8065008" y="4032504"/>
            <a:ext cx="2944368" cy="594360"/>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Student submissions, grades &amp; feedback</a:t>
            </a:r>
            <a:endParaRPr lang="en-US" sz="1080" dirty="0"/>
          </a:p>
        </p:txBody>
      </p:sp>
      <p:sp>
        <p:nvSpPr>
          <p:cNvPr id="35" name="Shape 27"/>
          <p:cNvSpPr/>
          <p:nvPr/>
        </p:nvSpPr>
        <p:spPr>
          <a:xfrm>
            <a:off x="822960" y="4919472"/>
            <a:ext cx="3310128" cy="1234440"/>
          </a:xfrm>
          <a:prstGeom prst="roundRect">
            <a:avLst>
              <a:gd name="adj" fmla="val 5926"/>
            </a:avLst>
          </a:prstGeom>
          <a:solidFill>
            <a:srgbClr val="F8FAFC"/>
          </a:solidFill>
          <a:ln w="12700">
            <a:solidFill>
              <a:srgbClr val="E2E8F0"/>
            </a:solidFill>
            <a:prstDash val="solid"/>
          </a:ln>
        </p:spPr>
      </p:sp>
      <p:sp>
        <p:nvSpPr>
          <p:cNvPr id="36" name="Shape 28"/>
          <p:cNvSpPr/>
          <p:nvPr/>
        </p:nvSpPr>
        <p:spPr>
          <a:xfrm>
            <a:off x="1005840" y="5102352"/>
            <a:ext cx="310896" cy="310896"/>
          </a:xfrm>
          <a:prstGeom prst="ellipse">
            <a:avLst/>
          </a:prstGeom>
          <a:solidFill>
            <a:srgbClr val="0B1220"/>
          </a:solidFill>
          <a:ln/>
        </p:spPr>
      </p:sp>
      <p:pic>
        <p:nvPicPr>
          <p:cNvPr id="37" name="Image 6" descr="/home/claude/bms-deck/icons/database.png">    </p:cNvPr>
          <p:cNvPicPr>
            <a:picLocks noChangeAspect="1"/>
          </p:cNvPicPr>
          <p:nvPr/>
        </p:nvPicPr>
        <p:blipFill>
          <a:blip r:embed="rId7"/>
          <a:stretch>
            <a:fillRect/>
          </a:stretch>
        </p:blipFill>
        <p:spPr>
          <a:xfrm>
            <a:off x="1078992" y="5175504"/>
            <a:ext cx="164592" cy="164592"/>
          </a:xfrm>
          <a:prstGeom prst="rect">
            <a:avLst/>
          </a:prstGeom>
        </p:spPr>
      </p:pic>
      <p:sp>
        <p:nvSpPr>
          <p:cNvPr id="38" name="Text 29"/>
          <p:cNvSpPr/>
          <p:nvPr/>
        </p:nvSpPr>
        <p:spPr>
          <a:xfrm>
            <a:off x="1426464" y="5056632"/>
            <a:ext cx="2532888"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Announcements</a:t>
            </a:r>
            <a:endParaRPr lang="en-US" sz="1400" dirty="0"/>
          </a:p>
        </p:txBody>
      </p:sp>
      <p:sp>
        <p:nvSpPr>
          <p:cNvPr id="39" name="Text 30"/>
          <p:cNvSpPr/>
          <p:nvPr/>
        </p:nvSpPr>
        <p:spPr>
          <a:xfrm>
            <a:off x="1005840" y="5486400"/>
            <a:ext cx="2944368" cy="594360"/>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Announcement content, author &amp; timestamps</a:t>
            </a:r>
            <a:endParaRPr lang="en-US" sz="1080" dirty="0"/>
          </a:p>
        </p:txBody>
      </p:sp>
      <p:sp>
        <p:nvSpPr>
          <p:cNvPr id="40" name="Text 31"/>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 / 15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22D3EE"/>
                </a:solidFill>
                <a:latin typeface="Calibri" pitchFamily="34" charset="0"/>
                <a:ea typeface="Calibri" pitchFamily="34" charset="-122"/>
                <a:cs typeface="Calibri" pitchFamily="34" charset="-120"/>
              </a:rPr>
              <a:t>YOUR SPRINT PLAN</a:t>
            </a:r>
            <a:endParaRPr lang="en-US" sz="1200" dirty="0"/>
          </a:p>
        </p:txBody>
      </p:sp>
      <p:sp>
        <p:nvSpPr>
          <p:cNvPr id="3" name="Text 1"/>
          <p:cNvSpPr/>
          <p:nvPr/>
        </p:nvSpPr>
        <p:spPr>
          <a:xfrm>
            <a:off x="822960" y="685800"/>
            <a:ext cx="8229600" cy="82296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Three Weeks, Three Sprints</a:t>
            </a:r>
            <a:endParaRPr lang="en-US" sz="3400" dirty="0"/>
          </a:p>
        </p:txBody>
      </p:sp>
      <p:sp>
        <p:nvSpPr>
          <p:cNvPr id="4" name="Shape 2"/>
          <p:cNvSpPr/>
          <p:nvPr/>
        </p:nvSpPr>
        <p:spPr>
          <a:xfrm>
            <a:off x="822960" y="1965960"/>
            <a:ext cx="3291840" cy="3611880"/>
          </a:xfrm>
          <a:prstGeom prst="roundRect">
            <a:avLst>
              <a:gd name="adj" fmla="val 2778"/>
            </a:avLst>
          </a:prstGeom>
          <a:solidFill>
            <a:srgbClr val="16233D"/>
          </a:solidFill>
          <a:ln/>
        </p:spPr>
      </p:sp>
      <p:sp>
        <p:nvSpPr>
          <p:cNvPr id="5" name="Text 3"/>
          <p:cNvSpPr/>
          <p:nvPr/>
        </p:nvSpPr>
        <p:spPr>
          <a:xfrm>
            <a:off x="1097280" y="2221992"/>
            <a:ext cx="2743200" cy="320040"/>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WEEK 1</a:t>
            </a:r>
            <a:endParaRPr lang="en-US" sz="1100" dirty="0"/>
          </a:p>
        </p:txBody>
      </p:sp>
      <p:sp>
        <p:nvSpPr>
          <p:cNvPr id="6" name="Text 4"/>
          <p:cNvSpPr/>
          <p:nvPr/>
        </p:nvSpPr>
        <p:spPr>
          <a:xfrm>
            <a:off x="1097280" y="2560320"/>
            <a:ext cx="274320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Foundation</a:t>
            </a:r>
            <a:endParaRPr lang="en-US" sz="1900" dirty="0"/>
          </a:p>
        </p:txBody>
      </p:sp>
      <p:sp>
        <p:nvSpPr>
          <p:cNvPr id="7" name="Text 5"/>
          <p:cNvSpPr/>
          <p:nvPr/>
        </p:nvSpPr>
        <p:spPr>
          <a:xfrm>
            <a:off x="1097280" y="3200400"/>
            <a:ext cx="2743200" cy="2194560"/>
          </a:xfrm>
          <a:prstGeom prst="rect">
            <a:avLst/>
          </a:prstGeom>
          <a:noFill/>
          <a:ln/>
        </p:spPr>
        <p:txBody>
          <a:bodyPr wrap="square" lIns="0" tIns="0" rIns="0" bIns="0" rtlCol="0" anchor="ctr"/>
          <a:lstStyle/>
          <a:p>
            <a:pPr marL="177800" indent="-177800">
              <a:spcAft>
                <a:spcPts val="1000"/>
              </a:spcAft>
              <a:buSzPct val="100000"/>
              <a:buChar char="•"/>
            </a:pPr>
            <a:r>
              <a:rPr lang="en-US" sz="1250" dirty="0">
                <a:solidFill>
                  <a:srgbClr val="C7D3E8"/>
                </a:solidFill>
                <a:latin typeface="Calibri" pitchFamily="34" charset="0"/>
                <a:ea typeface="Calibri" pitchFamily="34" charset="-122"/>
                <a:cs typeface="Calibri" pitchFamily="34" charset="-120"/>
              </a:rPr>
              <a:t>Project setup</a:t>
            </a:r>
            <a:endParaRPr lang="en-US" sz="1250" dirty="0"/>
          </a:p>
          <a:p>
            <a:pPr marL="177800" indent="-177800">
              <a:spcAft>
                <a:spcPts val="1000"/>
              </a:spcAft>
              <a:buSzPct val="100000"/>
              <a:buChar char="•"/>
            </a:pPr>
            <a:r>
              <a:rPr lang="en-US" sz="1250" dirty="0">
                <a:solidFill>
                  <a:srgbClr val="C7D3E8"/>
                </a:solidFill>
                <a:latin typeface="Calibri" pitchFamily="34" charset="0"/>
                <a:ea typeface="Calibri" pitchFamily="34" charset="-122"/>
                <a:cs typeface="Calibri" pitchFamily="34" charset="-120"/>
              </a:rPr>
              <a:t>Database design</a:t>
            </a:r>
            <a:endParaRPr lang="en-US" sz="1250" dirty="0"/>
          </a:p>
          <a:p>
            <a:pPr marL="177800" indent="-177800">
              <a:spcAft>
                <a:spcPts val="1000"/>
              </a:spcAft>
              <a:buSzPct val="100000"/>
              <a:buChar char="•"/>
            </a:pPr>
            <a:r>
              <a:rPr lang="en-US" sz="1250" dirty="0">
                <a:solidFill>
                  <a:srgbClr val="C7D3E8"/>
                </a:solidFill>
                <a:latin typeface="Calibri" pitchFamily="34" charset="0"/>
                <a:ea typeface="Calibri" pitchFamily="34" charset="-122"/>
                <a:cs typeface="Calibri" pitchFamily="34" charset="-120"/>
              </a:rPr>
              <a:t>Auth: register / login / JWT / RBAC</a:t>
            </a:r>
            <a:endParaRPr lang="en-US" sz="1250" dirty="0"/>
          </a:p>
          <a:p>
            <a:pPr marL="177800" indent="-177800">
              <a:spcAft>
                <a:spcPts val="1000"/>
              </a:spcAft>
              <a:buSzPct val="100000"/>
              <a:buChar char="•"/>
            </a:pPr>
            <a:r>
              <a:rPr lang="en-US" sz="1250" dirty="0">
                <a:solidFill>
                  <a:srgbClr val="C7D3E8"/>
                </a:solidFill>
                <a:latin typeface="Calibri" pitchFamily="34" charset="0"/>
                <a:ea typeface="Calibri" pitchFamily="34" charset="-122"/>
                <a:cs typeface="Calibri" pitchFamily="34" charset="-120"/>
              </a:rPr>
              <a:t>Admin user management</a:t>
            </a:r>
            <a:endParaRPr lang="en-US" sz="1250" dirty="0"/>
          </a:p>
        </p:txBody>
      </p:sp>
      <p:sp>
        <p:nvSpPr>
          <p:cNvPr id="8" name="Text 6"/>
          <p:cNvSpPr/>
          <p:nvPr/>
        </p:nvSpPr>
        <p:spPr>
          <a:xfrm>
            <a:off x="4133088" y="3520440"/>
            <a:ext cx="283464" cy="548640"/>
          </a:xfrm>
          <a:prstGeom prst="rect">
            <a:avLst/>
          </a:prstGeom>
          <a:noFill/>
          <a:ln/>
        </p:spPr>
        <p:txBody>
          <a:bodyPr wrap="square" lIns="0" tIns="0" rIns="0" bIns="0" rtlCol="0" anchor="ctr"/>
          <a:lstStyle/>
          <a:p>
            <a:pPr algn="ctr" indent="0" marL="0">
              <a:buNone/>
            </a:pPr>
            <a:r>
              <a:rPr lang="en-US" sz="2200" b="1" dirty="0">
                <a:solidFill>
                  <a:srgbClr val="22D3EE"/>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434840" y="1965960"/>
            <a:ext cx="3291840" cy="3611880"/>
          </a:xfrm>
          <a:prstGeom prst="roundRect">
            <a:avLst>
              <a:gd name="adj" fmla="val 2778"/>
            </a:avLst>
          </a:prstGeom>
          <a:solidFill>
            <a:srgbClr val="16233D"/>
          </a:solidFill>
          <a:ln/>
        </p:spPr>
      </p:sp>
      <p:sp>
        <p:nvSpPr>
          <p:cNvPr id="10" name="Text 8"/>
          <p:cNvSpPr/>
          <p:nvPr/>
        </p:nvSpPr>
        <p:spPr>
          <a:xfrm>
            <a:off x="4709160" y="2221992"/>
            <a:ext cx="2743200" cy="320040"/>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WEEK 2</a:t>
            </a:r>
            <a:endParaRPr lang="en-US" sz="1100" dirty="0"/>
          </a:p>
        </p:txBody>
      </p:sp>
      <p:sp>
        <p:nvSpPr>
          <p:cNvPr id="11" name="Text 9"/>
          <p:cNvSpPr/>
          <p:nvPr/>
        </p:nvSpPr>
        <p:spPr>
          <a:xfrm>
            <a:off x="4709160" y="2560320"/>
            <a:ext cx="274320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Core Features</a:t>
            </a:r>
            <a:endParaRPr lang="en-US" sz="1900" dirty="0"/>
          </a:p>
        </p:txBody>
      </p:sp>
      <p:sp>
        <p:nvSpPr>
          <p:cNvPr id="12" name="Text 10"/>
          <p:cNvSpPr/>
          <p:nvPr/>
        </p:nvSpPr>
        <p:spPr>
          <a:xfrm>
            <a:off x="4709160" y="3200400"/>
            <a:ext cx="2743200" cy="2194560"/>
          </a:xfrm>
          <a:prstGeom prst="rect">
            <a:avLst/>
          </a:prstGeom>
          <a:noFill/>
          <a:ln/>
        </p:spPr>
        <p:txBody>
          <a:bodyPr wrap="square" lIns="0" tIns="0" rIns="0" bIns="0" rtlCol="0" anchor="ctr"/>
          <a:lstStyle/>
          <a:p>
            <a:pPr marL="177800" indent="-177800">
              <a:spcAft>
                <a:spcPts val="1000"/>
              </a:spcAft>
              <a:buSzPct val="100000"/>
              <a:buChar char="•"/>
            </a:pPr>
            <a:r>
              <a:rPr lang="en-US" sz="1250" dirty="0">
                <a:solidFill>
                  <a:srgbClr val="C7D3E8"/>
                </a:solidFill>
                <a:latin typeface="Calibri" pitchFamily="34" charset="0"/>
                <a:ea typeface="Calibri" pitchFamily="34" charset="-122"/>
                <a:cs typeface="Calibri" pitchFamily="34" charset="-120"/>
              </a:rPr>
              <a:t>Attendance</a:t>
            </a:r>
            <a:endParaRPr lang="en-US" sz="1250" dirty="0"/>
          </a:p>
          <a:p>
            <a:pPr marL="177800" indent="-177800">
              <a:spcAft>
                <a:spcPts val="1000"/>
              </a:spcAft>
              <a:buSzPct val="100000"/>
              <a:buChar char="•"/>
            </a:pPr>
            <a:r>
              <a:rPr lang="en-US" sz="1250" dirty="0">
                <a:solidFill>
                  <a:srgbClr val="C7D3E8"/>
                </a:solidFill>
                <a:latin typeface="Calibri" pitchFamily="34" charset="0"/>
                <a:ea typeface="Calibri" pitchFamily="34" charset="-122"/>
                <a:cs typeface="Calibri" pitchFamily="34" charset="-120"/>
              </a:rPr>
              <a:t>Progress tracker</a:t>
            </a:r>
            <a:endParaRPr lang="en-US" sz="1250" dirty="0"/>
          </a:p>
          <a:p>
            <a:pPr marL="177800" indent="-177800">
              <a:spcAft>
                <a:spcPts val="1000"/>
              </a:spcAft>
              <a:buSzPct val="100000"/>
              <a:buChar char="•"/>
            </a:pPr>
            <a:r>
              <a:rPr lang="en-US" sz="1250" dirty="0">
                <a:solidFill>
                  <a:srgbClr val="C7D3E8"/>
                </a:solidFill>
                <a:latin typeface="Calibri" pitchFamily="34" charset="0"/>
                <a:ea typeface="Calibri" pitchFamily="34" charset="-122"/>
                <a:cs typeface="Calibri" pitchFamily="34" charset="-120"/>
              </a:rPr>
              <a:t>Assignment submission &amp; grading</a:t>
            </a:r>
            <a:endParaRPr lang="en-US" sz="1250" dirty="0"/>
          </a:p>
        </p:txBody>
      </p:sp>
      <p:sp>
        <p:nvSpPr>
          <p:cNvPr id="13" name="Text 11"/>
          <p:cNvSpPr/>
          <p:nvPr/>
        </p:nvSpPr>
        <p:spPr>
          <a:xfrm>
            <a:off x="7744968" y="3520440"/>
            <a:ext cx="283464" cy="548640"/>
          </a:xfrm>
          <a:prstGeom prst="rect">
            <a:avLst/>
          </a:prstGeom>
          <a:noFill/>
          <a:ln/>
        </p:spPr>
        <p:txBody>
          <a:bodyPr wrap="square" lIns="0" tIns="0" rIns="0" bIns="0" rtlCol="0" anchor="ctr"/>
          <a:lstStyle/>
          <a:p>
            <a:pPr algn="ctr" indent="0" marL="0">
              <a:buNone/>
            </a:pPr>
            <a:r>
              <a:rPr lang="en-US" sz="2200" b="1" dirty="0">
                <a:solidFill>
                  <a:srgbClr val="22D3EE"/>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8046720" y="1965960"/>
            <a:ext cx="3291840" cy="3611880"/>
          </a:xfrm>
          <a:prstGeom prst="roundRect">
            <a:avLst>
              <a:gd name="adj" fmla="val 2778"/>
            </a:avLst>
          </a:prstGeom>
          <a:solidFill>
            <a:srgbClr val="16233D"/>
          </a:solidFill>
          <a:ln/>
        </p:spPr>
      </p:sp>
      <p:sp>
        <p:nvSpPr>
          <p:cNvPr id="15" name="Text 13"/>
          <p:cNvSpPr/>
          <p:nvPr/>
        </p:nvSpPr>
        <p:spPr>
          <a:xfrm>
            <a:off x="8321040" y="2221992"/>
            <a:ext cx="2743200" cy="320040"/>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WEEK 3</a:t>
            </a:r>
            <a:endParaRPr lang="en-US" sz="1100" dirty="0"/>
          </a:p>
        </p:txBody>
      </p:sp>
      <p:sp>
        <p:nvSpPr>
          <p:cNvPr id="16" name="Text 14"/>
          <p:cNvSpPr/>
          <p:nvPr/>
        </p:nvSpPr>
        <p:spPr>
          <a:xfrm>
            <a:off x="8321040" y="2560320"/>
            <a:ext cx="274320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Polish &amp; Launch</a:t>
            </a:r>
            <a:endParaRPr lang="en-US" sz="1900" dirty="0"/>
          </a:p>
        </p:txBody>
      </p:sp>
      <p:sp>
        <p:nvSpPr>
          <p:cNvPr id="17" name="Text 15"/>
          <p:cNvSpPr/>
          <p:nvPr/>
        </p:nvSpPr>
        <p:spPr>
          <a:xfrm>
            <a:off x="8321040" y="3200400"/>
            <a:ext cx="2743200" cy="2194560"/>
          </a:xfrm>
          <a:prstGeom prst="rect">
            <a:avLst/>
          </a:prstGeom>
          <a:noFill/>
          <a:ln/>
        </p:spPr>
        <p:txBody>
          <a:bodyPr wrap="square" lIns="0" tIns="0" rIns="0" bIns="0" rtlCol="0" anchor="ctr"/>
          <a:lstStyle/>
          <a:p>
            <a:pPr marL="177800" indent="-177800">
              <a:spcAft>
                <a:spcPts val="1000"/>
              </a:spcAft>
              <a:buSzPct val="100000"/>
              <a:buChar char="•"/>
            </a:pPr>
            <a:r>
              <a:rPr lang="en-US" sz="1250" dirty="0">
                <a:solidFill>
                  <a:srgbClr val="C7D3E8"/>
                </a:solidFill>
                <a:latin typeface="Calibri" pitchFamily="34" charset="0"/>
                <a:ea typeface="Calibri" pitchFamily="34" charset="-122"/>
                <a:cs typeface="Calibri" pitchFamily="34" charset="-120"/>
              </a:rPr>
              <a:t>Announcements</a:t>
            </a:r>
            <a:endParaRPr lang="en-US" sz="1250" dirty="0"/>
          </a:p>
          <a:p>
            <a:pPr marL="177800" indent="-177800">
              <a:spcAft>
                <a:spcPts val="1000"/>
              </a:spcAft>
              <a:buSzPct val="100000"/>
              <a:buChar char="•"/>
            </a:pPr>
            <a:r>
              <a:rPr lang="en-US" sz="1250" dirty="0">
                <a:solidFill>
                  <a:srgbClr val="C7D3E8"/>
                </a:solidFill>
                <a:latin typeface="Calibri" pitchFamily="34" charset="0"/>
                <a:ea typeface="Calibri" pitchFamily="34" charset="-122"/>
                <a:cs typeface="Calibri" pitchFamily="34" charset="-120"/>
              </a:rPr>
              <a:t>All 3 dashboards</a:t>
            </a:r>
            <a:endParaRPr lang="en-US" sz="1250" dirty="0"/>
          </a:p>
          <a:p>
            <a:pPr marL="177800" indent="-177800">
              <a:spcAft>
                <a:spcPts val="1000"/>
              </a:spcAft>
              <a:buSzPct val="100000"/>
              <a:buChar char="•"/>
            </a:pPr>
            <a:r>
              <a:rPr lang="en-US" sz="1250" dirty="0">
                <a:solidFill>
                  <a:srgbClr val="C7D3E8"/>
                </a:solidFill>
                <a:latin typeface="Calibri" pitchFamily="34" charset="0"/>
                <a:ea typeface="Calibri" pitchFamily="34" charset="-122"/>
                <a:cs typeface="Calibri" pitchFamily="34" charset="-120"/>
              </a:rPr>
              <a:t>Landing page</a:t>
            </a:r>
            <a:endParaRPr lang="en-US" sz="1250" dirty="0"/>
          </a:p>
          <a:p>
            <a:pPr marL="177800" indent="-177800">
              <a:spcAft>
                <a:spcPts val="1000"/>
              </a:spcAft>
              <a:buSzPct val="100000"/>
              <a:buChar char="•"/>
            </a:pPr>
            <a:r>
              <a:rPr lang="en-US" sz="1250" dirty="0">
                <a:solidFill>
                  <a:srgbClr val="C7D3E8"/>
                </a:solidFill>
                <a:latin typeface="Calibri" pitchFamily="34" charset="0"/>
                <a:ea typeface="Calibri" pitchFamily="34" charset="-122"/>
                <a:cs typeface="Calibri" pitchFamily="34" charset="-120"/>
              </a:rPr>
              <a:t>Testing &amp; deployment</a:t>
            </a:r>
            <a:endParaRPr lang="en-US" sz="1250" dirty="0"/>
          </a:p>
        </p:txBody>
      </p:sp>
      <p:sp>
        <p:nvSpPr>
          <p:cNvPr id="18" name="Shape 16"/>
          <p:cNvSpPr/>
          <p:nvPr/>
        </p:nvSpPr>
        <p:spPr>
          <a:xfrm>
            <a:off x="822960" y="5806440"/>
            <a:ext cx="10515600" cy="548640"/>
          </a:xfrm>
          <a:prstGeom prst="roundRect">
            <a:avLst>
              <a:gd name="adj" fmla="val 50000"/>
            </a:avLst>
          </a:prstGeom>
          <a:solidFill>
            <a:srgbClr val="10203A"/>
          </a:solidFill>
          <a:ln w="12700">
            <a:solidFill>
              <a:srgbClr val="22D3EE"/>
            </a:solidFill>
            <a:prstDash val="solid"/>
          </a:ln>
        </p:spPr>
      </p:sp>
      <p:sp>
        <p:nvSpPr>
          <p:cNvPr id="19" name="Text 17"/>
          <p:cNvSpPr/>
          <p:nvPr/>
        </p:nvSpPr>
        <p:spPr>
          <a:xfrm>
            <a:off x="822960" y="5806440"/>
            <a:ext cx="10515600" cy="548640"/>
          </a:xfrm>
          <a:prstGeom prst="rect">
            <a:avLst/>
          </a:prstGeom>
          <a:noFill/>
          <a:ln/>
        </p:spPr>
        <p:txBody>
          <a:bodyPr wrap="square" lIns="0" tIns="0" rIns="0" bIns="0" rtlCol="0" anchor="ctr"/>
          <a:lstStyle/>
          <a:p>
            <a:pPr algn="ctr" indent="0" marL="0">
              <a:buNone/>
            </a:pPr>
            <a:r>
              <a:rPr lang="en-US" sz="1250" b="1" dirty="0">
                <a:solidFill>
                  <a:srgbClr val="22D3EE"/>
                </a:solidFill>
                <a:latin typeface="Calibri" pitchFamily="34" charset="0"/>
                <a:ea typeface="Calibri" pitchFamily="34" charset="-122"/>
                <a:cs typeface="Calibri" pitchFamily="34" charset="-120"/>
              </a:rPr>
              <a:t>★  Aim for a working, deployed MVP by the end of Week 2 — Week 3 is for polish, not core features.</a:t>
            </a:r>
            <a:endParaRPr lang="en-US" sz="1250" dirty="0"/>
          </a:p>
        </p:txBody>
      </p:sp>
      <p:sp>
        <p:nvSpPr>
          <p:cNvPr id="20" name="Text 18"/>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 / 15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0891B2"/>
                </a:solidFill>
                <a:latin typeface="Calibri" pitchFamily="34" charset="0"/>
                <a:ea typeface="Calibri" pitchFamily="34" charset="-122"/>
                <a:cs typeface="Calibri" pitchFamily="34" charset="-120"/>
              </a:rPr>
              <a:t>SECTION 20 — CREATIVE FREEDOM</a:t>
            </a:r>
            <a:endParaRPr lang="en-US" sz="1200" dirty="0"/>
          </a:p>
        </p:txBody>
      </p:sp>
      <p:sp>
        <p:nvSpPr>
          <p:cNvPr id="3" name="Text 1"/>
          <p:cNvSpPr/>
          <p:nvPr/>
        </p:nvSpPr>
        <p:spPr>
          <a:xfrm>
            <a:off x="822960" y="685800"/>
            <a:ext cx="7315200" cy="822960"/>
          </a:xfrm>
          <a:prstGeom prst="rect">
            <a:avLst/>
          </a:prstGeom>
          <a:noFill/>
          <a:ln/>
        </p:spPr>
        <p:txBody>
          <a:bodyPr wrap="square" lIns="0" tIns="0" rIns="0" bIns="0" rtlCol="0" anchor="t"/>
          <a:lstStyle/>
          <a:p>
            <a:pPr algn="l" indent="0" marL="0">
              <a:buNone/>
            </a:pPr>
            <a:r>
              <a:rPr lang="en-US" sz="3400" b="1" dirty="0">
                <a:solidFill>
                  <a:srgbClr val="0B1220"/>
                </a:solidFill>
                <a:latin typeface="Cambria" pitchFamily="34" charset="0"/>
                <a:ea typeface="Cambria" pitchFamily="34" charset="-122"/>
                <a:cs typeface="Cambria" pitchFamily="34" charset="-120"/>
              </a:rPr>
              <a:t>Make It Yours</a:t>
            </a:r>
            <a:endParaRPr lang="en-US" sz="3400" dirty="0"/>
          </a:p>
        </p:txBody>
      </p:sp>
      <p:sp>
        <p:nvSpPr>
          <p:cNvPr id="4" name="Shape 2"/>
          <p:cNvSpPr/>
          <p:nvPr/>
        </p:nvSpPr>
        <p:spPr>
          <a:xfrm>
            <a:off x="9966960" y="594360"/>
            <a:ext cx="822960" cy="822960"/>
          </a:xfrm>
          <a:prstGeom prst="ellipse">
            <a:avLst/>
          </a:prstGeom>
          <a:solidFill>
            <a:srgbClr val="0B1220"/>
          </a:solidFill>
          <a:ln/>
        </p:spPr>
      </p:sp>
      <p:pic>
        <p:nvPicPr>
          <p:cNvPr id="5" name="Image 0" descr="/home/claude/bms-deck/icons/gift.png">    </p:cNvPr>
          <p:cNvPicPr>
            <a:picLocks noChangeAspect="1"/>
          </p:cNvPicPr>
          <p:nvPr/>
        </p:nvPicPr>
        <p:blipFill>
          <a:blip r:embed="rId1"/>
          <a:stretch>
            <a:fillRect/>
          </a:stretch>
        </p:blipFill>
        <p:spPr>
          <a:xfrm>
            <a:off x="10164470" y="791870"/>
            <a:ext cx="427939" cy="427939"/>
          </a:xfrm>
          <a:prstGeom prst="rect">
            <a:avLst/>
          </a:prstGeom>
        </p:spPr>
      </p:pic>
      <p:sp>
        <p:nvSpPr>
          <p:cNvPr id="6" name="Text 3"/>
          <p:cNvSpPr/>
          <p:nvPr/>
        </p:nvSpPr>
        <p:spPr>
          <a:xfrm>
            <a:off x="822960" y="1554480"/>
            <a:ext cx="8961120" cy="50292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Once the required system (Sections 1–19) is complete and stable, this is where you show your own creativity.</a:t>
            </a:r>
            <a:endParaRPr lang="en-US" sz="1400" dirty="0"/>
          </a:p>
        </p:txBody>
      </p:sp>
      <p:sp>
        <p:nvSpPr>
          <p:cNvPr id="7" name="Shape 4"/>
          <p:cNvSpPr/>
          <p:nvPr/>
        </p:nvSpPr>
        <p:spPr>
          <a:xfrm>
            <a:off x="822960" y="2331720"/>
            <a:ext cx="2231136" cy="530352"/>
          </a:xfrm>
          <a:prstGeom prst="roundRect">
            <a:avLst>
              <a:gd name="adj" fmla="val 50000"/>
            </a:avLst>
          </a:prstGeom>
          <a:solidFill>
            <a:srgbClr val="F8FAFC"/>
          </a:solidFill>
          <a:ln w="12700">
            <a:solidFill>
              <a:srgbClr val="E2E8F0"/>
            </a:solidFill>
            <a:prstDash val="solid"/>
          </a:ln>
        </p:spPr>
      </p:sp>
      <p:sp>
        <p:nvSpPr>
          <p:cNvPr id="8" name="Text 5"/>
          <p:cNvSpPr/>
          <p:nvPr/>
        </p:nvSpPr>
        <p:spPr>
          <a:xfrm>
            <a:off x="822960" y="2331720"/>
            <a:ext cx="2231136"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Resource Library</a:t>
            </a:r>
            <a:endParaRPr lang="en-US" sz="1250" dirty="0"/>
          </a:p>
        </p:txBody>
      </p:sp>
      <p:sp>
        <p:nvSpPr>
          <p:cNvPr id="9" name="Shape 6"/>
          <p:cNvSpPr/>
          <p:nvPr/>
        </p:nvSpPr>
        <p:spPr>
          <a:xfrm>
            <a:off x="3255264" y="2331720"/>
            <a:ext cx="2546604" cy="530352"/>
          </a:xfrm>
          <a:prstGeom prst="roundRect">
            <a:avLst>
              <a:gd name="adj" fmla="val 50000"/>
            </a:avLst>
          </a:prstGeom>
          <a:solidFill>
            <a:srgbClr val="F8FAFC"/>
          </a:solidFill>
          <a:ln w="12700">
            <a:solidFill>
              <a:srgbClr val="E2E8F0"/>
            </a:solidFill>
            <a:prstDash val="solid"/>
          </a:ln>
        </p:spPr>
      </p:sp>
      <p:sp>
        <p:nvSpPr>
          <p:cNvPr id="10" name="Text 7"/>
          <p:cNvSpPr/>
          <p:nvPr/>
        </p:nvSpPr>
        <p:spPr>
          <a:xfrm>
            <a:off x="3255264" y="2331720"/>
            <a:ext cx="2546604"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Reports &amp; Analytics</a:t>
            </a:r>
            <a:endParaRPr lang="en-US" sz="1250" dirty="0"/>
          </a:p>
        </p:txBody>
      </p:sp>
      <p:sp>
        <p:nvSpPr>
          <p:cNvPr id="11" name="Shape 8"/>
          <p:cNvSpPr/>
          <p:nvPr/>
        </p:nvSpPr>
        <p:spPr>
          <a:xfrm>
            <a:off x="6003036" y="2331720"/>
            <a:ext cx="1705356" cy="530352"/>
          </a:xfrm>
          <a:prstGeom prst="roundRect">
            <a:avLst>
              <a:gd name="adj" fmla="val 50000"/>
            </a:avLst>
          </a:prstGeom>
          <a:solidFill>
            <a:srgbClr val="F8FAFC"/>
          </a:solidFill>
          <a:ln w="12700">
            <a:solidFill>
              <a:srgbClr val="E2E8F0"/>
            </a:solidFill>
            <a:prstDash val="solid"/>
          </a:ln>
        </p:spPr>
      </p:sp>
      <p:sp>
        <p:nvSpPr>
          <p:cNvPr id="12" name="Text 9"/>
          <p:cNvSpPr/>
          <p:nvPr/>
        </p:nvSpPr>
        <p:spPr>
          <a:xfrm>
            <a:off x="6003036" y="2331720"/>
            <a:ext cx="1705356"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Leaderboard</a:t>
            </a:r>
            <a:endParaRPr lang="en-US" sz="1250" dirty="0"/>
          </a:p>
        </p:txBody>
      </p:sp>
      <p:sp>
        <p:nvSpPr>
          <p:cNvPr id="13" name="Shape 10"/>
          <p:cNvSpPr/>
          <p:nvPr/>
        </p:nvSpPr>
        <p:spPr>
          <a:xfrm>
            <a:off x="7909560" y="2331720"/>
            <a:ext cx="2441448" cy="530352"/>
          </a:xfrm>
          <a:prstGeom prst="roundRect">
            <a:avLst>
              <a:gd name="adj" fmla="val 50000"/>
            </a:avLst>
          </a:prstGeom>
          <a:solidFill>
            <a:srgbClr val="F8FAFC"/>
          </a:solidFill>
          <a:ln w="12700">
            <a:solidFill>
              <a:srgbClr val="E2E8F0"/>
            </a:solidFill>
            <a:prstDash val="solid"/>
          </a:ln>
        </p:spPr>
      </p:sp>
      <p:sp>
        <p:nvSpPr>
          <p:cNvPr id="14" name="Text 11"/>
          <p:cNvSpPr/>
          <p:nvPr/>
        </p:nvSpPr>
        <p:spPr>
          <a:xfrm>
            <a:off x="7909560" y="2331720"/>
            <a:ext cx="2441448"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Search &amp; Filtering</a:t>
            </a:r>
            <a:endParaRPr lang="en-US" sz="1250" dirty="0"/>
          </a:p>
        </p:txBody>
      </p:sp>
      <p:sp>
        <p:nvSpPr>
          <p:cNvPr id="15" name="Shape 12"/>
          <p:cNvSpPr/>
          <p:nvPr/>
        </p:nvSpPr>
        <p:spPr>
          <a:xfrm>
            <a:off x="822960" y="3063240"/>
            <a:ext cx="1705356" cy="530352"/>
          </a:xfrm>
          <a:prstGeom prst="roundRect">
            <a:avLst>
              <a:gd name="adj" fmla="val 50000"/>
            </a:avLst>
          </a:prstGeom>
          <a:solidFill>
            <a:srgbClr val="F8FAFC"/>
          </a:solidFill>
          <a:ln w="12700">
            <a:solidFill>
              <a:srgbClr val="E2E8F0"/>
            </a:solidFill>
            <a:prstDash val="solid"/>
          </a:ln>
        </p:spPr>
      </p:sp>
      <p:sp>
        <p:nvSpPr>
          <p:cNvPr id="16" name="Text 13"/>
          <p:cNvSpPr/>
          <p:nvPr/>
        </p:nvSpPr>
        <p:spPr>
          <a:xfrm>
            <a:off x="822960" y="3063240"/>
            <a:ext cx="1705356"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Alumni Page</a:t>
            </a:r>
            <a:endParaRPr lang="en-US" sz="1250" dirty="0"/>
          </a:p>
        </p:txBody>
      </p:sp>
      <p:sp>
        <p:nvSpPr>
          <p:cNvPr id="17" name="Shape 14"/>
          <p:cNvSpPr/>
          <p:nvPr/>
        </p:nvSpPr>
        <p:spPr>
          <a:xfrm>
            <a:off x="2729484" y="3063240"/>
            <a:ext cx="1705356" cy="530352"/>
          </a:xfrm>
          <a:prstGeom prst="roundRect">
            <a:avLst>
              <a:gd name="adj" fmla="val 50000"/>
            </a:avLst>
          </a:prstGeom>
          <a:solidFill>
            <a:srgbClr val="F8FAFC"/>
          </a:solidFill>
          <a:ln w="12700">
            <a:solidFill>
              <a:srgbClr val="E2E8F0"/>
            </a:solidFill>
            <a:prstDash val="solid"/>
          </a:ln>
        </p:spPr>
      </p:sp>
      <p:sp>
        <p:nvSpPr>
          <p:cNvPr id="18" name="Text 15"/>
          <p:cNvSpPr/>
          <p:nvPr/>
        </p:nvSpPr>
        <p:spPr>
          <a:xfrm>
            <a:off x="2729484" y="3063240"/>
            <a:ext cx="1705356"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PDF Exports</a:t>
            </a:r>
            <a:endParaRPr lang="en-US" sz="1250" dirty="0"/>
          </a:p>
        </p:txBody>
      </p:sp>
      <p:sp>
        <p:nvSpPr>
          <p:cNvPr id="19" name="Shape 16"/>
          <p:cNvSpPr/>
          <p:nvPr/>
        </p:nvSpPr>
        <p:spPr>
          <a:xfrm>
            <a:off x="4636008" y="3063240"/>
            <a:ext cx="1915668" cy="530352"/>
          </a:xfrm>
          <a:prstGeom prst="roundRect">
            <a:avLst>
              <a:gd name="adj" fmla="val 50000"/>
            </a:avLst>
          </a:prstGeom>
          <a:solidFill>
            <a:srgbClr val="F8FAFC"/>
          </a:solidFill>
          <a:ln w="12700">
            <a:solidFill>
              <a:srgbClr val="E2E8F0"/>
            </a:solidFill>
            <a:prstDash val="solid"/>
          </a:ln>
        </p:spPr>
      </p:sp>
      <p:sp>
        <p:nvSpPr>
          <p:cNvPr id="20" name="Text 17"/>
          <p:cNvSpPr/>
          <p:nvPr/>
        </p:nvSpPr>
        <p:spPr>
          <a:xfrm>
            <a:off x="4636008" y="3063240"/>
            <a:ext cx="1915668"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Calendar View</a:t>
            </a:r>
            <a:endParaRPr lang="en-US" sz="1250" dirty="0"/>
          </a:p>
        </p:txBody>
      </p:sp>
      <p:sp>
        <p:nvSpPr>
          <p:cNvPr id="21" name="Shape 18"/>
          <p:cNvSpPr/>
          <p:nvPr/>
        </p:nvSpPr>
        <p:spPr>
          <a:xfrm>
            <a:off x="6752844" y="3063240"/>
            <a:ext cx="2441448" cy="530352"/>
          </a:xfrm>
          <a:prstGeom prst="roundRect">
            <a:avLst>
              <a:gd name="adj" fmla="val 50000"/>
            </a:avLst>
          </a:prstGeom>
          <a:solidFill>
            <a:srgbClr val="F8FAFC"/>
          </a:solidFill>
          <a:ln w="12700">
            <a:solidFill>
              <a:srgbClr val="E2E8F0"/>
            </a:solidFill>
            <a:prstDash val="solid"/>
          </a:ln>
        </p:spPr>
      </p:sp>
      <p:sp>
        <p:nvSpPr>
          <p:cNvPr id="22" name="Text 19"/>
          <p:cNvSpPr/>
          <p:nvPr/>
        </p:nvSpPr>
        <p:spPr>
          <a:xfrm>
            <a:off x="6752844" y="3063240"/>
            <a:ext cx="2441448"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Achievement Badges</a:t>
            </a:r>
            <a:endParaRPr lang="en-US" sz="1250" dirty="0"/>
          </a:p>
        </p:txBody>
      </p:sp>
      <p:sp>
        <p:nvSpPr>
          <p:cNvPr id="23" name="Shape 20"/>
          <p:cNvSpPr/>
          <p:nvPr/>
        </p:nvSpPr>
        <p:spPr>
          <a:xfrm>
            <a:off x="9395460" y="3063240"/>
            <a:ext cx="1495044" cy="530352"/>
          </a:xfrm>
          <a:prstGeom prst="roundRect">
            <a:avLst>
              <a:gd name="adj" fmla="val 50000"/>
            </a:avLst>
          </a:prstGeom>
          <a:solidFill>
            <a:srgbClr val="F8FAFC"/>
          </a:solidFill>
          <a:ln w="12700">
            <a:solidFill>
              <a:srgbClr val="E2E8F0"/>
            </a:solidFill>
            <a:prstDash val="solid"/>
          </a:ln>
        </p:spPr>
      </p:sp>
      <p:sp>
        <p:nvSpPr>
          <p:cNvPr id="24" name="Text 21"/>
          <p:cNvSpPr/>
          <p:nvPr/>
        </p:nvSpPr>
        <p:spPr>
          <a:xfrm>
            <a:off x="9395460" y="3063240"/>
            <a:ext cx="1495044"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Dark Mode</a:t>
            </a:r>
            <a:endParaRPr lang="en-US" sz="1250" dirty="0"/>
          </a:p>
        </p:txBody>
      </p:sp>
      <p:sp>
        <p:nvSpPr>
          <p:cNvPr id="25" name="Shape 22"/>
          <p:cNvSpPr/>
          <p:nvPr/>
        </p:nvSpPr>
        <p:spPr>
          <a:xfrm>
            <a:off x="822960" y="3794760"/>
            <a:ext cx="2231136" cy="530352"/>
          </a:xfrm>
          <a:prstGeom prst="roundRect">
            <a:avLst>
              <a:gd name="adj" fmla="val 50000"/>
            </a:avLst>
          </a:prstGeom>
          <a:solidFill>
            <a:srgbClr val="F8FAFC"/>
          </a:solidFill>
          <a:ln w="12700">
            <a:solidFill>
              <a:srgbClr val="E2E8F0"/>
            </a:solidFill>
            <a:prstDash val="solid"/>
          </a:ln>
        </p:spPr>
      </p:sp>
      <p:sp>
        <p:nvSpPr>
          <p:cNvPr id="26" name="Text 23"/>
          <p:cNvSpPr/>
          <p:nvPr/>
        </p:nvSpPr>
        <p:spPr>
          <a:xfrm>
            <a:off x="822960" y="3794760"/>
            <a:ext cx="2231136"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Student Timeline</a:t>
            </a:r>
            <a:endParaRPr lang="en-US" sz="1250" dirty="0"/>
          </a:p>
        </p:txBody>
      </p:sp>
      <p:sp>
        <p:nvSpPr>
          <p:cNvPr id="27" name="Shape 24"/>
          <p:cNvSpPr/>
          <p:nvPr/>
        </p:nvSpPr>
        <p:spPr>
          <a:xfrm>
            <a:off x="3255264" y="3794760"/>
            <a:ext cx="1810512" cy="530352"/>
          </a:xfrm>
          <a:prstGeom prst="roundRect">
            <a:avLst>
              <a:gd name="adj" fmla="val 50000"/>
            </a:avLst>
          </a:prstGeom>
          <a:solidFill>
            <a:srgbClr val="F8FAFC"/>
          </a:solidFill>
          <a:ln w="12700">
            <a:solidFill>
              <a:srgbClr val="E2E8F0"/>
            </a:solidFill>
            <a:prstDash val="solid"/>
          </a:ln>
        </p:spPr>
      </p:sp>
      <p:sp>
        <p:nvSpPr>
          <p:cNvPr id="28" name="Text 25"/>
          <p:cNvSpPr/>
          <p:nvPr/>
        </p:nvSpPr>
        <p:spPr>
          <a:xfrm>
            <a:off x="3255264" y="3794760"/>
            <a:ext cx="1810512"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Hall of Fame</a:t>
            </a:r>
            <a:endParaRPr lang="en-US" sz="1250" dirty="0"/>
          </a:p>
        </p:txBody>
      </p:sp>
      <p:sp>
        <p:nvSpPr>
          <p:cNvPr id="29" name="Shape 26"/>
          <p:cNvSpPr/>
          <p:nvPr/>
        </p:nvSpPr>
        <p:spPr>
          <a:xfrm>
            <a:off x="5266944" y="3794760"/>
            <a:ext cx="1810512" cy="530352"/>
          </a:xfrm>
          <a:prstGeom prst="roundRect">
            <a:avLst>
              <a:gd name="adj" fmla="val 50000"/>
            </a:avLst>
          </a:prstGeom>
          <a:solidFill>
            <a:srgbClr val="F8FAFC"/>
          </a:solidFill>
          <a:ln w="12700">
            <a:solidFill>
              <a:srgbClr val="E2E8F0"/>
            </a:solidFill>
            <a:prstDash val="solid"/>
          </a:ln>
        </p:spPr>
      </p:sp>
      <p:sp>
        <p:nvSpPr>
          <p:cNvPr id="30" name="Text 27"/>
          <p:cNvSpPr/>
          <p:nvPr/>
        </p:nvSpPr>
        <p:spPr>
          <a:xfrm>
            <a:off x="5266944" y="3794760"/>
            <a:ext cx="1810512"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Mentor Notes</a:t>
            </a:r>
            <a:endParaRPr lang="en-US" sz="1250" dirty="0"/>
          </a:p>
        </p:txBody>
      </p:sp>
      <p:sp>
        <p:nvSpPr>
          <p:cNvPr id="31" name="Shape 28"/>
          <p:cNvSpPr/>
          <p:nvPr/>
        </p:nvSpPr>
        <p:spPr>
          <a:xfrm>
            <a:off x="7278624" y="3794760"/>
            <a:ext cx="2231136" cy="530352"/>
          </a:xfrm>
          <a:prstGeom prst="roundRect">
            <a:avLst>
              <a:gd name="adj" fmla="val 50000"/>
            </a:avLst>
          </a:prstGeom>
          <a:solidFill>
            <a:srgbClr val="F8FAFC"/>
          </a:solidFill>
          <a:ln w="12700">
            <a:solidFill>
              <a:srgbClr val="E2E8F0"/>
            </a:solidFill>
            <a:prstDash val="solid"/>
          </a:ln>
        </p:spPr>
      </p:sp>
      <p:sp>
        <p:nvSpPr>
          <p:cNvPr id="32" name="Text 29"/>
          <p:cNvSpPr/>
          <p:nvPr/>
        </p:nvSpPr>
        <p:spPr>
          <a:xfrm>
            <a:off x="7278624" y="3794760"/>
            <a:ext cx="2231136" cy="530352"/>
          </a:xfrm>
          <a:prstGeom prst="rect">
            <a:avLst/>
          </a:prstGeom>
          <a:noFill/>
          <a:ln/>
        </p:spPr>
        <p:txBody>
          <a:bodyPr wrap="square" lIns="0" tIns="0" rIns="0" bIns="0" rtlCol="0" anchor="ctr"/>
          <a:lstStyle/>
          <a:p>
            <a:pPr algn="ctr" indent="0" marL="0">
              <a:buNone/>
            </a:pPr>
            <a:r>
              <a:rPr lang="en-US" sz="1250" dirty="0">
                <a:solidFill>
                  <a:srgbClr val="1F2937"/>
                </a:solidFill>
                <a:latin typeface="Calibri" pitchFamily="34" charset="0"/>
                <a:ea typeface="Calibri" pitchFamily="34" charset="-122"/>
                <a:cs typeface="Calibri" pitchFamily="34" charset="-120"/>
              </a:rPr>
              <a:t>File Attachments</a:t>
            </a:r>
            <a:endParaRPr lang="en-US" sz="1250" dirty="0"/>
          </a:p>
        </p:txBody>
      </p:sp>
      <p:sp>
        <p:nvSpPr>
          <p:cNvPr id="33" name="Shape 30"/>
          <p:cNvSpPr/>
          <p:nvPr/>
        </p:nvSpPr>
        <p:spPr>
          <a:xfrm>
            <a:off x="822960" y="4526280"/>
            <a:ext cx="2125980" cy="530352"/>
          </a:xfrm>
          <a:prstGeom prst="roundRect">
            <a:avLst>
              <a:gd name="adj" fmla="val 50000"/>
            </a:avLst>
          </a:prstGeom>
          <a:solidFill>
            <a:srgbClr val="0B1220"/>
          </a:solidFill>
          <a:ln w="12700">
            <a:solidFill>
              <a:srgbClr val="0B1220"/>
            </a:solidFill>
            <a:prstDash val="solid"/>
          </a:ln>
        </p:spPr>
      </p:sp>
      <p:sp>
        <p:nvSpPr>
          <p:cNvPr id="34" name="Text 31"/>
          <p:cNvSpPr/>
          <p:nvPr/>
        </p:nvSpPr>
        <p:spPr>
          <a:xfrm>
            <a:off x="822960" y="4526280"/>
            <a:ext cx="2125980" cy="53035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Your Own Idea ✨</a:t>
            </a:r>
            <a:endParaRPr lang="en-US" sz="1250" dirty="0"/>
          </a:p>
        </p:txBody>
      </p:sp>
      <p:sp>
        <p:nvSpPr>
          <p:cNvPr id="35" name="Text 32"/>
          <p:cNvSpPr/>
          <p:nvPr/>
        </p:nvSpPr>
        <p:spPr>
          <a:xfrm>
            <a:off x="822960" y="5989320"/>
            <a:ext cx="9875520" cy="45720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Only attempt these after every required feature works. A polished core beats a flashy, broken extra.</a:t>
            </a:r>
            <a:endParaRPr lang="en-US" sz="1250" dirty="0"/>
          </a:p>
        </p:txBody>
      </p:sp>
      <p:sp>
        <p:nvSpPr>
          <p:cNvPr id="36" name="Text 33"/>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13 / 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384048"/>
            <a:ext cx="8229600" cy="320040"/>
          </a:xfrm>
          <a:prstGeom prst="rect">
            <a:avLst/>
          </a:prstGeom>
          <a:noFill/>
          <a:ln/>
        </p:spPr>
        <p:txBody>
          <a:bodyPr wrap="square" lIns="0" tIns="0" rIns="0" bIns="0" rtlCol="0" anchor="ctr"/>
          <a:lstStyle/>
          <a:p>
            <a:pPr algn="l" indent="0" marL="0">
              <a:buNone/>
            </a:pPr>
            <a:r>
              <a:rPr lang="en-US" sz="1200" b="1" spc="200" kern="0" dirty="0">
                <a:solidFill>
                  <a:srgbClr val="0891B2"/>
                </a:solidFill>
                <a:latin typeface="Calibri" pitchFamily="34" charset="0"/>
                <a:ea typeface="Calibri" pitchFamily="34" charset="-122"/>
                <a:cs typeface="Calibri" pitchFamily="34" charset="-120"/>
              </a:rPr>
              <a:t>DEFINITION OF DONE</a:t>
            </a:r>
            <a:endParaRPr lang="en-US" sz="1200" dirty="0"/>
          </a:p>
        </p:txBody>
      </p:sp>
      <p:sp>
        <p:nvSpPr>
          <p:cNvPr id="3" name="Text 1"/>
          <p:cNvSpPr/>
          <p:nvPr/>
        </p:nvSpPr>
        <p:spPr>
          <a:xfrm>
            <a:off x="822960" y="685800"/>
            <a:ext cx="8686800" cy="822960"/>
          </a:xfrm>
          <a:prstGeom prst="rect">
            <a:avLst/>
          </a:prstGeom>
          <a:noFill/>
          <a:ln/>
        </p:spPr>
        <p:txBody>
          <a:bodyPr wrap="square" lIns="0" tIns="0" rIns="0" bIns="0" rtlCol="0" anchor="t"/>
          <a:lstStyle/>
          <a:p>
            <a:pPr algn="l" indent="0" marL="0">
              <a:buNone/>
            </a:pPr>
            <a:r>
              <a:rPr lang="en-US" sz="3400" b="1" dirty="0">
                <a:solidFill>
                  <a:srgbClr val="0B1220"/>
                </a:solidFill>
                <a:latin typeface="Cambria" pitchFamily="34" charset="0"/>
                <a:ea typeface="Cambria" pitchFamily="34" charset="-122"/>
                <a:cs typeface="Cambria" pitchFamily="34" charset="-120"/>
              </a:rPr>
              <a:t>How You'll Know You're Done</a:t>
            </a:r>
            <a:endParaRPr lang="en-US" sz="3400" dirty="0"/>
          </a:p>
        </p:txBody>
      </p:sp>
      <p:pic>
        <p:nvPicPr>
          <p:cNvPr id="4" name="Image 0" descr="/home/claude/bms-deck/icons/check.png">    </p:cNvPr>
          <p:cNvPicPr>
            <a:picLocks noChangeAspect="1"/>
          </p:cNvPicPr>
          <p:nvPr/>
        </p:nvPicPr>
        <p:blipFill>
          <a:blip r:embed="rId1"/>
          <a:stretch>
            <a:fillRect/>
          </a:stretch>
        </p:blipFill>
        <p:spPr>
          <a:xfrm>
            <a:off x="822960" y="1655064"/>
            <a:ext cx="365760" cy="365760"/>
          </a:xfrm>
          <a:prstGeom prst="rect">
            <a:avLst/>
          </a:prstGeom>
        </p:spPr>
      </p:pic>
      <p:sp>
        <p:nvSpPr>
          <p:cNvPr id="5" name="Text 2"/>
          <p:cNvSpPr/>
          <p:nvPr/>
        </p:nvSpPr>
        <p:spPr>
          <a:xfrm>
            <a:off x="1353312" y="1527048"/>
            <a:ext cx="4526280" cy="7772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All three roles can securely log in</a:t>
            </a:r>
            <a:endParaRPr lang="en-US" sz="1350" dirty="0"/>
          </a:p>
        </p:txBody>
      </p:sp>
      <p:pic>
        <p:nvPicPr>
          <p:cNvPr id="6" name="Image 1" descr="/home/claude/bms-deck/icons/check.png">    </p:cNvPr>
          <p:cNvPicPr>
            <a:picLocks noChangeAspect="1"/>
          </p:cNvPicPr>
          <p:nvPr/>
        </p:nvPicPr>
        <p:blipFill>
          <a:blip r:embed="rId2"/>
          <a:stretch>
            <a:fillRect/>
          </a:stretch>
        </p:blipFill>
        <p:spPr>
          <a:xfrm>
            <a:off x="822960" y="2706624"/>
            <a:ext cx="365760" cy="365760"/>
          </a:xfrm>
          <a:prstGeom prst="rect">
            <a:avLst/>
          </a:prstGeom>
        </p:spPr>
      </p:pic>
      <p:sp>
        <p:nvSpPr>
          <p:cNvPr id="7" name="Text 3"/>
          <p:cNvSpPr/>
          <p:nvPr/>
        </p:nvSpPr>
        <p:spPr>
          <a:xfrm>
            <a:off x="1353312" y="2578608"/>
            <a:ext cx="4526280" cy="7772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Role-based permissions work correctly, front and back end</a:t>
            </a:r>
            <a:endParaRPr lang="en-US" sz="1350" dirty="0"/>
          </a:p>
        </p:txBody>
      </p:sp>
      <p:pic>
        <p:nvPicPr>
          <p:cNvPr id="8" name="Image 2" descr="/home/claude/bms-deck/icons/check.png">    </p:cNvPr>
          <p:cNvPicPr>
            <a:picLocks noChangeAspect="1"/>
          </p:cNvPicPr>
          <p:nvPr/>
        </p:nvPicPr>
        <p:blipFill>
          <a:blip r:embed="rId3"/>
          <a:stretch>
            <a:fillRect/>
          </a:stretch>
        </p:blipFill>
        <p:spPr>
          <a:xfrm>
            <a:off x="822960" y="3758184"/>
            <a:ext cx="365760" cy="365760"/>
          </a:xfrm>
          <a:prstGeom prst="rect">
            <a:avLst/>
          </a:prstGeom>
        </p:spPr>
      </p:pic>
      <p:sp>
        <p:nvSpPr>
          <p:cNvPr id="9" name="Text 4"/>
          <p:cNvSpPr/>
          <p:nvPr/>
        </p:nvSpPr>
        <p:spPr>
          <a:xfrm>
            <a:off x="1353312" y="3630168"/>
            <a:ext cx="4526280" cy="7772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Admins can manage students, mentors, and batches</a:t>
            </a:r>
            <a:endParaRPr lang="en-US" sz="1350" dirty="0"/>
          </a:p>
        </p:txBody>
      </p:sp>
      <p:pic>
        <p:nvPicPr>
          <p:cNvPr id="10" name="Image 3" descr="/home/claude/bms-deck/icons/check.png">    </p:cNvPr>
          <p:cNvPicPr>
            <a:picLocks noChangeAspect="1"/>
          </p:cNvPicPr>
          <p:nvPr/>
        </p:nvPicPr>
        <p:blipFill>
          <a:blip r:embed="rId4"/>
          <a:stretch>
            <a:fillRect/>
          </a:stretch>
        </p:blipFill>
        <p:spPr>
          <a:xfrm>
            <a:off x="822960" y="4809744"/>
            <a:ext cx="365760" cy="365760"/>
          </a:xfrm>
          <a:prstGeom prst="rect">
            <a:avLst/>
          </a:prstGeom>
        </p:spPr>
      </p:pic>
      <p:sp>
        <p:nvSpPr>
          <p:cNvPr id="11" name="Text 5"/>
          <p:cNvSpPr/>
          <p:nvPr/>
        </p:nvSpPr>
        <p:spPr>
          <a:xfrm>
            <a:off x="1353312" y="4681728"/>
            <a:ext cx="4526280" cy="7772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Mentors can manage attendance &amp; progress for their students</a:t>
            </a:r>
            <a:endParaRPr lang="en-US" sz="1350" dirty="0"/>
          </a:p>
        </p:txBody>
      </p:sp>
      <p:pic>
        <p:nvPicPr>
          <p:cNvPr id="12" name="Image 4" descr="/home/claude/bms-deck/icons/check.png">    </p:cNvPr>
          <p:cNvPicPr>
            <a:picLocks noChangeAspect="1"/>
          </p:cNvPicPr>
          <p:nvPr/>
        </p:nvPicPr>
        <p:blipFill>
          <a:blip r:embed="rId5"/>
          <a:stretch>
            <a:fillRect/>
          </a:stretch>
        </p:blipFill>
        <p:spPr>
          <a:xfrm>
            <a:off x="6263640" y="1655064"/>
            <a:ext cx="365760" cy="365760"/>
          </a:xfrm>
          <a:prstGeom prst="rect">
            <a:avLst/>
          </a:prstGeom>
        </p:spPr>
      </p:pic>
      <p:sp>
        <p:nvSpPr>
          <p:cNvPr id="13" name="Text 6"/>
          <p:cNvSpPr/>
          <p:nvPr/>
        </p:nvSpPr>
        <p:spPr>
          <a:xfrm>
            <a:off x="6793992" y="1527048"/>
            <a:ext cx="4526280" cy="7772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Students can view their info and submit assignments</a:t>
            </a:r>
            <a:endParaRPr lang="en-US" sz="1350" dirty="0"/>
          </a:p>
        </p:txBody>
      </p:sp>
      <p:pic>
        <p:nvPicPr>
          <p:cNvPr id="14" name="Image 5" descr="/home/claude/bms-deck/icons/check.png">    </p:cNvPr>
          <p:cNvPicPr>
            <a:picLocks noChangeAspect="1"/>
          </p:cNvPicPr>
          <p:nvPr/>
        </p:nvPicPr>
        <p:blipFill>
          <a:blip r:embed="rId6"/>
          <a:stretch>
            <a:fillRect/>
          </a:stretch>
        </p:blipFill>
        <p:spPr>
          <a:xfrm>
            <a:off x="6263640" y="2706624"/>
            <a:ext cx="365760" cy="365760"/>
          </a:xfrm>
          <a:prstGeom prst="rect">
            <a:avLst/>
          </a:prstGeom>
        </p:spPr>
      </p:pic>
      <p:sp>
        <p:nvSpPr>
          <p:cNvPr id="15" name="Text 7"/>
          <p:cNvSpPr/>
          <p:nvPr/>
        </p:nvSpPr>
        <p:spPr>
          <a:xfrm>
            <a:off x="6793992" y="2578608"/>
            <a:ext cx="4526280" cy="7772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Mentors can grade submissions and give feedback</a:t>
            </a:r>
            <a:endParaRPr lang="en-US" sz="1350" dirty="0"/>
          </a:p>
        </p:txBody>
      </p:sp>
      <p:pic>
        <p:nvPicPr>
          <p:cNvPr id="16" name="Image 6" descr="/home/claude/bms-deck/icons/check.png">    </p:cNvPr>
          <p:cNvPicPr>
            <a:picLocks noChangeAspect="1"/>
          </p:cNvPicPr>
          <p:nvPr/>
        </p:nvPicPr>
        <p:blipFill>
          <a:blip r:embed="rId7"/>
          <a:stretch>
            <a:fillRect/>
          </a:stretch>
        </p:blipFill>
        <p:spPr>
          <a:xfrm>
            <a:off x="6263640" y="3758184"/>
            <a:ext cx="365760" cy="365760"/>
          </a:xfrm>
          <a:prstGeom prst="rect">
            <a:avLst/>
          </a:prstGeom>
        </p:spPr>
      </p:pic>
      <p:sp>
        <p:nvSpPr>
          <p:cNvPr id="17" name="Text 8"/>
          <p:cNvSpPr/>
          <p:nvPr/>
        </p:nvSpPr>
        <p:spPr>
          <a:xfrm>
            <a:off x="6793992" y="3630168"/>
            <a:ext cx="4526280" cy="7772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Dashboards show accurate, live information per role</a:t>
            </a:r>
            <a:endParaRPr lang="en-US" sz="1350" dirty="0"/>
          </a:p>
        </p:txBody>
      </p:sp>
      <p:pic>
        <p:nvPicPr>
          <p:cNvPr id="18" name="Image 7" descr="/home/claude/bms-deck/icons/check.png">    </p:cNvPr>
          <p:cNvPicPr>
            <a:picLocks noChangeAspect="1"/>
          </p:cNvPicPr>
          <p:nvPr/>
        </p:nvPicPr>
        <p:blipFill>
          <a:blip r:embed="rId8"/>
          <a:stretch>
            <a:fillRect/>
          </a:stretch>
        </p:blipFill>
        <p:spPr>
          <a:xfrm>
            <a:off x="6263640" y="4809744"/>
            <a:ext cx="365760" cy="365760"/>
          </a:xfrm>
          <a:prstGeom prst="rect">
            <a:avLst/>
          </a:prstGeom>
        </p:spPr>
      </p:pic>
      <p:sp>
        <p:nvSpPr>
          <p:cNvPr id="19" name="Text 9"/>
          <p:cNvSpPr/>
          <p:nvPr/>
        </p:nvSpPr>
        <p:spPr>
          <a:xfrm>
            <a:off x="6793992" y="4681728"/>
            <a:ext cx="4526280" cy="7772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The app is responsive, secure, and successfully deployed</a:t>
            </a:r>
            <a:endParaRPr lang="en-US" sz="1350" dirty="0"/>
          </a:p>
        </p:txBody>
      </p:sp>
      <p:sp>
        <p:nvSpPr>
          <p:cNvPr id="20" name="Shape 10"/>
          <p:cNvSpPr/>
          <p:nvPr/>
        </p:nvSpPr>
        <p:spPr>
          <a:xfrm>
            <a:off x="795528" y="1627632"/>
            <a:ext cx="420624" cy="420624"/>
          </a:xfrm>
          <a:prstGeom prst="ellipse">
            <a:avLst/>
          </a:prstGeom>
          <a:solidFill>
            <a:srgbClr val="E0F7FA"/>
          </a:solidFill>
          <a:ln/>
        </p:spPr>
      </p:sp>
      <p:sp>
        <p:nvSpPr>
          <p:cNvPr id="21" name="Shape 11"/>
          <p:cNvSpPr/>
          <p:nvPr/>
        </p:nvSpPr>
        <p:spPr>
          <a:xfrm>
            <a:off x="795528" y="2679192"/>
            <a:ext cx="420624" cy="420624"/>
          </a:xfrm>
          <a:prstGeom prst="ellipse">
            <a:avLst/>
          </a:prstGeom>
          <a:solidFill>
            <a:srgbClr val="E0F7FA"/>
          </a:solidFill>
          <a:ln/>
        </p:spPr>
      </p:sp>
      <p:sp>
        <p:nvSpPr>
          <p:cNvPr id="22" name="Shape 12"/>
          <p:cNvSpPr/>
          <p:nvPr/>
        </p:nvSpPr>
        <p:spPr>
          <a:xfrm>
            <a:off x="795528" y="3730752"/>
            <a:ext cx="420624" cy="420624"/>
          </a:xfrm>
          <a:prstGeom prst="ellipse">
            <a:avLst/>
          </a:prstGeom>
          <a:solidFill>
            <a:srgbClr val="E0F7FA"/>
          </a:solidFill>
          <a:ln/>
        </p:spPr>
      </p:sp>
      <p:sp>
        <p:nvSpPr>
          <p:cNvPr id="23" name="Shape 13"/>
          <p:cNvSpPr/>
          <p:nvPr/>
        </p:nvSpPr>
        <p:spPr>
          <a:xfrm>
            <a:off x="795528" y="4782312"/>
            <a:ext cx="420624" cy="420624"/>
          </a:xfrm>
          <a:prstGeom prst="ellipse">
            <a:avLst/>
          </a:prstGeom>
          <a:solidFill>
            <a:srgbClr val="E0F7FA"/>
          </a:solidFill>
          <a:ln/>
        </p:spPr>
      </p:sp>
      <p:sp>
        <p:nvSpPr>
          <p:cNvPr id="24" name="Shape 14"/>
          <p:cNvSpPr/>
          <p:nvPr/>
        </p:nvSpPr>
        <p:spPr>
          <a:xfrm>
            <a:off x="6236208" y="1627632"/>
            <a:ext cx="420624" cy="420624"/>
          </a:xfrm>
          <a:prstGeom prst="ellipse">
            <a:avLst/>
          </a:prstGeom>
          <a:solidFill>
            <a:srgbClr val="E0F7FA"/>
          </a:solidFill>
          <a:ln/>
        </p:spPr>
      </p:sp>
      <p:sp>
        <p:nvSpPr>
          <p:cNvPr id="25" name="Shape 15"/>
          <p:cNvSpPr/>
          <p:nvPr/>
        </p:nvSpPr>
        <p:spPr>
          <a:xfrm>
            <a:off x="6236208" y="2679192"/>
            <a:ext cx="420624" cy="420624"/>
          </a:xfrm>
          <a:prstGeom prst="ellipse">
            <a:avLst/>
          </a:prstGeom>
          <a:solidFill>
            <a:srgbClr val="E0F7FA"/>
          </a:solidFill>
          <a:ln/>
        </p:spPr>
      </p:sp>
      <p:sp>
        <p:nvSpPr>
          <p:cNvPr id="26" name="Shape 16"/>
          <p:cNvSpPr/>
          <p:nvPr/>
        </p:nvSpPr>
        <p:spPr>
          <a:xfrm>
            <a:off x="6236208" y="3730752"/>
            <a:ext cx="420624" cy="420624"/>
          </a:xfrm>
          <a:prstGeom prst="ellipse">
            <a:avLst/>
          </a:prstGeom>
          <a:solidFill>
            <a:srgbClr val="E0F7FA"/>
          </a:solidFill>
          <a:ln/>
        </p:spPr>
      </p:sp>
      <p:sp>
        <p:nvSpPr>
          <p:cNvPr id="27" name="Shape 17"/>
          <p:cNvSpPr/>
          <p:nvPr/>
        </p:nvSpPr>
        <p:spPr>
          <a:xfrm>
            <a:off x="6236208" y="4782312"/>
            <a:ext cx="420624" cy="420624"/>
          </a:xfrm>
          <a:prstGeom prst="ellipse">
            <a:avLst/>
          </a:prstGeom>
          <a:solidFill>
            <a:srgbClr val="E0F7FA"/>
          </a:solidFill>
          <a:ln/>
        </p:spPr>
      </p:sp>
      <p:pic>
        <p:nvPicPr>
          <p:cNvPr id="28" name="Image 8" descr="/home/claude/bms-deck/icons/check.png">    </p:cNvPr>
          <p:cNvPicPr>
            <a:picLocks noChangeAspect="1"/>
          </p:cNvPicPr>
          <p:nvPr/>
        </p:nvPicPr>
        <p:blipFill>
          <a:blip r:embed="rId9"/>
          <a:stretch>
            <a:fillRect/>
          </a:stretch>
        </p:blipFill>
        <p:spPr>
          <a:xfrm>
            <a:off x="850392" y="1682496"/>
            <a:ext cx="365760" cy="365760"/>
          </a:xfrm>
          <a:prstGeom prst="rect">
            <a:avLst/>
          </a:prstGeom>
        </p:spPr>
      </p:pic>
      <p:pic>
        <p:nvPicPr>
          <p:cNvPr id="29" name="Image 9" descr="/home/claude/bms-deck/icons/check.png">    </p:cNvPr>
          <p:cNvPicPr>
            <a:picLocks noChangeAspect="1"/>
          </p:cNvPicPr>
          <p:nvPr/>
        </p:nvPicPr>
        <p:blipFill>
          <a:blip r:embed="rId10"/>
          <a:stretch>
            <a:fillRect/>
          </a:stretch>
        </p:blipFill>
        <p:spPr>
          <a:xfrm>
            <a:off x="850392" y="2734056"/>
            <a:ext cx="365760" cy="365760"/>
          </a:xfrm>
          <a:prstGeom prst="rect">
            <a:avLst/>
          </a:prstGeom>
        </p:spPr>
      </p:pic>
      <p:pic>
        <p:nvPicPr>
          <p:cNvPr id="30" name="Image 10" descr="/home/claude/bms-deck/icons/check.png">    </p:cNvPr>
          <p:cNvPicPr>
            <a:picLocks noChangeAspect="1"/>
          </p:cNvPicPr>
          <p:nvPr/>
        </p:nvPicPr>
        <p:blipFill>
          <a:blip r:embed="rId11"/>
          <a:stretch>
            <a:fillRect/>
          </a:stretch>
        </p:blipFill>
        <p:spPr>
          <a:xfrm>
            <a:off x="850392" y="3785616"/>
            <a:ext cx="365760" cy="365760"/>
          </a:xfrm>
          <a:prstGeom prst="rect">
            <a:avLst/>
          </a:prstGeom>
        </p:spPr>
      </p:pic>
      <p:pic>
        <p:nvPicPr>
          <p:cNvPr id="31" name="Image 11" descr="/home/claude/bms-deck/icons/check.png">    </p:cNvPr>
          <p:cNvPicPr>
            <a:picLocks noChangeAspect="1"/>
          </p:cNvPicPr>
          <p:nvPr/>
        </p:nvPicPr>
        <p:blipFill>
          <a:blip r:embed="rId12"/>
          <a:stretch>
            <a:fillRect/>
          </a:stretch>
        </p:blipFill>
        <p:spPr>
          <a:xfrm>
            <a:off x="850392" y="4837176"/>
            <a:ext cx="365760" cy="365760"/>
          </a:xfrm>
          <a:prstGeom prst="rect">
            <a:avLst/>
          </a:prstGeom>
        </p:spPr>
      </p:pic>
      <p:pic>
        <p:nvPicPr>
          <p:cNvPr id="32" name="Image 12" descr="/home/claude/bms-deck/icons/check.png">    </p:cNvPr>
          <p:cNvPicPr>
            <a:picLocks noChangeAspect="1"/>
          </p:cNvPicPr>
          <p:nvPr/>
        </p:nvPicPr>
        <p:blipFill>
          <a:blip r:embed="rId13"/>
          <a:stretch>
            <a:fillRect/>
          </a:stretch>
        </p:blipFill>
        <p:spPr>
          <a:xfrm>
            <a:off x="6291072" y="1682496"/>
            <a:ext cx="365760" cy="365760"/>
          </a:xfrm>
          <a:prstGeom prst="rect">
            <a:avLst/>
          </a:prstGeom>
        </p:spPr>
      </p:pic>
      <p:pic>
        <p:nvPicPr>
          <p:cNvPr id="33" name="Image 13" descr="/home/claude/bms-deck/icons/check.png">    </p:cNvPr>
          <p:cNvPicPr>
            <a:picLocks noChangeAspect="1"/>
          </p:cNvPicPr>
          <p:nvPr/>
        </p:nvPicPr>
        <p:blipFill>
          <a:blip r:embed="rId14"/>
          <a:stretch>
            <a:fillRect/>
          </a:stretch>
        </p:blipFill>
        <p:spPr>
          <a:xfrm>
            <a:off x="6291072" y="2734056"/>
            <a:ext cx="365760" cy="365760"/>
          </a:xfrm>
          <a:prstGeom prst="rect">
            <a:avLst/>
          </a:prstGeom>
        </p:spPr>
      </p:pic>
      <p:pic>
        <p:nvPicPr>
          <p:cNvPr id="34" name="Image 14" descr="/home/claude/bms-deck/icons/check.png">    </p:cNvPr>
          <p:cNvPicPr>
            <a:picLocks noChangeAspect="1"/>
          </p:cNvPicPr>
          <p:nvPr/>
        </p:nvPicPr>
        <p:blipFill>
          <a:blip r:embed="rId15"/>
          <a:stretch>
            <a:fillRect/>
          </a:stretch>
        </p:blipFill>
        <p:spPr>
          <a:xfrm>
            <a:off x="6291072" y="3785616"/>
            <a:ext cx="365760" cy="365760"/>
          </a:xfrm>
          <a:prstGeom prst="rect">
            <a:avLst/>
          </a:prstGeom>
        </p:spPr>
      </p:pic>
      <p:pic>
        <p:nvPicPr>
          <p:cNvPr id="35" name="Image 15" descr="/home/claude/bms-deck/icons/check.png">    </p:cNvPr>
          <p:cNvPicPr>
            <a:picLocks noChangeAspect="1"/>
          </p:cNvPicPr>
          <p:nvPr/>
        </p:nvPicPr>
        <p:blipFill>
          <a:blip r:embed="rId16"/>
          <a:stretch>
            <a:fillRect/>
          </a:stretch>
        </p:blipFill>
        <p:spPr>
          <a:xfrm>
            <a:off x="6291072" y="4837176"/>
            <a:ext cx="365760" cy="365760"/>
          </a:xfrm>
          <a:prstGeom prst="rect">
            <a:avLst/>
          </a:prstGeom>
        </p:spPr>
      </p:pic>
      <p:sp>
        <p:nvSpPr>
          <p:cNvPr id="36" name="Text 18"/>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14 / 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5591556" y="914400"/>
            <a:ext cx="1005840" cy="1005840"/>
          </a:xfrm>
          <a:prstGeom prst="ellipse">
            <a:avLst/>
          </a:prstGeom>
          <a:solidFill>
            <a:srgbClr val="22D3EE"/>
          </a:solidFill>
          <a:ln/>
        </p:spPr>
      </p:sp>
      <p:pic>
        <p:nvPicPr>
          <p:cNvPr id="3" name="Image 0" descr="/home/claude/bms-deck/icons/rocket.png">    </p:cNvPr>
          <p:cNvPicPr>
            <a:picLocks noChangeAspect="1"/>
          </p:cNvPicPr>
          <p:nvPr/>
        </p:nvPicPr>
        <p:blipFill>
          <a:blip r:embed="rId1"/>
          <a:stretch>
            <a:fillRect/>
          </a:stretch>
        </p:blipFill>
        <p:spPr>
          <a:xfrm>
            <a:off x="5832958" y="1155802"/>
            <a:ext cx="523037" cy="523037"/>
          </a:xfrm>
          <a:prstGeom prst="rect">
            <a:avLst/>
          </a:prstGeom>
        </p:spPr>
      </p:pic>
      <p:sp>
        <p:nvSpPr>
          <p:cNvPr id="4" name="Text 1"/>
          <p:cNvSpPr/>
          <p:nvPr/>
        </p:nvSpPr>
        <p:spPr>
          <a:xfrm>
            <a:off x="822960" y="2286000"/>
            <a:ext cx="105156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Build With Clarity, Focus, and Pride</a:t>
            </a:r>
            <a:endParaRPr lang="en-US" sz="3600" dirty="0"/>
          </a:p>
        </p:txBody>
      </p:sp>
      <p:sp>
        <p:nvSpPr>
          <p:cNvPr id="5" name="Text 2"/>
          <p:cNvSpPr/>
          <p:nvPr/>
        </p:nvSpPr>
        <p:spPr>
          <a:xfrm>
            <a:off x="1280160" y="3200400"/>
            <a:ext cx="9601200" cy="548640"/>
          </a:xfrm>
          <a:prstGeom prst="rect">
            <a:avLst/>
          </a:prstGeom>
          <a:noFill/>
          <a:ln/>
        </p:spPr>
        <p:txBody>
          <a:bodyPr wrap="square" lIns="0" tIns="0" rIns="0" bIns="0" rtlCol="0" anchor="ctr"/>
          <a:lstStyle/>
          <a:p>
            <a:pPr algn="ctr" indent="0" marL="0">
              <a:buNone/>
            </a:pPr>
            <a:r>
              <a:rPr lang="en-US" sz="1500" i="1" dirty="0">
                <a:solidFill>
                  <a:srgbClr val="AEC0DE"/>
                </a:solidFill>
                <a:latin typeface="Calibri" pitchFamily="34" charset="0"/>
                <a:ea typeface="Calibri" pitchFamily="34" charset="-122"/>
                <a:cs typeface="Calibri" pitchFamily="34" charset="-120"/>
              </a:rPr>
              <a:t>This system may serve future bootcamp cohorts. Make it something worth handing down.</a:t>
            </a:r>
            <a:endParaRPr lang="en-US" sz="1500" dirty="0"/>
          </a:p>
        </p:txBody>
      </p:sp>
      <p:sp>
        <p:nvSpPr>
          <p:cNvPr id="6" name="Shape 3"/>
          <p:cNvSpPr/>
          <p:nvPr/>
        </p:nvSpPr>
        <p:spPr>
          <a:xfrm>
            <a:off x="2194560" y="4023360"/>
            <a:ext cx="7772400" cy="1371600"/>
          </a:xfrm>
          <a:prstGeom prst="roundRect">
            <a:avLst>
              <a:gd name="adj" fmla="val 6667"/>
            </a:avLst>
          </a:prstGeom>
          <a:solidFill>
            <a:srgbClr val="16233D"/>
          </a:solidFill>
          <a:ln/>
        </p:spPr>
      </p:sp>
      <p:sp>
        <p:nvSpPr>
          <p:cNvPr id="7" name="Text 4"/>
          <p:cNvSpPr/>
          <p:nvPr/>
        </p:nvSpPr>
        <p:spPr>
          <a:xfrm>
            <a:off x="2194560" y="4023360"/>
            <a:ext cx="7772400" cy="1371600"/>
          </a:xfrm>
          <a:prstGeom prst="rect">
            <a:avLst/>
          </a:prstGeom>
          <a:noFill/>
          <a:ln/>
        </p:spPr>
        <p:txBody>
          <a:bodyPr wrap="square" lIns="0" tIns="0" rIns="0" bIns="0" rtlCol="0" anchor="ctr"/>
          <a:lstStyle/>
          <a:p>
            <a:pPr algn="ctr" indent="0" marL="0">
              <a:buNone/>
            </a:pPr>
            <a:r>
              <a:rPr lang="en-US" sz="1500" b="1" dirty="0">
                <a:solidFill>
                  <a:srgbClr val="22D3EE"/>
                </a:solidFill>
                <a:latin typeface="Calibri" pitchFamily="34" charset="0"/>
                <a:ea typeface="Calibri" pitchFamily="34" charset="-122"/>
                <a:cs typeface="Calibri" pitchFamily="34" charset="-120"/>
              </a:rPr>
              <a:t>Sections 1–19</a:t>
            </a:r>
            <a:pPr algn="ctr" indent="0" marL="0">
              <a:buNone/>
            </a:pPr>
            <a:r>
              <a:rPr lang="en-US" sz="1500" dirty="0">
                <a:solidFill>
                  <a:srgbClr val="FFFFFF"/>
                </a:solidFill>
                <a:latin typeface="Calibri" pitchFamily="34" charset="0"/>
                <a:ea typeface="Calibri" pitchFamily="34" charset="-122"/>
                <a:cs typeface="Calibri" pitchFamily="34" charset="-120"/>
              </a:rPr>
              <a:t> are your required foundation.
</a:t>
            </a:r>
            <a:pPr algn="ctr" indent="0" marL="0">
              <a:buNone/>
            </a:pPr>
            <a:r>
              <a:rPr lang="en-US" sz="1500" b="1" dirty="0">
                <a:solidFill>
                  <a:srgbClr val="22D3EE"/>
                </a:solidFill>
                <a:latin typeface="Calibri" pitchFamily="34" charset="0"/>
                <a:ea typeface="Calibri" pitchFamily="34" charset="-122"/>
                <a:cs typeface="Calibri" pitchFamily="34" charset="-120"/>
              </a:rPr>
              <a:t>Section 20</a:t>
            </a:r>
            <a:pPr algn="ctr" indent="0" marL="0">
              <a:buNone/>
            </a:pPr>
            <a:r>
              <a:rPr lang="en-US" sz="1500" dirty="0">
                <a:solidFill>
                  <a:srgbClr val="FFFFFF"/>
                </a:solidFill>
                <a:latin typeface="Calibri" pitchFamily="34" charset="0"/>
                <a:ea typeface="Calibri" pitchFamily="34" charset="-122"/>
                <a:cs typeface="Calibri" pitchFamily="34" charset="-120"/>
              </a:rPr>
              <a:t> is where your creativity takes over.</a:t>
            </a:r>
            <a:endParaRPr lang="en-US" sz="1500" dirty="0"/>
          </a:p>
        </p:txBody>
      </p:sp>
      <p:sp>
        <p:nvSpPr>
          <p:cNvPr id="8" name="Text 5"/>
          <p:cNvSpPr/>
          <p:nvPr/>
        </p:nvSpPr>
        <p:spPr>
          <a:xfrm>
            <a:off x="822960" y="5760720"/>
            <a:ext cx="10515600" cy="457200"/>
          </a:xfrm>
          <a:prstGeom prst="rect">
            <a:avLst/>
          </a:prstGeom>
          <a:noFill/>
          <a:ln/>
        </p:spPr>
        <p:txBody>
          <a:bodyPr wrap="square" lIns="0" tIns="0" rIns="0" bIns="0" rtlCol="0" anchor="ctr"/>
          <a:lstStyle/>
          <a:p>
            <a:pPr algn="ctr" indent="0" marL="0">
              <a:buNone/>
            </a:pPr>
            <a:r>
              <a:rPr lang="en-US" sz="1400" dirty="0">
                <a:solidFill>
                  <a:srgbClr val="5B6E93"/>
                </a:solidFill>
                <a:latin typeface="Calibri" pitchFamily="34" charset="0"/>
                <a:ea typeface="Calibri" pitchFamily="34" charset="-122"/>
                <a:cs typeface="Calibri" pitchFamily="34" charset="-120"/>
              </a:rPr>
              <a:t>Questions? Let's talk.</a:t>
            </a:r>
            <a:endParaRPr lang="en-US" sz="1400" dirty="0"/>
          </a:p>
        </p:txBody>
      </p:sp>
      <p:sp>
        <p:nvSpPr>
          <p:cNvPr id="9" name="Text 6"/>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 / 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2026-08-11T19:58:55Z</dcterms:created>
  <dcterms:modified xsi:type="dcterms:W3CDTF">2026-08-11T19:58:55Z</dcterms:modified>
</cp:coreProperties>
</file>